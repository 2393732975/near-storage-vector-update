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23"/>
  </p:notesMasterIdLst>
  <p:handoutMasterIdLst>
    <p:handoutMasterId r:id="rId24"/>
  </p:handoutMasterIdLst>
  <p:sldIdLst>
    <p:sldId id="400" r:id="rId3"/>
    <p:sldId id="432" r:id="rId4"/>
    <p:sldId id="466" r:id="rId5"/>
    <p:sldId id="562" r:id="rId6"/>
    <p:sldId id="551" r:id="rId7"/>
    <p:sldId id="535" r:id="rId8"/>
    <p:sldId id="553" r:id="rId9"/>
    <p:sldId id="554" r:id="rId10"/>
    <p:sldId id="560" r:id="rId11"/>
    <p:sldId id="538" r:id="rId12"/>
    <p:sldId id="561" r:id="rId13"/>
    <p:sldId id="545" r:id="rId14"/>
    <p:sldId id="549" r:id="rId15"/>
    <p:sldId id="568" r:id="rId16"/>
    <p:sldId id="564" r:id="rId17"/>
    <p:sldId id="569" r:id="rId18"/>
    <p:sldId id="570" r:id="rId19"/>
    <p:sldId id="571" r:id="rId20"/>
    <p:sldId id="567" r:id="rId21"/>
    <p:sldId id="387" r:id="rId22"/>
  </p:sldIdLst>
  <p:sldSz cx="12192000" cy="6858000"/>
  <p:notesSz cx="7099300" cy="10234613"/>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15" userDrawn="1">
          <p15:clr>
            <a:srgbClr val="A4A3A4"/>
          </p15:clr>
        </p15:guide>
        <p15:guide id="2" pos="38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8FC9"/>
    <a:srgbClr val="0F5D8E"/>
    <a:srgbClr val="0070C0"/>
    <a:srgbClr val="E8F2FA"/>
    <a:srgbClr val="FFFFFF"/>
    <a:srgbClr val="0B72B9"/>
    <a:srgbClr val="006DB2"/>
    <a:srgbClr val="0C2A55"/>
    <a:srgbClr val="1F56A5"/>
    <a:srgbClr val="1588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83" autoAdjust="0"/>
    <p:restoredTop sz="73246" autoAdjust="0"/>
  </p:normalViewPr>
  <p:slideViewPr>
    <p:cSldViewPr showGuides="1">
      <p:cViewPr varScale="1">
        <p:scale>
          <a:sx n="117" d="100"/>
          <a:sy n="117" d="100"/>
        </p:scale>
        <p:origin x="1860" y="102"/>
      </p:cViewPr>
      <p:guideLst>
        <p:guide orient="horz" pos="2115"/>
        <p:guide pos="3885"/>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6" name="Rectangle 4"/>
          <p:cNvSpPr>
            <a:spLocks noGrp="1" noRot="1" noChangeAspect="1" noTextEdit="1"/>
          </p:cNvSpPr>
          <p:nvPr>
            <p:ph type="sldImg" idx="2"/>
          </p:nvPr>
        </p:nvSpPr>
        <p:spPr>
          <a:xfrm>
            <a:off x="139700" y="768350"/>
            <a:ext cx="68199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第五级</a:t>
            </a: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各位老师好，我是何鸿飞。我的开题题目是</a:t>
            </a:r>
            <a:r>
              <a:rPr lang="en-US" altLang="zh-CN" dirty="0"/>
              <a:t>《</a:t>
            </a:r>
            <a:r>
              <a:rPr lang="zh-CN" altLang="en-US" dirty="0"/>
              <a:t>基于近存储算子卸载的向量高效更新机制</a:t>
            </a:r>
            <a:r>
              <a:rPr lang="en-US" altLang="zh-CN" dirty="0"/>
              <a:t>》</a:t>
            </a:r>
            <a:r>
              <a:rPr lang="zh-CN" altLang="en-US" dirty="0"/>
              <a:t>。</a:t>
            </a:r>
          </a:p>
          <a:p>
            <a:r>
              <a:rPr lang="zh-CN" altLang="en-US" dirty="0"/>
              <a:t>本课题面向大规模向量数据库持续更新场景，研究如何利用存储侧计算能力降低向量更新过程中的数据搬移和访问开销。下面开始我的汇报。</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我的汇报主要分为四个部分：研究背景、研究现状、</a:t>
            </a:r>
            <a:r>
              <a:rPr lang="en-US" altLang="zh-CN" dirty="0"/>
              <a:t>Baseline</a:t>
            </a:r>
            <a:r>
              <a:rPr lang="zh-CN" altLang="en-US" dirty="0"/>
              <a:t>构建与瓶颈分析，以及研究方案和技术路线。</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随着大模型和</a:t>
            </a:r>
            <a:r>
              <a:rPr lang="en-US" altLang="zh-CN" dirty="0"/>
              <a:t>RAG</a:t>
            </a:r>
            <a:r>
              <a:rPr lang="zh-CN" altLang="en-US" dirty="0"/>
              <a:t>应用的发展，向量数据库正在从过去的静态建库查询模式，转向持续写入、删除和更新的在线服务模式。</a:t>
            </a:r>
          </a:p>
          <a:p>
            <a:r>
              <a:rPr lang="zh-CN" altLang="en-US" dirty="0"/>
              <a:t>在这一过程中，向量不仅需要存储，还需要同步维护</a:t>
            </a:r>
            <a:r>
              <a:rPr lang="en-US" altLang="zh-CN" dirty="0"/>
              <a:t>ANN</a:t>
            </a:r>
            <a:r>
              <a:rPr lang="zh-CN" altLang="en-US" dirty="0"/>
              <a:t>索引结构，例如</a:t>
            </a:r>
            <a:r>
              <a:rPr lang="en-US" altLang="zh-CN" dirty="0"/>
              <a:t>HNSW</a:t>
            </a:r>
            <a:r>
              <a:rPr lang="zh-CN" altLang="en-US" dirty="0"/>
              <a:t>中的邻接关系和元数据。</a:t>
            </a:r>
          </a:p>
          <a:p>
            <a:r>
              <a:rPr lang="zh-CN" altLang="en-US" dirty="0"/>
              <a:t>但是在传统分布式架构中，数据存储在</a:t>
            </a:r>
            <a:r>
              <a:rPr lang="en-US" altLang="zh-CN" dirty="0"/>
              <a:t>OSD</a:t>
            </a:r>
            <a:r>
              <a:rPr lang="zh-CN" altLang="en-US" dirty="0"/>
              <a:t>节点，而索引更新逻辑主要位于计算侧，需要频繁将候选向量从存储侧拉回计算节点完成距离计算和图更新。</a:t>
            </a:r>
          </a:p>
          <a:p>
            <a:r>
              <a:rPr lang="zh-CN" altLang="en-US" dirty="0"/>
              <a:t>因此，存算分离带来的数据移动成为向量更新性能的重要瓶颈。</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传统更新流程中，</a:t>
            </a:r>
            <a:r>
              <a:rPr lang="en-US" altLang="zh-CN" dirty="0"/>
              <a:t>Coordinator</a:t>
            </a:r>
            <a:r>
              <a:rPr lang="zh-CN" altLang="en-US" dirty="0"/>
              <a:t>负责</a:t>
            </a:r>
            <a:r>
              <a:rPr lang="en-US" altLang="zh-CN"/>
              <a:t>HNSW</a:t>
            </a:r>
            <a:r>
              <a:rPr lang="zh-CN" altLang="en-US"/>
              <a:t>搜索与更新逻辑，</a:t>
            </a:r>
            <a:r>
              <a:rPr lang="zh-CN" altLang="en-US" dirty="0"/>
              <a:t>而</a:t>
            </a:r>
            <a:r>
              <a:rPr lang="en-US" altLang="zh-CN" dirty="0"/>
              <a:t>OSD</a:t>
            </a:r>
            <a:r>
              <a:rPr lang="zh-CN" altLang="en-US" dirty="0"/>
              <a:t>主要负责数据保存。</a:t>
            </a:r>
          </a:p>
          <a:p>
            <a:r>
              <a:rPr lang="zh-CN" altLang="en-US" dirty="0"/>
              <a:t>当进行一次向量更新时，计算节点需要访问多个</a:t>
            </a:r>
            <a:r>
              <a:rPr lang="en-US" altLang="zh-CN" dirty="0"/>
              <a:t>OSD</a:t>
            </a:r>
            <a:r>
              <a:rPr lang="zh-CN" altLang="en-US" dirty="0"/>
              <a:t>上的候选向量，并在本地完成计算后，再把更新结果写回存储。</a:t>
            </a:r>
          </a:p>
          <a:p>
            <a:r>
              <a:rPr lang="zh-CN" altLang="en-US" dirty="0"/>
              <a:t>这种方式的问题在于，系统搬移的是完整向量数据，而真正需要的只是距离结果和少量更新信息，因此产生了大量无效数据传输。</a:t>
            </a:r>
            <a:endParaRPr lang="en-US" altLang="zh-CN" dirty="0"/>
          </a:p>
          <a:p>
            <a:r>
              <a:rPr lang="zh-CN" altLang="en-US" dirty="0"/>
              <a:t>为了验证这一问题，我设计了传统分布式更新路径的瓶颈分析实验，覆盖不同规模、维度和距离类型的数据集。</a:t>
            </a:r>
          </a:p>
        </p:txBody>
      </p:sp>
    </p:spTree>
    <p:extLst>
      <p:ext uri="{BB962C8B-B14F-4D97-AF65-F5344CB8AC3E}">
        <p14:creationId xmlns:p14="http://schemas.microsoft.com/office/powerpoint/2010/main" val="4002063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实验结果显示，距离阶段占整个</a:t>
            </a:r>
            <a:r>
              <a:rPr lang="en-US" altLang="zh-CN" dirty="0"/>
              <a:t>update</a:t>
            </a:r>
            <a:r>
              <a:rPr lang="zh-CN" altLang="en-US" dirty="0"/>
              <a:t>过程约</a:t>
            </a:r>
            <a:r>
              <a:rPr lang="en-US" altLang="zh-CN" dirty="0"/>
              <a:t>45%</a:t>
            </a:r>
            <a:r>
              <a:rPr lang="zh-CN" altLang="en-US" dirty="0"/>
              <a:t>到</a:t>
            </a:r>
            <a:r>
              <a:rPr lang="en-US" altLang="zh-CN" dirty="0"/>
              <a:t>54%</a:t>
            </a:r>
            <a:r>
              <a:rPr lang="zh-CN" altLang="en-US" dirty="0"/>
              <a:t>的时间。</a:t>
            </a:r>
          </a:p>
          <a:p>
            <a:r>
              <a:rPr lang="zh-CN" altLang="en-US" dirty="0"/>
              <a:t>进一步拆分发现，距离阶段内部</a:t>
            </a:r>
            <a:r>
              <a:rPr lang="en-US" altLang="zh-CN" dirty="0"/>
              <a:t>99%</a:t>
            </a:r>
            <a:r>
              <a:rPr lang="zh-CN" altLang="en-US" dirty="0"/>
              <a:t>以上开销来自候选向量的数据移动，而真正的距离计算只占极少部分。可以看到表格，“若存储侧只需返回一个 </a:t>
            </a:r>
            <a:r>
              <a:rPr lang="en-US" altLang="zh-CN" dirty="0"/>
              <a:t>float </a:t>
            </a:r>
            <a:r>
              <a:rPr lang="zh-CN" altLang="en-US" dirty="0"/>
              <a:t>距离值，而计算侧却必须拉回完整候选向量，则造成 </a:t>
            </a:r>
            <a:r>
              <a:rPr lang="en-US" altLang="zh-CN" dirty="0"/>
              <a:t>32 </a:t>
            </a:r>
            <a:r>
              <a:rPr lang="zh-CN" altLang="en-US" dirty="0"/>
              <a:t>倍到 </a:t>
            </a:r>
            <a:r>
              <a:rPr lang="en-US" altLang="zh-CN" dirty="0"/>
              <a:t>960 </a:t>
            </a:r>
            <a:r>
              <a:rPr lang="zh-CN" altLang="en-US" dirty="0"/>
              <a:t>倍传输放大。”</a:t>
            </a:r>
          </a:p>
          <a:p>
            <a:r>
              <a:rPr lang="zh-CN" altLang="en-US" dirty="0"/>
              <a:t>因此可以说明</a:t>
            </a:r>
            <a:r>
              <a:rPr lang="zh-CN" altLang="en-US"/>
              <a:t>，传统分布式系统向量</a:t>
            </a:r>
            <a:r>
              <a:rPr lang="zh-CN" altLang="en-US" dirty="0"/>
              <a:t>更新的</a:t>
            </a:r>
            <a:r>
              <a:rPr lang="zh-CN" altLang="en-US"/>
              <a:t>核心问题是数据在计算</a:t>
            </a:r>
            <a:r>
              <a:rPr lang="zh-CN" altLang="en-US" dirty="0"/>
              <a:t>节点和存储节点之间的大量搬移。</a:t>
            </a:r>
          </a:p>
        </p:txBody>
      </p:sp>
    </p:spTree>
    <p:extLst>
      <p:ext uri="{BB962C8B-B14F-4D97-AF65-F5344CB8AC3E}">
        <p14:creationId xmlns:p14="http://schemas.microsoft.com/office/powerpoint/2010/main" val="2041709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F0B2A-3389-9C16-C31F-5D8D665D43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011C5B-EDD8-C6A1-7F0D-11082552CA45}"/>
              </a:ext>
            </a:extLst>
          </p:cNvPr>
          <p:cNvSpPr>
            <a:spLocks noGrp="1" noRot="1" noChangeAspect="1"/>
          </p:cNvSpPr>
          <p:nvPr>
            <p:ph type="sldImg"/>
          </p:nvPr>
        </p:nvSpPr>
        <p:spPr>
          <a:xfrm>
            <a:off x="139700" y="768350"/>
            <a:ext cx="6819900" cy="3836988"/>
          </a:xfrm>
        </p:spPr>
      </p:sp>
      <p:sp>
        <p:nvSpPr>
          <p:cNvPr id="3" name="备注占位符 2">
            <a:extLst>
              <a:ext uri="{FF2B5EF4-FFF2-40B4-BE49-F238E27FC236}">
                <a16:creationId xmlns:a16="http://schemas.microsoft.com/office/drawing/2014/main" id="{20ACA263-9230-B987-8930-3C491DF22CA5}"/>
              </a:ext>
            </a:extLst>
          </p:cNvPr>
          <p:cNvSpPr>
            <a:spLocks noGrp="1"/>
          </p:cNvSpPr>
          <p:nvPr>
            <p:ph type="body" idx="1"/>
          </p:nvPr>
        </p:nvSpPr>
        <p:spPr/>
        <p:txBody>
          <a:bodyPr/>
          <a:lstStyle/>
          <a:p>
            <a:r>
              <a:rPr lang="zh-CN" altLang="en-US" dirty="0"/>
              <a:t>接下来进入第二部分，国内外研究现状。</a:t>
            </a:r>
          </a:p>
        </p:txBody>
      </p:sp>
    </p:spTree>
    <p:extLst>
      <p:ext uri="{BB962C8B-B14F-4D97-AF65-F5344CB8AC3E}">
        <p14:creationId xmlns:p14="http://schemas.microsoft.com/office/powerpoint/2010/main" val="1431314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177F-6488-47A2-FBCC-7435EDABDC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D59C0A-0732-1DB0-D6F5-88975708BE57}"/>
              </a:ext>
            </a:extLst>
          </p:cNvPr>
          <p:cNvSpPr>
            <a:spLocks noGrp="1" noRot="1" noChangeAspect="1"/>
          </p:cNvSpPr>
          <p:nvPr>
            <p:ph type="sldImg"/>
          </p:nvPr>
        </p:nvSpPr>
        <p:spPr>
          <a:xfrm>
            <a:off x="139700" y="768350"/>
            <a:ext cx="6819900" cy="3836988"/>
          </a:xfrm>
        </p:spPr>
      </p:sp>
      <p:sp>
        <p:nvSpPr>
          <p:cNvPr id="3" name="备注占位符 2">
            <a:extLst>
              <a:ext uri="{FF2B5EF4-FFF2-40B4-BE49-F238E27FC236}">
                <a16:creationId xmlns:a16="http://schemas.microsoft.com/office/drawing/2014/main" id="{FD56C192-6557-AFA5-6156-CDCCB9B25026}"/>
              </a:ext>
            </a:extLst>
          </p:cNvPr>
          <p:cNvSpPr>
            <a:spLocks noGrp="1"/>
          </p:cNvSpPr>
          <p:nvPr>
            <p:ph type="body" idx="1"/>
          </p:nvPr>
        </p:nvSpPr>
        <p:spPr/>
        <p:txBody>
          <a:bodyPr/>
          <a:lstStyle/>
          <a:p>
            <a:r>
              <a:rPr lang="zh-CN" altLang="en-US" dirty="0"/>
              <a:t>现有向量检索系统主要经历了三个阶段。</a:t>
            </a:r>
          </a:p>
          <a:p>
            <a:r>
              <a:rPr lang="zh-CN" altLang="en-US" dirty="0"/>
              <a:t>第一阶段是以内存图索引为代表的方案，例如</a:t>
            </a:r>
            <a:r>
              <a:rPr lang="en-US" altLang="zh-CN" dirty="0"/>
              <a:t>HNSW</a:t>
            </a:r>
            <a:r>
              <a:rPr lang="zh-CN" altLang="en-US" dirty="0"/>
              <a:t>，优势是查询延迟低，但受限于内存容量，同时动态更新成本较高。</a:t>
            </a:r>
          </a:p>
          <a:p>
            <a:r>
              <a:rPr lang="zh-CN" altLang="en-US" dirty="0"/>
              <a:t>第二阶段是</a:t>
            </a:r>
            <a:r>
              <a:rPr lang="en-US" altLang="zh-CN" dirty="0" err="1"/>
              <a:t>DiskANN</a:t>
            </a:r>
            <a:r>
              <a:rPr lang="zh-CN" altLang="en-US" dirty="0"/>
              <a:t>、</a:t>
            </a:r>
            <a:r>
              <a:rPr lang="en-US" altLang="zh-CN" dirty="0" err="1"/>
              <a:t>SPFresh</a:t>
            </a:r>
            <a:r>
              <a:rPr lang="zh-CN" altLang="en-US" dirty="0"/>
              <a:t>等外存索引，通过</a:t>
            </a:r>
            <a:r>
              <a:rPr lang="en-US" altLang="zh-CN" dirty="0"/>
              <a:t>SSD</a:t>
            </a:r>
            <a:r>
              <a:rPr lang="zh-CN" altLang="en-US" dirty="0"/>
              <a:t>支撑更大规模数据，但更新过程中仍存在</a:t>
            </a:r>
            <a:r>
              <a:rPr lang="en-US" altLang="zh-CN" dirty="0"/>
              <a:t>I/O</a:t>
            </a:r>
            <a:r>
              <a:rPr lang="zh-CN" altLang="en-US" dirty="0"/>
              <a:t>和合并压力。</a:t>
            </a:r>
          </a:p>
          <a:p>
            <a:r>
              <a:rPr lang="zh-CN" altLang="en-US" dirty="0"/>
              <a:t>第三阶段是</a:t>
            </a:r>
            <a:r>
              <a:rPr lang="en-US" altLang="zh-CN" dirty="0"/>
              <a:t>Milvus</a:t>
            </a:r>
            <a:r>
              <a:rPr lang="zh-CN" altLang="en-US" dirty="0"/>
              <a:t>等分布式向量数据库，通过分片和服务化支持在线应用，但跨节点通信和一致性问题更加突出。</a:t>
            </a:r>
          </a:p>
          <a:p>
            <a:r>
              <a:rPr lang="zh-CN" altLang="en-US" dirty="0"/>
              <a:t>因此，现有系统已经解决了查询、扩展和服务化问题，但对于分布式对象存储内部的更新协同和数据搬移问题仍缺少系统性优化。</a:t>
            </a:r>
          </a:p>
        </p:txBody>
      </p:sp>
    </p:spTree>
    <p:extLst>
      <p:ext uri="{BB962C8B-B14F-4D97-AF65-F5344CB8AC3E}">
        <p14:creationId xmlns:p14="http://schemas.microsoft.com/office/powerpoint/2010/main" val="3017293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177F-6488-47A2-FBCC-7435EDABDC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D59C0A-0732-1DB0-D6F5-88975708BE57}"/>
              </a:ext>
            </a:extLst>
          </p:cNvPr>
          <p:cNvSpPr>
            <a:spLocks noGrp="1" noRot="1" noChangeAspect="1"/>
          </p:cNvSpPr>
          <p:nvPr>
            <p:ph type="sldImg"/>
          </p:nvPr>
        </p:nvSpPr>
        <p:spPr>
          <a:xfrm>
            <a:off x="139700" y="768350"/>
            <a:ext cx="6819900" cy="3836988"/>
          </a:xfrm>
        </p:spPr>
      </p:sp>
      <p:sp>
        <p:nvSpPr>
          <p:cNvPr id="3" name="备注占位符 2">
            <a:extLst>
              <a:ext uri="{FF2B5EF4-FFF2-40B4-BE49-F238E27FC236}">
                <a16:creationId xmlns:a16="http://schemas.microsoft.com/office/drawing/2014/main" id="{FD56C192-6557-AFA5-6156-CDCCB9B25026}"/>
              </a:ext>
            </a:extLst>
          </p:cNvPr>
          <p:cNvSpPr>
            <a:spLocks noGrp="1"/>
          </p:cNvSpPr>
          <p:nvPr>
            <p:ph type="body" idx="1"/>
          </p:nvPr>
        </p:nvSpPr>
        <p:spPr/>
        <p:txBody>
          <a:bodyPr/>
          <a:lstStyle/>
          <a:p>
            <a:r>
              <a:rPr lang="zh-CN" altLang="en-US" dirty="0"/>
              <a:t>从动态更新角度来看，已有研究已经关注持续插入、删除以及写后可查等问题。</a:t>
            </a:r>
          </a:p>
          <a:p>
            <a:r>
              <a:rPr lang="en-US" altLang="zh-CN" dirty="0" err="1"/>
              <a:t>FreshDiskANN</a:t>
            </a:r>
            <a:r>
              <a:rPr lang="zh-CN" altLang="en-US" dirty="0"/>
              <a:t>、</a:t>
            </a:r>
            <a:r>
              <a:rPr lang="en-US" altLang="zh-CN" dirty="0" err="1"/>
              <a:t>SPFresh</a:t>
            </a:r>
            <a:r>
              <a:rPr lang="zh-CN" altLang="en-US" dirty="0"/>
              <a:t>、</a:t>
            </a:r>
            <a:r>
              <a:rPr lang="en-US" altLang="zh-CN" dirty="0" err="1"/>
              <a:t>OdinANN</a:t>
            </a:r>
            <a:r>
              <a:rPr lang="zh-CN" altLang="en-US" dirty="0"/>
              <a:t>等工作证明了动态图索引维护的可行性，并针对并发更新和外存场景进行了优化。</a:t>
            </a:r>
          </a:p>
          <a:p>
            <a:r>
              <a:rPr lang="zh-CN" altLang="en-US" dirty="0"/>
              <a:t>但是这些工作主要关注索引算法或者单机外存环境，对于分布式对象存储中如何将距离计算、邻接</a:t>
            </a:r>
            <a:r>
              <a:rPr lang="en-US" altLang="zh-CN" dirty="0"/>
              <a:t>patch</a:t>
            </a:r>
            <a:r>
              <a:rPr lang="zh-CN" altLang="en-US" dirty="0"/>
              <a:t>以及元数据管理协同下沉，目前仍缺少相关机制。</a:t>
            </a:r>
          </a:p>
          <a:p>
            <a:r>
              <a:rPr lang="zh-CN" altLang="en-US" dirty="0"/>
              <a:t>这也是本课题希望解决的问题。</a:t>
            </a:r>
          </a:p>
        </p:txBody>
      </p:sp>
    </p:spTree>
    <p:extLst>
      <p:ext uri="{BB962C8B-B14F-4D97-AF65-F5344CB8AC3E}">
        <p14:creationId xmlns:p14="http://schemas.microsoft.com/office/powerpoint/2010/main" val="638634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177F-6488-47A2-FBCC-7435EDABDC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D59C0A-0732-1DB0-D6F5-88975708BE57}"/>
              </a:ext>
            </a:extLst>
          </p:cNvPr>
          <p:cNvSpPr>
            <a:spLocks noGrp="1" noRot="1" noChangeAspect="1"/>
          </p:cNvSpPr>
          <p:nvPr>
            <p:ph type="sldImg"/>
          </p:nvPr>
        </p:nvSpPr>
        <p:spPr>
          <a:xfrm>
            <a:off x="139700" y="768350"/>
            <a:ext cx="6819900" cy="3836988"/>
          </a:xfrm>
        </p:spPr>
      </p:sp>
      <p:sp>
        <p:nvSpPr>
          <p:cNvPr id="3" name="备注占位符 2">
            <a:extLst>
              <a:ext uri="{FF2B5EF4-FFF2-40B4-BE49-F238E27FC236}">
                <a16:creationId xmlns:a16="http://schemas.microsoft.com/office/drawing/2014/main" id="{FD56C192-6557-AFA5-6156-CDCCB9B25026}"/>
              </a:ext>
            </a:extLst>
          </p:cNvPr>
          <p:cNvSpPr>
            <a:spLocks noGrp="1"/>
          </p:cNvSpPr>
          <p:nvPr>
            <p:ph type="body" idx="1"/>
          </p:nvPr>
        </p:nvSpPr>
        <p:spPr/>
        <p:txBody>
          <a:bodyPr/>
          <a:lstStyle/>
          <a:p>
            <a:r>
              <a:rPr lang="zh-CN" altLang="en-US" dirty="0"/>
              <a:t>针对上述问题，本课题选择</a:t>
            </a:r>
            <a:r>
              <a:rPr lang="en-US" altLang="zh-CN" dirty="0" err="1"/>
              <a:t>Ceph</a:t>
            </a:r>
            <a:r>
              <a:rPr lang="en-US" altLang="zh-CN" dirty="0"/>
              <a:t> CLS</a:t>
            </a:r>
            <a:r>
              <a:rPr lang="zh-CN" altLang="en-US" dirty="0"/>
              <a:t>作为近存储计算平台。</a:t>
            </a:r>
          </a:p>
          <a:p>
            <a:r>
              <a:rPr lang="zh-CN" altLang="en-US" dirty="0"/>
              <a:t>现有近数据处理方案，例如</a:t>
            </a:r>
            <a:r>
              <a:rPr lang="en-US" altLang="zh-CN" dirty="0" err="1"/>
              <a:t>SmartSSD</a:t>
            </a:r>
            <a:r>
              <a:rPr lang="zh-CN" altLang="en-US" dirty="0"/>
              <a:t>和</a:t>
            </a:r>
            <a:r>
              <a:rPr lang="en-US" altLang="zh-CN" dirty="0" err="1"/>
              <a:t>NDSearch</a:t>
            </a:r>
            <a:r>
              <a:rPr lang="zh-CN" altLang="en-US" dirty="0"/>
              <a:t>，证明了靠近数据计算能够减少搬移成本，但通常依赖专用硬件或者主要优化查询过程。</a:t>
            </a:r>
          </a:p>
          <a:p>
            <a:r>
              <a:rPr lang="en-US" altLang="zh-CN" dirty="0" err="1"/>
              <a:t>Ceph</a:t>
            </a:r>
            <a:r>
              <a:rPr lang="en-US" altLang="zh-CN" dirty="0"/>
              <a:t> CLS</a:t>
            </a:r>
            <a:r>
              <a:rPr lang="zh-CN" altLang="en-US" dirty="0"/>
              <a:t>可以直接在对象存储侧执行用户逻辑，同时结合</a:t>
            </a:r>
            <a:r>
              <a:rPr lang="en-US" altLang="zh-CN" dirty="0"/>
              <a:t>OMAP</a:t>
            </a:r>
            <a:r>
              <a:rPr lang="zh-CN" altLang="en-US" dirty="0"/>
              <a:t>管理邻接表和局部元数据，因此更适合实现向量更新过程中的算子卸载</a:t>
            </a:r>
          </a:p>
        </p:txBody>
      </p:sp>
    </p:spTree>
    <p:extLst>
      <p:ext uri="{BB962C8B-B14F-4D97-AF65-F5344CB8AC3E}">
        <p14:creationId xmlns:p14="http://schemas.microsoft.com/office/powerpoint/2010/main" val="2646806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D633-5B18-D6B4-3906-A73D39A5B3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467423-A939-A233-25E3-45C474D33B88}"/>
              </a:ext>
            </a:extLst>
          </p:cNvPr>
          <p:cNvSpPr>
            <a:spLocks noGrp="1" noRot="1" noChangeAspect="1"/>
          </p:cNvSpPr>
          <p:nvPr>
            <p:ph type="sldImg"/>
          </p:nvPr>
        </p:nvSpPr>
        <p:spPr>
          <a:xfrm>
            <a:off x="139700" y="768350"/>
            <a:ext cx="6819900" cy="3836988"/>
          </a:xfrm>
        </p:spPr>
      </p:sp>
      <p:sp>
        <p:nvSpPr>
          <p:cNvPr id="3" name="备注占位符 2">
            <a:extLst>
              <a:ext uri="{FF2B5EF4-FFF2-40B4-BE49-F238E27FC236}">
                <a16:creationId xmlns:a16="http://schemas.microsoft.com/office/drawing/2014/main" id="{860359CA-EB4C-BCD5-DC61-36B4D8DDBE8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78323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在前面的实验基础上，我进一步构建了一个距离计算卸载后的</a:t>
            </a:r>
            <a:r>
              <a:rPr lang="en-US" altLang="zh-CN" dirty="0"/>
              <a:t>baseline</a:t>
            </a:r>
            <a:r>
              <a:rPr lang="zh-CN" altLang="en-US" dirty="0"/>
              <a:t>，用于分析新的瓶颈。</a:t>
            </a:r>
          </a:p>
          <a:p>
            <a:r>
              <a:rPr lang="zh-CN" altLang="en-US" dirty="0"/>
              <a:t>在该</a:t>
            </a:r>
            <a:r>
              <a:rPr lang="en-US" altLang="zh-CN" dirty="0"/>
              <a:t>baseline</a:t>
            </a:r>
            <a:r>
              <a:rPr lang="zh-CN" altLang="en-US" dirty="0"/>
              <a:t>中，计算节点仍然负责</a:t>
            </a:r>
            <a:r>
              <a:rPr lang="en-US" altLang="zh-CN" dirty="0"/>
              <a:t>HNSW</a:t>
            </a:r>
            <a:r>
              <a:rPr lang="zh-CN" altLang="en-US" dirty="0"/>
              <a:t>搜索控制，而存储节点初步卸载了执行距离计算和邻接</a:t>
            </a:r>
            <a:r>
              <a:rPr lang="en-US" altLang="zh-CN" dirty="0"/>
              <a:t>patch</a:t>
            </a:r>
            <a:r>
              <a:rPr lang="zh-CN" altLang="en-US" dirty="0"/>
              <a:t>更新的算子（也就是图中红色方框内的两个函数）。</a:t>
            </a:r>
          </a:p>
          <a:p>
            <a:r>
              <a:rPr lang="zh-CN" altLang="en-US" dirty="0"/>
              <a:t>这样可以验证一个关键问题：如果把主要计算下沉到存储侧，系统瓶颈是否能够消失。</a:t>
            </a:r>
          </a:p>
        </p:txBody>
      </p:sp>
    </p:spTree>
    <p:extLst>
      <p:ext uri="{BB962C8B-B14F-4D97-AF65-F5344CB8AC3E}">
        <p14:creationId xmlns:p14="http://schemas.microsoft.com/office/powerpoint/2010/main" val="628756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实验结果表明，简单进行算子卸载并不能完全解决更新性能问题。</a:t>
            </a:r>
          </a:p>
          <a:p>
            <a:r>
              <a:rPr lang="zh-CN" altLang="en-US" dirty="0"/>
              <a:t>在</a:t>
            </a:r>
            <a:r>
              <a:rPr lang="en-US" altLang="zh-CN" dirty="0"/>
              <a:t>update</a:t>
            </a:r>
            <a:r>
              <a:rPr lang="zh-CN" altLang="en-US" dirty="0"/>
              <a:t>过程中，</a:t>
            </a:r>
            <a:r>
              <a:rPr lang="en-US" altLang="zh-CN" dirty="0"/>
              <a:t>remote distance</a:t>
            </a:r>
            <a:r>
              <a:rPr lang="zh-CN" altLang="en-US" dirty="0"/>
              <a:t>占比约</a:t>
            </a:r>
            <a:r>
              <a:rPr lang="en-US" altLang="zh-CN" dirty="0"/>
              <a:t>40%</a:t>
            </a:r>
            <a:r>
              <a:rPr lang="zh-CN" altLang="en-US" dirty="0"/>
              <a:t>到</a:t>
            </a:r>
            <a:r>
              <a:rPr lang="en-US" altLang="zh-CN" dirty="0"/>
              <a:t>52%</a:t>
            </a:r>
            <a:r>
              <a:rPr lang="zh-CN" altLang="en-US" dirty="0"/>
              <a:t>，</a:t>
            </a:r>
            <a:r>
              <a:rPr lang="en-US" altLang="zh-CN" dirty="0"/>
              <a:t>global meta</a:t>
            </a:r>
            <a:r>
              <a:rPr lang="zh-CN" altLang="en-US" dirty="0"/>
              <a:t>占比约</a:t>
            </a:r>
            <a:r>
              <a:rPr lang="en-US" altLang="zh-CN" dirty="0"/>
              <a:t>27%</a:t>
            </a:r>
            <a:r>
              <a:rPr lang="zh-CN" altLang="en-US" dirty="0"/>
              <a:t>到</a:t>
            </a:r>
            <a:r>
              <a:rPr lang="en-US" altLang="zh-CN" dirty="0"/>
              <a:t>50%</a:t>
            </a:r>
            <a:r>
              <a:rPr lang="zh-CN" altLang="en-US" dirty="0"/>
              <a:t>。</a:t>
            </a:r>
          </a:p>
          <a:p>
            <a:r>
              <a:rPr lang="zh-CN" altLang="en-US" dirty="0"/>
              <a:t>进一步分析</a:t>
            </a:r>
            <a:r>
              <a:rPr lang="en-US" altLang="zh-CN" dirty="0"/>
              <a:t>remote distance</a:t>
            </a:r>
            <a:r>
              <a:rPr lang="zh-CN" altLang="en-US" dirty="0"/>
              <a:t>发现，网络往返和</a:t>
            </a:r>
            <a:r>
              <a:rPr lang="en-US" altLang="zh-CN" dirty="0"/>
              <a:t>OSD</a:t>
            </a:r>
            <a:r>
              <a:rPr lang="zh-CN" altLang="en-US" dirty="0"/>
              <a:t>排队占</a:t>
            </a:r>
            <a:r>
              <a:rPr lang="en-US" altLang="zh-CN" dirty="0"/>
              <a:t>55%</a:t>
            </a:r>
            <a:r>
              <a:rPr lang="zh-CN" altLang="en-US" dirty="0"/>
              <a:t>到</a:t>
            </a:r>
            <a:r>
              <a:rPr lang="en-US" altLang="zh-CN" dirty="0"/>
              <a:t>82%</a:t>
            </a:r>
            <a:r>
              <a:rPr lang="zh-CN" altLang="en-US" dirty="0"/>
              <a:t>，而真正的距离计算只占不到</a:t>
            </a:r>
            <a:r>
              <a:rPr lang="en-US" altLang="zh-CN" dirty="0"/>
              <a:t>0.5%</a:t>
            </a:r>
            <a:r>
              <a:rPr lang="zh-CN" altLang="en-US" dirty="0"/>
              <a:t>。</a:t>
            </a:r>
          </a:p>
          <a:p>
            <a:r>
              <a:rPr lang="zh-CN" altLang="en-US" dirty="0"/>
              <a:t>因此，算子卸载之后，新的瓶颈主要转移到了三个方面：</a:t>
            </a:r>
          </a:p>
          <a:p>
            <a:r>
              <a:rPr lang="zh-CN" altLang="en-US"/>
              <a:t>第一，数据移动的网络往返；</a:t>
            </a:r>
            <a:endParaRPr lang="zh-CN" altLang="en-US" dirty="0"/>
          </a:p>
          <a:p>
            <a:r>
              <a:rPr lang="zh-CN" altLang="en-US"/>
              <a:t>第二，</a:t>
            </a:r>
            <a:r>
              <a:rPr lang="en-US" altLang="zh-CN"/>
              <a:t>cls</a:t>
            </a:r>
            <a:r>
              <a:rPr lang="zh-CN" altLang="en-US"/>
              <a:t>调用太碎导致的</a:t>
            </a:r>
            <a:r>
              <a:rPr lang="en-US" altLang="zh-CN"/>
              <a:t>OSD</a:t>
            </a:r>
            <a:r>
              <a:rPr lang="zh-CN" altLang="en-US"/>
              <a:t>排队；</a:t>
            </a:r>
            <a:endParaRPr lang="zh-CN" altLang="en-US" dirty="0"/>
          </a:p>
          <a:p>
            <a:r>
              <a:rPr lang="zh-CN" altLang="en-US" dirty="0"/>
              <a:t>第三，全局元数据维护产生的写热点。</a:t>
            </a:r>
          </a:p>
        </p:txBody>
      </p:sp>
    </p:spTree>
    <p:extLst>
      <p:ext uri="{BB962C8B-B14F-4D97-AF65-F5344CB8AC3E}">
        <p14:creationId xmlns:p14="http://schemas.microsoft.com/office/powerpoint/2010/main" val="2435329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3AAE-450E-1181-04BD-FA3B63E6A7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C551D5-2A0D-AE6C-3DF7-9BA89848DD92}"/>
              </a:ext>
            </a:extLst>
          </p:cNvPr>
          <p:cNvSpPr>
            <a:spLocks noGrp="1" noRot="1" noChangeAspect="1"/>
          </p:cNvSpPr>
          <p:nvPr>
            <p:ph type="sldImg"/>
          </p:nvPr>
        </p:nvSpPr>
        <p:spPr>
          <a:xfrm>
            <a:off x="139700" y="768350"/>
            <a:ext cx="6819900" cy="3836988"/>
          </a:xfrm>
        </p:spPr>
      </p:sp>
      <p:sp>
        <p:nvSpPr>
          <p:cNvPr id="3" name="备注占位符 2">
            <a:extLst>
              <a:ext uri="{FF2B5EF4-FFF2-40B4-BE49-F238E27FC236}">
                <a16:creationId xmlns:a16="http://schemas.microsoft.com/office/drawing/2014/main" id="{005FE7A1-EF03-F255-B846-8467F6AE0318}"/>
              </a:ext>
            </a:extLst>
          </p:cNvPr>
          <p:cNvSpPr>
            <a:spLocks noGrp="1"/>
          </p:cNvSpPr>
          <p:nvPr>
            <p:ph type="body" idx="1"/>
          </p:nvPr>
        </p:nvSpPr>
        <p:spPr/>
        <p:txBody>
          <a:bodyPr/>
          <a:lstStyle/>
          <a:p>
            <a:r>
              <a:rPr lang="zh-CN" altLang="en-US" dirty="0"/>
              <a:t>接下来进入第四部分，我将基于这些实验发现，说明后续研究方案和技术路线。</a:t>
            </a:r>
          </a:p>
          <a:p>
            <a:endParaRPr lang="zh-CN" altLang="en-US" dirty="0"/>
          </a:p>
        </p:txBody>
      </p:sp>
    </p:spTree>
    <p:extLst>
      <p:ext uri="{BB962C8B-B14F-4D97-AF65-F5344CB8AC3E}">
        <p14:creationId xmlns:p14="http://schemas.microsoft.com/office/powerpoint/2010/main" val="2424440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针对上述三个瓶颈，我设计了三层近存储优化框架。</a:t>
            </a:r>
          </a:p>
          <a:p>
            <a:r>
              <a:rPr lang="zh-CN" altLang="en-US" dirty="0"/>
              <a:t>第一层是数据布局优化，通过提高图结构局部性，减少一次更新涉及的</a:t>
            </a:r>
            <a:r>
              <a:rPr lang="en-US" altLang="zh-CN" dirty="0"/>
              <a:t>OSD</a:t>
            </a:r>
            <a:r>
              <a:rPr lang="zh-CN" altLang="en-US" dirty="0"/>
              <a:t>数量。</a:t>
            </a:r>
          </a:p>
          <a:p>
            <a:r>
              <a:rPr lang="zh-CN" altLang="en-US" dirty="0"/>
              <a:t>第二层是远端执行优化，通过批量化请求和拥塞感知调度，降低远端调用次数和</a:t>
            </a:r>
            <a:r>
              <a:rPr lang="en-US" altLang="zh-CN" dirty="0"/>
              <a:t>OSD</a:t>
            </a:r>
            <a:r>
              <a:rPr lang="zh-CN" altLang="en-US" dirty="0"/>
              <a:t>排队。</a:t>
            </a:r>
          </a:p>
          <a:p>
            <a:r>
              <a:rPr lang="zh-CN" altLang="en-US" dirty="0"/>
              <a:t>第三层是元数据协议优化，通过冷热分离降低</a:t>
            </a:r>
            <a:r>
              <a:rPr lang="en-US" altLang="zh-CN" dirty="0"/>
              <a:t>global meta</a:t>
            </a:r>
            <a:r>
              <a:rPr lang="zh-CN" altLang="en-US" dirty="0"/>
              <a:t>写热点。</a:t>
            </a:r>
          </a:p>
          <a:p>
            <a:r>
              <a:rPr lang="zh-CN" altLang="en-US" dirty="0"/>
              <a:t>三个优化方向分别对应数据</a:t>
            </a:r>
            <a:r>
              <a:rPr lang="zh-CN" altLang="en-US"/>
              <a:t>移动、</a:t>
            </a:r>
            <a:r>
              <a:rPr lang="en-US" altLang="zh-CN"/>
              <a:t>cls</a:t>
            </a:r>
            <a:r>
              <a:rPr lang="zh-CN" altLang="en-US"/>
              <a:t>请求碎片化和全局元数据写热点三</a:t>
            </a:r>
            <a:r>
              <a:rPr lang="zh-CN" altLang="en-US" dirty="0"/>
              <a:t>个核心</a:t>
            </a:r>
            <a:r>
              <a:rPr lang="zh-CN" altLang="en-US"/>
              <a:t>问题。</a:t>
            </a:r>
            <a:endParaRPr lang="zh-CN" altLang="en-US" dirty="0"/>
          </a:p>
        </p:txBody>
      </p:sp>
    </p:spTree>
    <p:extLst>
      <p:ext uri="{BB962C8B-B14F-4D97-AF65-F5344CB8AC3E}">
        <p14:creationId xmlns:p14="http://schemas.microsoft.com/office/powerpoint/2010/main" val="1096659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第一个优化针对传统更新过程中跨</a:t>
            </a:r>
            <a:r>
              <a:rPr lang="en-US" altLang="zh-CN" dirty="0"/>
              <a:t>OSD</a:t>
            </a:r>
            <a:r>
              <a:rPr lang="zh-CN" altLang="en-US" dirty="0"/>
              <a:t>访问过多的问题。</a:t>
            </a:r>
          </a:p>
          <a:p>
            <a:r>
              <a:rPr lang="zh-CN" altLang="en-US" dirty="0"/>
              <a:t>在</a:t>
            </a:r>
            <a:r>
              <a:rPr lang="en-US" altLang="zh-CN" dirty="0"/>
              <a:t>HNSW</a:t>
            </a:r>
            <a:r>
              <a:rPr lang="zh-CN" altLang="en-US" dirty="0"/>
              <a:t>更新过程中，一个新向量的候选邻居通常分布在不同存储节点，导致一次</a:t>
            </a:r>
            <a:r>
              <a:rPr lang="en-US" altLang="zh-CN" dirty="0"/>
              <a:t>update</a:t>
            </a:r>
            <a:r>
              <a:rPr lang="zh-CN" altLang="en-US" dirty="0"/>
              <a:t>需要访问多个</a:t>
            </a:r>
            <a:r>
              <a:rPr lang="en-US" altLang="zh-CN" dirty="0"/>
              <a:t>OSD</a:t>
            </a:r>
            <a:r>
              <a:rPr lang="zh-CN" altLang="en-US" dirty="0"/>
              <a:t>，同时产生大量跨节点通信。因此，核心思想是利用向量图结构本身的局部性优化对象布局。</a:t>
            </a:r>
          </a:p>
          <a:p>
            <a:r>
              <a:rPr lang="zh-CN" altLang="en-US" dirty="0"/>
              <a:t>具体来说，在新节点插入时，根据</a:t>
            </a:r>
            <a:r>
              <a:rPr lang="en-US" altLang="zh-CN" dirty="0"/>
              <a:t>HNSW</a:t>
            </a:r>
            <a:r>
              <a:rPr lang="zh-CN" altLang="en-US" dirty="0"/>
              <a:t>搜索得到的邻居集合，统计候选邻居之间的关联关系，形成</a:t>
            </a:r>
            <a:r>
              <a:rPr lang="en-US" altLang="zh-CN" dirty="0"/>
              <a:t>Locality Group</a:t>
            </a:r>
            <a:r>
              <a:rPr lang="zh-CN" altLang="en-US" dirty="0"/>
              <a:t>。对于具有较强图关联性的</a:t>
            </a:r>
            <a:r>
              <a:rPr lang="en-US" altLang="zh-CN" dirty="0"/>
              <a:t>payload</a:t>
            </a:r>
            <a:r>
              <a:rPr lang="zh-CN" altLang="en-US" dirty="0"/>
              <a:t>、</a:t>
            </a:r>
            <a:r>
              <a:rPr lang="en-US" altLang="zh-CN" dirty="0"/>
              <a:t>adjacency</a:t>
            </a:r>
            <a:r>
              <a:rPr lang="zh-CN" altLang="en-US" dirty="0"/>
              <a:t>以及</a:t>
            </a:r>
            <a:r>
              <a:rPr lang="en-US" altLang="zh-CN" dirty="0"/>
              <a:t>local meta</a:t>
            </a:r>
            <a:r>
              <a:rPr lang="zh-CN" altLang="en-US" dirty="0"/>
              <a:t>，赋予相同的</a:t>
            </a:r>
            <a:r>
              <a:rPr lang="en-US" altLang="zh-CN" dirty="0"/>
              <a:t>locator key</a:t>
            </a:r>
            <a:r>
              <a:rPr lang="zh-CN" altLang="en-US" dirty="0"/>
              <a:t>，使其尽量映射到同一个</a:t>
            </a:r>
            <a:r>
              <a:rPr lang="en-US" altLang="zh-CN" dirty="0"/>
              <a:t>PG</a:t>
            </a:r>
            <a:r>
              <a:rPr lang="zh-CN" altLang="en-US" dirty="0"/>
              <a:t>中。</a:t>
            </a:r>
          </a:p>
          <a:p>
            <a:r>
              <a:rPr lang="zh-CN" altLang="en-US" dirty="0"/>
              <a:t>这里不直接修改</a:t>
            </a:r>
            <a:r>
              <a:rPr lang="en-US" altLang="zh-CN" dirty="0" err="1"/>
              <a:t>Ceph</a:t>
            </a:r>
            <a:r>
              <a:rPr lang="zh-CN" altLang="en-US" dirty="0"/>
              <a:t>底层</a:t>
            </a:r>
            <a:r>
              <a:rPr lang="en-US" altLang="zh-CN" dirty="0"/>
              <a:t>CRUSH</a:t>
            </a:r>
            <a:r>
              <a:rPr lang="zh-CN" altLang="en-US" dirty="0"/>
              <a:t>映射，而是在对象进入</a:t>
            </a:r>
            <a:r>
              <a:rPr lang="en-US" altLang="zh-CN" dirty="0"/>
              <a:t>PG</a:t>
            </a:r>
            <a:r>
              <a:rPr lang="zh-CN" altLang="en-US" dirty="0"/>
              <a:t>之前调整对象定位策略，因此仍然保留</a:t>
            </a:r>
            <a:r>
              <a:rPr lang="en-US" altLang="zh-CN" dirty="0" err="1"/>
              <a:t>Ceph</a:t>
            </a:r>
            <a:r>
              <a:rPr lang="zh-CN" altLang="en-US" dirty="0"/>
              <a:t>原有的副本机制、故障域隔离和负载均衡能力。</a:t>
            </a:r>
          </a:p>
          <a:p>
            <a:r>
              <a:rPr lang="zh-CN" altLang="en-US" dirty="0"/>
              <a:t>同时，为避免热点集中，引入负载约束，根据</a:t>
            </a:r>
            <a:r>
              <a:rPr lang="en-US" altLang="zh-CN" dirty="0"/>
              <a:t>Locality</a:t>
            </a:r>
            <a:r>
              <a:rPr lang="zh-CN" altLang="en-US" dirty="0"/>
              <a:t>收益和</a:t>
            </a:r>
            <a:r>
              <a:rPr lang="en-US" altLang="zh-CN" dirty="0"/>
              <a:t>Group</a:t>
            </a:r>
            <a:r>
              <a:rPr lang="zh-CN" altLang="en-US" dirty="0"/>
              <a:t>负载联合决定对象归属。当局部组达到容量或负载阈值后，允许创建新的</a:t>
            </a:r>
            <a:r>
              <a:rPr lang="en-US" altLang="zh-CN" dirty="0"/>
              <a:t>Group</a:t>
            </a:r>
            <a:r>
              <a:rPr lang="zh-CN" altLang="en-US" dirty="0"/>
              <a:t>或者跨</a:t>
            </a:r>
            <a:r>
              <a:rPr lang="en-US" altLang="zh-CN" dirty="0"/>
              <a:t>Group</a:t>
            </a:r>
            <a:r>
              <a:rPr lang="zh-CN" altLang="en-US" dirty="0"/>
              <a:t>访问。</a:t>
            </a:r>
          </a:p>
          <a:p>
            <a:r>
              <a:rPr lang="zh-CN" altLang="en-US" dirty="0"/>
              <a:t>该优化主要降低一次更新涉及的</a:t>
            </a:r>
            <a:r>
              <a:rPr lang="en-US" altLang="zh-CN" dirty="0"/>
              <a:t>OSD</a:t>
            </a:r>
            <a:r>
              <a:rPr lang="zh-CN" altLang="en-US" dirty="0"/>
              <a:t>数量，提高图访问局部性。</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第二个优化针对算子卸载后的远端调用和</a:t>
            </a:r>
            <a:r>
              <a:rPr lang="en-US" altLang="zh-CN" dirty="0"/>
              <a:t>OSD</a:t>
            </a:r>
            <a:r>
              <a:rPr lang="zh-CN" altLang="en-US" dirty="0"/>
              <a:t>排队问题。</a:t>
            </a:r>
          </a:p>
          <a:p>
            <a:r>
              <a:rPr lang="zh-CN" altLang="en-US" dirty="0"/>
              <a:t>从</a:t>
            </a:r>
            <a:r>
              <a:rPr lang="en-US" altLang="zh-CN" dirty="0"/>
              <a:t>baseline</a:t>
            </a:r>
            <a:r>
              <a:rPr lang="zh-CN" altLang="en-US" dirty="0"/>
              <a:t>实验可以看到，即使距离计算已经下沉到</a:t>
            </a:r>
            <a:r>
              <a:rPr lang="en-US" altLang="zh-CN" dirty="0"/>
              <a:t>OSD</a:t>
            </a:r>
            <a:r>
              <a:rPr lang="zh-CN" altLang="en-US" dirty="0"/>
              <a:t>，</a:t>
            </a:r>
            <a:r>
              <a:rPr lang="en-US" altLang="zh-CN" dirty="0"/>
              <a:t>remote distance</a:t>
            </a:r>
            <a:r>
              <a:rPr lang="zh-CN" altLang="en-US" dirty="0"/>
              <a:t>仍然占据较高比例，其中主要开销来自网络往返和</a:t>
            </a:r>
            <a:r>
              <a:rPr lang="en-US" altLang="zh-CN" dirty="0"/>
              <a:t>OSD</a:t>
            </a:r>
            <a:r>
              <a:rPr lang="zh-CN" altLang="en-US" dirty="0"/>
              <a:t>队列等待，而不是距离计算本身。</a:t>
            </a:r>
          </a:p>
          <a:p>
            <a:r>
              <a:rPr lang="zh-CN" altLang="en-US" dirty="0"/>
              <a:t>因此，我设计两级请求聚合机制。</a:t>
            </a:r>
          </a:p>
          <a:p>
            <a:r>
              <a:rPr lang="zh-CN" altLang="en-US" dirty="0"/>
              <a:t>第一层是在单次</a:t>
            </a:r>
            <a:r>
              <a:rPr lang="en-US" altLang="zh-CN" dirty="0"/>
              <a:t>update</a:t>
            </a:r>
            <a:r>
              <a:rPr lang="zh-CN" altLang="en-US" dirty="0"/>
              <a:t>内部进行候选聚合。由于</a:t>
            </a:r>
            <a:r>
              <a:rPr lang="en-US" altLang="zh-CN" dirty="0"/>
              <a:t>HNSW</a:t>
            </a:r>
            <a:r>
              <a:rPr lang="zh-CN" altLang="en-US" dirty="0"/>
              <a:t>搜索过程中会产生多个候选访问请求，系统首先按照</a:t>
            </a:r>
            <a:r>
              <a:rPr lang="en-US" altLang="zh-CN" dirty="0"/>
              <a:t>shard</a:t>
            </a:r>
            <a:r>
              <a:rPr lang="zh-CN" altLang="en-US" dirty="0"/>
              <a:t>或者</a:t>
            </a:r>
            <a:r>
              <a:rPr lang="en-US" altLang="zh-CN" dirty="0"/>
              <a:t>OSD</a:t>
            </a:r>
            <a:r>
              <a:rPr lang="zh-CN" altLang="en-US" dirty="0"/>
              <a:t>进行分组，将多个小请求合并为一次批量</a:t>
            </a:r>
            <a:r>
              <a:rPr lang="en-US" altLang="zh-CN" dirty="0"/>
              <a:t>CLS</a:t>
            </a:r>
            <a:r>
              <a:rPr lang="zh-CN" altLang="en-US" dirty="0"/>
              <a:t>执行。</a:t>
            </a:r>
          </a:p>
          <a:p>
            <a:r>
              <a:rPr lang="zh-CN" altLang="en-US" dirty="0"/>
              <a:t>第二层是在多个并发</a:t>
            </a:r>
            <a:r>
              <a:rPr lang="en-US" altLang="zh-CN" dirty="0"/>
              <a:t>update</a:t>
            </a:r>
            <a:r>
              <a:rPr lang="zh-CN" altLang="en-US" dirty="0"/>
              <a:t>之间进行微批处理。系统维护请求队列，将短时间内访问同一</a:t>
            </a:r>
            <a:r>
              <a:rPr lang="en-US" altLang="zh-CN" dirty="0"/>
              <a:t>OSD</a:t>
            </a:r>
            <a:r>
              <a:rPr lang="zh-CN" altLang="en-US" dirty="0"/>
              <a:t>的请求进一步合并，提高单次</a:t>
            </a:r>
            <a:r>
              <a:rPr lang="en-US" altLang="zh-CN" dirty="0"/>
              <a:t>CLS</a:t>
            </a:r>
            <a:r>
              <a:rPr lang="zh-CN" altLang="en-US" dirty="0"/>
              <a:t>执行粒度。</a:t>
            </a:r>
          </a:p>
          <a:p>
            <a:r>
              <a:rPr lang="zh-CN" altLang="en-US" dirty="0"/>
              <a:t>但是简单扩大</a:t>
            </a:r>
            <a:r>
              <a:rPr lang="en-US" altLang="zh-CN" dirty="0"/>
              <a:t>batch</a:t>
            </a:r>
            <a:r>
              <a:rPr lang="zh-CN" altLang="en-US" dirty="0"/>
              <a:t>可能导致</a:t>
            </a:r>
            <a:r>
              <a:rPr lang="en-US" altLang="zh-CN" dirty="0"/>
              <a:t>OSD</a:t>
            </a:r>
            <a:r>
              <a:rPr lang="zh-CN" altLang="en-US" dirty="0"/>
              <a:t>过载，因此进一步设计拥塞感知调度机制。系统实时监控每个</a:t>
            </a:r>
            <a:r>
              <a:rPr lang="en-US" altLang="zh-CN" dirty="0"/>
              <a:t>OSD</a:t>
            </a:r>
            <a:r>
              <a:rPr lang="zh-CN" altLang="en-US" dirty="0"/>
              <a:t>的</a:t>
            </a:r>
            <a:r>
              <a:rPr lang="en-US" altLang="zh-CN" dirty="0"/>
              <a:t>inflight</a:t>
            </a:r>
            <a:r>
              <a:rPr lang="zh-CN" altLang="en-US" dirty="0"/>
              <a:t>请求数量、</a:t>
            </a:r>
            <a:r>
              <a:rPr lang="en-US" altLang="zh-CN" dirty="0"/>
              <a:t>CLS RTT</a:t>
            </a:r>
            <a:r>
              <a:rPr lang="zh-CN" altLang="en-US" dirty="0"/>
              <a:t>以及</a:t>
            </a:r>
            <a:r>
              <a:rPr lang="en-US" altLang="zh-CN" dirty="0"/>
              <a:t>queue waiting time</a:t>
            </a:r>
            <a:r>
              <a:rPr lang="zh-CN" altLang="en-US" dirty="0"/>
              <a:t>，根据负载动态调整并发窗口。</a:t>
            </a:r>
          </a:p>
          <a:p>
            <a:r>
              <a:rPr lang="zh-CN" altLang="en-US" dirty="0"/>
              <a:t>低负载时提高并发，出现排队时降低发送速率，从而在吞吐和尾延迟之间取得平衡。</a:t>
            </a:r>
          </a:p>
          <a:p>
            <a:r>
              <a:rPr lang="zh-CN" altLang="en-US" dirty="0"/>
              <a:t>该优化目标是减少</a:t>
            </a:r>
            <a:r>
              <a:rPr lang="en-US" altLang="zh-CN" dirty="0" err="1"/>
              <a:t>cls_exec</a:t>
            </a:r>
            <a:r>
              <a:rPr lang="zh-CN" altLang="en-US" dirty="0"/>
              <a:t>次数、网络往返以及</a:t>
            </a:r>
            <a:r>
              <a:rPr lang="en-US" altLang="zh-CN" dirty="0"/>
              <a:t>OSD</a:t>
            </a:r>
            <a:r>
              <a:rPr lang="zh-CN" altLang="en-US" dirty="0"/>
              <a:t>排队时间。</a:t>
            </a:r>
          </a:p>
        </p:txBody>
      </p:sp>
    </p:spTree>
    <p:extLst>
      <p:ext uri="{BB962C8B-B14F-4D97-AF65-F5344CB8AC3E}">
        <p14:creationId xmlns:p14="http://schemas.microsoft.com/office/powerpoint/2010/main" val="3627700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第三个优化针对</a:t>
            </a:r>
            <a:r>
              <a:rPr lang="en-US" altLang="zh-CN" dirty="0"/>
              <a:t>global meta</a:t>
            </a:r>
            <a:r>
              <a:rPr lang="zh-CN" altLang="en-US" dirty="0"/>
              <a:t>热点问题。</a:t>
            </a:r>
          </a:p>
          <a:p>
            <a:r>
              <a:rPr lang="zh-CN" altLang="en-US" dirty="0"/>
              <a:t>在分布式</a:t>
            </a:r>
            <a:r>
              <a:rPr lang="en-US" altLang="zh-CN" dirty="0"/>
              <a:t>HNSW</a:t>
            </a:r>
            <a:r>
              <a:rPr lang="zh-CN" altLang="en-US" dirty="0"/>
              <a:t>更新中，并不是所有元数据都具有相同访问特征。例如</a:t>
            </a:r>
            <a:r>
              <a:rPr lang="en-US" altLang="zh-CN" dirty="0"/>
              <a:t>entry point</a:t>
            </a:r>
            <a:r>
              <a:rPr lang="zh-CN" altLang="en-US" dirty="0"/>
              <a:t>、</a:t>
            </a:r>
            <a:r>
              <a:rPr lang="en-US" altLang="zh-CN" dirty="0"/>
              <a:t>max level</a:t>
            </a:r>
            <a:r>
              <a:rPr lang="zh-CN" altLang="en-US" dirty="0"/>
              <a:t>属于低频变化但影响全局结构的信息，而</a:t>
            </a:r>
            <a:r>
              <a:rPr lang="en-US" altLang="zh-CN" dirty="0"/>
              <a:t>local version</a:t>
            </a:r>
            <a:r>
              <a:rPr lang="zh-CN" altLang="en-US" dirty="0"/>
              <a:t>、邻接状态等属于高频变化信息。</a:t>
            </a:r>
          </a:p>
          <a:p>
            <a:r>
              <a:rPr lang="zh-CN" altLang="en-US" dirty="0"/>
              <a:t>如果所有更新都集中修改</a:t>
            </a:r>
            <a:r>
              <a:rPr lang="en-US" altLang="zh-CN" dirty="0"/>
              <a:t>global meta</a:t>
            </a:r>
            <a:r>
              <a:rPr lang="zh-CN" altLang="en-US" dirty="0"/>
              <a:t>，会导致多个</a:t>
            </a:r>
            <a:r>
              <a:rPr lang="en-US" altLang="zh-CN" dirty="0"/>
              <a:t>OSD</a:t>
            </a:r>
            <a:r>
              <a:rPr lang="zh-CN" altLang="en-US" dirty="0"/>
              <a:t>更新请求竞争同一个全局状态，形成串行瓶颈。</a:t>
            </a:r>
          </a:p>
          <a:p>
            <a:r>
              <a:rPr lang="zh-CN" altLang="en-US" dirty="0"/>
              <a:t>因此，我设计</a:t>
            </a:r>
            <a:r>
              <a:rPr lang="zh-CN" altLang="en-US" sz="1200" dirty="0">
                <a:solidFill>
                  <a:srgbClr val="2B3A4B"/>
                </a:solidFill>
                <a:latin typeface="Microsoft YaHei"/>
              </a:rPr>
              <a:t>面向动态图索引的一致性元数据协议</a:t>
            </a:r>
            <a:r>
              <a:rPr lang="zh-CN" altLang="en-US" dirty="0"/>
              <a:t>。</a:t>
            </a:r>
          </a:p>
          <a:p>
            <a:r>
              <a:rPr lang="zh-CN" altLang="en-US" dirty="0"/>
              <a:t>对于真正的全局状态，例如</a:t>
            </a:r>
            <a:r>
              <a:rPr lang="en-US" altLang="zh-CN" dirty="0"/>
              <a:t>entry point</a:t>
            </a:r>
            <a:r>
              <a:rPr lang="zh-CN" altLang="en-US" dirty="0"/>
              <a:t>和</a:t>
            </a:r>
            <a:r>
              <a:rPr lang="en-US" altLang="zh-CN" dirty="0"/>
              <a:t>max level</a:t>
            </a:r>
            <a:r>
              <a:rPr lang="zh-CN" altLang="en-US" dirty="0"/>
              <a:t>，继续保存在</a:t>
            </a:r>
            <a:r>
              <a:rPr lang="en-US" altLang="zh-CN" dirty="0"/>
              <a:t>global header</a:t>
            </a:r>
            <a:r>
              <a:rPr lang="zh-CN" altLang="en-US" dirty="0"/>
              <a:t>中；对于高频变化的局部状态，例如邻接版本、更新状态以及</a:t>
            </a:r>
            <a:r>
              <a:rPr lang="en-US" altLang="zh-CN" dirty="0"/>
              <a:t>patch</a:t>
            </a:r>
            <a:r>
              <a:rPr lang="zh-CN" altLang="en-US" dirty="0"/>
              <a:t>日志，下沉到</a:t>
            </a:r>
            <a:r>
              <a:rPr lang="en-US" altLang="zh-CN" dirty="0"/>
              <a:t>shard-local meta</a:t>
            </a:r>
            <a:r>
              <a:rPr lang="zh-CN" altLang="en-US" dirty="0"/>
              <a:t>。</a:t>
            </a:r>
          </a:p>
          <a:p>
            <a:r>
              <a:rPr lang="zh-CN" altLang="en-US" dirty="0"/>
              <a:t>在更新过程中，普通插入首先读取缓存的</a:t>
            </a:r>
            <a:r>
              <a:rPr lang="en-US" altLang="zh-CN" dirty="0"/>
              <a:t>global header</a:t>
            </a:r>
            <a:r>
              <a:rPr lang="zh-CN" altLang="en-US" dirty="0"/>
              <a:t>，然后只修改对应</a:t>
            </a:r>
            <a:r>
              <a:rPr lang="en-US" altLang="zh-CN" dirty="0"/>
              <a:t>shard-local meta</a:t>
            </a:r>
            <a:r>
              <a:rPr lang="zh-CN" altLang="en-US" dirty="0"/>
              <a:t>。只有当更新导致最高层结构变化或者全局状态改变时，才触发</a:t>
            </a:r>
            <a:r>
              <a:rPr lang="en-US" altLang="zh-CN" dirty="0"/>
              <a:t>global header</a:t>
            </a:r>
            <a:r>
              <a:rPr lang="zh-CN" altLang="en-US" dirty="0"/>
              <a:t>条件提交。</a:t>
            </a:r>
          </a:p>
          <a:p>
            <a:r>
              <a:rPr lang="zh-CN" altLang="en-US" dirty="0"/>
              <a:t>如果发生版本冲突，也只需要重试相关对象，而不是重新执行整个</a:t>
            </a:r>
            <a:r>
              <a:rPr lang="en-US" altLang="zh-CN" dirty="0"/>
              <a:t>update</a:t>
            </a:r>
            <a:r>
              <a:rPr lang="zh-CN" altLang="en-US" dirty="0"/>
              <a:t>流程。</a:t>
            </a:r>
          </a:p>
          <a:p>
            <a:r>
              <a:rPr lang="zh-CN" altLang="en-US" dirty="0"/>
              <a:t>该机制将原来的全局串行提交转化为局部并行更新，降低</a:t>
            </a:r>
            <a:r>
              <a:rPr lang="en-US" altLang="zh-CN" dirty="0"/>
              <a:t>global meta</a:t>
            </a:r>
            <a:r>
              <a:rPr lang="zh-CN" altLang="en-US" dirty="0"/>
              <a:t>写压力。</a:t>
            </a:r>
          </a:p>
        </p:txBody>
      </p:sp>
    </p:spTree>
    <p:extLst>
      <p:ext uri="{BB962C8B-B14F-4D97-AF65-F5344CB8AC3E}">
        <p14:creationId xmlns:p14="http://schemas.microsoft.com/office/powerpoint/2010/main" val="916890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然后总结一下目前的优化设计方案，三个优化分别对应</a:t>
            </a:r>
            <a:r>
              <a:rPr lang="en-US" altLang="zh-CN"/>
              <a:t>baseline</a:t>
            </a:r>
            <a:r>
              <a:rPr lang="zh-CN" altLang="en-US"/>
              <a:t>发现的三个核心瓶颈：数据布局层减少跨</a:t>
            </a:r>
            <a:r>
              <a:rPr lang="en-US" altLang="zh-CN"/>
              <a:t>OSD</a:t>
            </a:r>
            <a:r>
              <a:rPr lang="zh-CN" altLang="en-US"/>
              <a:t>访问，执行层减少远端调用和排队，元数据层降低全局同步压力。根据目前的阶段性研究进展来看，预计能</a:t>
            </a:r>
            <a:r>
              <a:rPr lang="zh-CN" altLang="en-US" sz="900" kern="1200">
                <a:solidFill>
                  <a:schemeClr val="tx1"/>
                </a:solidFill>
                <a:latin typeface="Times New Roman" panose="02020603050405020304" pitchFamily="18" charset="0"/>
                <a:ea typeface="宋体" pitchFamily="2" charset="-122"/>
                <a:cs typeface="Times New Roman" panose="02020603050405020304" pitchFamily="18" charset="0"/>
              </a:rPr>
              <a:t>将动态更新延迟降低</a:t>
            </a:r>
            <a:r>
              <a:rPr lang="en-US" altLang="zh-CN" sz="900" b="1" kern="1200">
                <a:solidFill>
                  <a:srgbClr val="FF0000"/>
                </a:solidFill>
                <a:latin typeface="Times New Roman" panose="02020603050405020304" pitchFamily="18" charset="0"/>
                <a:ea typeface="宋体" pitchFamily="2" charset="-122"/>
                <a:cs typeface="Times New Roman" panose="02020603050405020304" pitchFamily="18" charset="0"/>
              </a:rPr>
              <a:t>30%</a:t>
            </a:r>
            <a:r>
              <a:rPr lang="zh-CN" altLang="en-US" sz="900" kern="1200">
                <a:solidFill>
                  <a:schemeClr val="tx1"/>
                </a:solidFill>
                <a:latin typeface="Times New Roman" panose="02020603050405020304" pitchFamily="18" charset="0"/>
                <a:ea typeface="宋体" pitchFamily="2" charset="-122"/>
                <a:cs typeface="Times New Roman" panose="02020603050405020304" pitchFamily="18" charset="0"/>
              </a:rPr>
              <a:t>以上，并显著降低网络通信和</a:t>
            </a:r>
            <a:r>
              <a:rPr lang="en-US" altLang="zh-CN" sz="900" kern="1200">
                <a:solidFill>
                  <a:schemeClr val="tx1"/>
                </a:solidFill>
                <a:latin typeface="Times New Roman" panose="02020603050405020304" pitchFamily="18" charset="0"/>
                <a:ea typeface="宋体" pitchFamily="2" charset="-122"/>
                <a:cs typeface="Times New Roman" panose="02020603050405020304" pitchFamily="18" charset="0"/>
              </a:rPr>
              <a:t>OSD</a:t>
            </a:r>
            <a:r>
              <a:rPr lang="zh-CN" altLang="en-US" sz="900" kern="1200">
                <a:solidFill>
                  <a:schemeClr val="tx1"/>
                </a:solidFill>
                <a:latin typeface="Times New Roman" panose="02020603050405020304" pitchFamily="18" charset="0"/>
                <a:ea typeface="宋体" pitchFamily="2" charset="-122"/>
                <a:cs typeface="Times New Roman" panose="02020603050405020304" pitchFamily="18" charset="0"/>
              </a:rPr>
              <a:t>访问压力。</a:t>
            </a:r>
            <a:endParaRPr lang="zh-CN" altLang="en-US" dirty="0"/>
          </a:p>
        </p:txBody>
      </p:sp>
    </p:spTree>
    <p:extLst>
      <p:ext uri="{BB962C8B-B14F-4D97-AF65-F5344CB8AC3E}">
        <p14:creationId xmlns:p14="http://schemas.microsoft.com/office/powerpoint/2010/main" val="791195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88276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a:t>
            </a:r>
            <a:r>
              <a:rPr lang="zh-CN" altLang="en-US" dirty="0"/>
              <a:t>的汇报结束，谢谢各位老师，请各位老师批评指正。</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2117" y="9525"/>
            <a:ext cx="12192000" cy="6845300"/>
          </a:xfrm>
          <a:prstGeom prst="rect">
            <a:avLst/>
          </a:prstGeom>
          <a:noFill/>
          <a:ln w="9525">
            <a:noFill/>
          </a:ln>
        </p:spPr>
      </p:pic>
      <p:sp>
        <p:nvSpPr>
          <p:cNvPr id="2" name="Rectangle 23"/>
          <p:cNvSpPr>
            <a:spLocks noChangeArrowheads="1"/>
          </p:cNvSpPr>
          <p:nvPr/>
        </p:nvSpPr>
        <p:spPr bwMode="auto">
          <a:xfrm flipV="1">
            <a:off x="421217" y="3589339"/>
            <a:ext cx="11590867"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9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p>
        </p:txBody>
      </p:sp>
      <p:sp>
        <p:nvSpPr>
          <p:cNvPr id="10" name="标题 9"/>
          <p:cNvSpPr>
            <a:spLocks noGrp="1"/>
          </p:cNvSpPr>
          <p:nvPr>
            <p:ph type="title"/>
          </p:nvPr>
        </p:nvSpPr>
        <p:spPr>
          <a:xfrm>
            <a:off x="647700" y="908720"/>
            <a:ext cx="10972800" cy="863600"/>
          </a:xfrm>
        </p:spPr>
        <p:txBody>
          <a:bodyPr/>
          <a:lstStyle/>
          <a:p>
            <a:r>
              <a:rPr lang="zh-CN" altLang="en-US" dirty="0"/>
              <a:t>单击此处编辑母版标题样式</a:t>
            </a:r>
          </a:p>
        </p:txBody>
      </p:sp>
      <p:sp>
        <p:nvSpPr>
          <p:cNvPr id="11" name="日期占位符 1"/>
          <p:cNvSpPr>
            <a:spLocks noGrp="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2" name="页脚占位符 2"/>
          <p:cNvSpPr>
            <a:spLocks noGrp="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3" name="灯片编号占位符 8"/>
          <p:cNvSpPr>
            <a:spLocks noGrp="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2117" y="9525"/>
            <a:ext cx="12192000" cy="6845300"/>
          </a:xfrm>
          <a:prstGeom prst="rect">
            <a:avLst/>
          </a:prstGeom>
          <a:noFill/>
          <a:ln w="9525">
            <a:noFill/>
          </a:ln>
        </p:spPr>
      </p:pic>
      <p:sp>
        <p:nvSpPr>
          <p:cNvPr id="136195" name="Rectangle 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p>
        </p:txBody>
      </p:sp>
      <p:sp>
        <p:nvSpPr>
          <p:cNvPr id="10" name="标题 9"/>
          <p:cNvSpPr>
            <a:spLocks noGrp="1"/>
          </p:cNvSpPr>
          <p:nvPr>
            <p:ph type="title"/>
          </p:nvPr>
        </p:nvSpPr>
        <p:spPr>
          <a:xfrm>
            <a:off x="647700" y="908720"/>
            <a:ext cx="10972800" cy="863600"/>
          </a:xfrm>
        </p:spPr>
        <p:txBody>
          <a:bodyPr/>
          <a:lstStyle/>
          <a:p>
            <a:r>
              <a:rPr lang="zh-CN" altLang="en-US" dirty="0"/>
              <a:t>单击此处编辑母版标题样式</a:t>
            </a:r>
          </a:p>
        </p:txBody>
      </p:sp>
      <p:sp>
        <p:nvSpPr>
          <p:cNvPr id="11" name="日期占位符 1"/>
          <p:cNvSpPr>
            <a:spLocks noGrp="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2" name="页脚占位符 2"/>
          <p:cNvSpPr>
            <a:spLocks noGrp="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endParaRPr lang="en-US" altLang="zh-CN"/>
          </a:p>
        </p:txBody>
      </p:sp>
      <p:sp>
        <p:nvSpPr>
          <p:cNvPr id="13" name="灯片编号占位符 8"/>
          <p:cNvSpPr>
            <a:spLocks noGrp="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pic>
        <p:nvPicPr>
          <p:cNvPr id="7" name="图片 8"/>
          <p:cNvPicPr>
            <a:picLocks noChangeAspect="1"/>
          </p:cNvPicPr>
          <p:nvPr userDrawn="1"/>
        </p:nvPicPr>
        <p:blipFill>
          <a:blip r:embed="rId2"/>
          <a:stretch>
            <a:fillRect/>
          </a:stretch>
        </p:blipFill>
        <p:spPr>
          <a:xfrm>
            <a:off x="2117" y="9525"/>
            <a:ext cx="12192000" cy="6845300"/>
          </a:xfrm>
          <a:prstGeom prst="rect">
            <a:avLst/>
          </a:prstGeom>
          <a:noFill/>
          <a:ln w="952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90D09A-ED5D-47CC-A45F-D492BA9A6C1B}" type="slidenum">
              <a:rPr lang="en-US" altLang="zh-CN"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1.jpe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6"/>
          <a:stretch>
            <a:fillRect/>
          </a:stretch>
        </p:blipFill>
        <p:spPr>
          <a:xfrm>
            <a:off x="0" y="6350"/>
            <a:ext cx="12192000" cy="6845300"/>
          </a:xfrm>
          <a:prstGeom prst="rect">
            <a:avLst/>
          </a:prstGeom>
          <a:noFill/>
          <a:ln w="9525">
            <a:noFill/>
          </a:ln>
        </p:spPr>
      </p:pic>
      <p:sp>
        <p:nvSpPr>
          <p:cNvPr id="135170" name="Rectangle 2"/>
          <p:cNvSpPr>
            <a:spLocks noGrp="1" noChangeArrowheads="1"/>
          </p:cNvSpPr>
          <p:nvPr>
            <p:ph type="title"/>
          </p:nvPr>
        </p:nvSpPr>
        <p:spPr bwMode="auto">
          <a:xfrm>
            <a:off x="609600" y="836613"/>
            <a:ext cx="109728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p>
        </p:txBody>
      </p:sp>
      <p:sp>
        <p:nvSpPr>
          <p:cNvPr id="1028" name="Rectangle 3"/>
          <p:cNvSpPr>
            <a:spLocks noGrp="1"/>
          </p:cNvSpPr>
          <p:nvPr>
            <p:ph type="body" idx="1"/>
          </p:nvPr>
        </p:nvSpPr>
        <p:spPr>
          <a:xfrm>
            <a:off x="609600" y="1916113"/>
            <a:ext cx="10972800" cy="4525962"/>
          </a:xfrm>
          <a:prstGeom prst="rect">
            <a:avLst/>
          </a:prstGeom>
          <a:noFill/>
          <a:ln w="9525">
            <a:noFill/>
          </a:ln>
        </p:spPr>
        <p:txBody>
          <a:bodyPr/>
          <a:lstStyle/>
          <a:p>
            <a:pPr lvl="0"/>
            <a:r>
              <a:rPr lang="zh-CN" altLang="en-US" dirty="0"/>
              <a:t>第一级</a:t>
            </a:r>
            <a:r>
              <a:rPr lang="en-US" altLang="zh-CN" dirty="0"/>
              <a:t>abcd</a:t>
            </a:r>
          </a:p>
          <a:p>
            <a:pPr lvl="1"/>
            <a:r>
              <a:rPr lang="zh-CN" altLang="en-US" dirty="0"/>
              <a:t>第二级</a:t>
            </a:r>
            <a:r>
              <a:rPr lang="en-US" altLang="zh-CN" dirty="0"/>
              <a:t>adb</a:t>
            </a:r>
          </a:p>
          <a:p>
            <a:pPr lvl="2"/>
            <a:r>
              <a:rPr lang="zh-CN" altLang="en-US" dirty="0"/>
              <a:t>第三级</a:t>
            </a:r>
            <a:r>
              <a:rPr lang="en-US" altLang="zh-CN" dirty="0"/>
              <a:t>kljaskf</a:t>
            </a:r>
          </a:p>
          <a:p>
            <a:pPr lvl="3"/>
            <a:r>
              <a:rPr lang="zh-CN" altLang="en-US" dirty="0"/>
              <a:t>第四级</a:t>
            </a:r>
          </a:p>
          <a:p>
            <a:pPr lvl="4"/>
            <a:r>
              <a:rPr lang="zh-CN" altLang="en-US" dirty="0"/>
              <a:t>第五级</a:t>
            </a:r>
          </a:p>
        </p:txBody>
      </p:sp>
      <p:sp>
        <p:nvSpPr>
          <p:cNvPr id="135172"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itchFamily="2" charset="-122"/>
              </a:defRPr>
            </a:lvl1pPr>
          </a:lstStyle>
          <a:p>
            <a:pPr>
              <a:defRPr/>
            </a:pPr>
            <a:endParaRPr lang="en-US" altLang="zh-CN"/>
          </a:p>
        </p:txBody>
      </p:sp>
      <p:sp>
        <p:nvSpPr>
          <p:cNvPr id="135173"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itchFamily="2" charset="-122"/>
              </a:defRPr>
            </a:lvl1pPr>
          </a:lstStyle>
          <a:p>
            <a:pPr>
              <a:defRPr/>
            </a:pPr>
            <a:endParaRPr lang="en-US" altLang="zh-CN"/>
          </a:p>
        </p:txBody>
      </p:sp>
      <p:sp>
        <p:nvSpPr>
          <p:cNvPr id="135174"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itchFamily="2" charset="-122"/>
              </a:defRPr>
            </a:lvl1pPr>
          </a:lstStyle>
          <a:p>
            <a:pPr>
              <a:defRPr/>
            </a:pPr>
            <a:fld id="{6A90D09A-ED5D-47CC-A45F-D492BA9A6C1B}" type="slidenum">
              <a:rPr lang="en-US" altLang="zh-CN" smtClean="0"/>
              <a:t>‹#›</a:t>
            </a:fld>
            <a:endParaRPr lang="en-US" altLang="zh-CN"/>
          </a:p>
        </p:txBody>
      </p:sp>
      <p:sp>
        <p:nvSpPr>
          <p:cNvPr id="1032" name="Rectangle 17"/>
          <p:cNvSpPr>
            <a:spLocks noChangeArrowheads="1"/>
          </p:cNvSpPr>
          <p:nvPr userDrawn="1"/>
        </p:nvSpPr>
        <p:spPr bwMode="gray">
          <a:xfrm>
            <a:off x="590551" y="1668463"/>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9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9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A90D09A-ED5D-47CC-A45F-D492BA9A6C1B}" type="slidenum">
              <a:rPr lang="en-US" altLang="zh-CN" smtClean="0"/>
              <a:t>‹#›</a:t>
            </a:fld>
            <a:endParaRPr lang="en-US" altLang="zh-CN"/>
          </a:p>
        </p:txBody>
      </p:sp>
      <p:pic>
        <p:nvPicPr>
          <p:cNvPr id="7" name="图片 1"/>
          <p:cNvPicPr>
            <a:picLocks noChangeAspect="1"/>
          </p:cNvPicPr>
          <p:nvPr userDrawn="1"/>
        </p:nvPicPr>
        <p:blipFill>
          <a:blip r:embed="rId13"/>
          <a:stretch>
            <a:fillRect/>
          </a:stretch>
        </p:blipFill>
        <p:spPr>
          <a:xfrm>
            <a:off x="0" y="6350"/>
            <a:ext cx="12192000" cy="6845300"/>
          </a:xfrm>
          <a:prstGeom prst="rect">
            <a:avLst/>
          </a:prstGeom>
          <a:noFill/>
          <a:ln w="9525">
            <a:noFill/>
          </a:ln>
        </p:spPr>
      </p:pic>
      <p:sp>
        <p:nvSpPr>
          <p:cNvPr id="8" name="Rectangle 17"/>
          <p:cNvSpPr>
            <a:spLocks noChangeArrowheads="1"/>
          </p:cNvSpPr>
          <p:nvPr userDrawn="1"/>
        </p:nvSpPr>
        <p:spPr bwMode="gray">
          <a:xfrm>
            <a:off x="590551" y="1668463"/>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rcRect t="41239" b="27598"/>
          <a:stretch>
            <a:fillRect/>
          </a:stretch>
        </p:blipFill>
        <p:spPr>
          <a:xfrm>
            <a:off x="0" y="4843452"/>
            <a:ext cx="12192000" cy="2014548"/>
          </a:xfrm>
          <a:custGeom>
            <a:avLst/>
            <a:gdLst>
              <a:gd name="connsiteX0" fmla="*/ 6704242 w 9144000"/>
              <a:gd name="connsiteY0" fmla="*/ 12 h 2014548"/>
              <a:gd name="connsiteX1" fmla="*/ 9144000 w 9144000"/>
              <a:gd name="connsiteY1" fmla="*/ 108895 h 2014548"/>
              <a:gd name="connsiteX2" fmla="*/ 9144000 w 9144000"/>
              <a:gd name="connsiteY2" fmla="*/ 2014548 h 2014548"/>
              <a:gd name="connsiteX3" fmla="*/ 0 w 9144000"/>
              <a:gd name="connsiteY3" fmla="*/ 2014548 h 2014548"/>
              <a:gd name="connsiteX4" fmla="*/ 0 w 9144000"/>
              <a:gd name="connsiteY4" fmla="*/ 378136 h 2014548"/>
              <a:gd name="connsiteX5" fmla="*/ 6704242 w 9144000"/>
              <a:gd name="connsiteY5" fmla="*/ 12 h 201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2014548">
                <a:moveTo>
                  <a:pt x="6704242" y="12"/>
                </a:moveTo>
                <a:cubicBezTo>
                  <a:pt x="7362528" y="693"/>
                  <a:pt x="8143875" y="31400"/>
                  <a:pt x="9144000" y="108895"/>
                </a:cubicBezTo>
                <a:lnTo>
                  <a:pt x="9144000" y="2014548"/>
                </a:lnTo>
                <a:lnTo>
                  <a:pt x="0" y="2014548"/>
                </a:lnTo>
                <a:lnTo>
                  <a:pt x="0" y="378136"/>
                </a:lnTo>
                <a:cubicBezTo>
                  <a:pt x="3571875" y="378136"/>
                  <a:pt x="4353223" y="-2420"/>
                  <a:pt x="6704242" y="12"/>
                </a:cubicBezTo>
                <a:close/>
              </a:path>
            </a:pathLst>
          </a:cu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t="27368" b="30623"/>
          <a:stretch>
            <a:fillRect/>
          </a:stretch>
        </p:blipFill>
        <p:spPr>
          <a:xfrm>
            <a:off x="0" y="892149"/>
            <a:ext cx="12192000" cy="2356583"/>
          </a:xfrm>
          <a:custGeom>
            <a:avLst/>
            <a:gdLst>
              <a:gd name="connsiteX0" fmla="*/ 0 w 9144000"/>
              <a:gd name="connsiteY0" fmla="*/ 0 h 2716252"/>
              <a:gd name="connsiteX1" fmla="*/ 9144000 w 9144000"/>
              <a:gd name="connsiteY1" fmla="*/ 0 h 2716252"/>
              <a:gd name="connsiteX2" fmla="*/ 9144000 w 9144000"/>
              <a:gd name="connsiteY2" fmla="*/ 2206406 h 2716252"/>
              <a:gd name="connsiteX3" fmla="*/ 0 w 9144000"/>
              <a:gd name="connsiteY3" fmla="*/ 2569427 h 2716252"/>
            </a:gdLst>
            <a:ahLst/>
            <a:cxnLst>
              <a:cxn ang="0">
                <a:pos x="connsiteX0" y="connsiteY0"/>
              </a:cxn>
              <a:cxn ang="0">
                <a:pos x="connsiteX1" y="connsiteY1"/>
              </a:cxn>
              <a:cxn ang="0">
                <a:pos x="connsiteX2" y="connsiteY2"/>
              </a:cxn>
              <a:cxn ang="0">
                <a:pos x="connsiteX3" y="connsiteY3"/>
              </a:cxn>
            </a:cxnLst>
            <a:rect l="l" t="t" r="r" b="b"/>
            <a:pathLst>
              <a:path w="9144000" h="2716252">
                <a:moveTo>
                  <a:pt x="0" y="0"/>
                </a:moveTo>
                <a:lnTo>
                  <a:pt x="9144000" y="0"/>
                </a:lnTo>
                <a:lnTo>
                  <a:pt x="9144000" y="2206406"/>
                </a:lnTo>
                <a:cubicBezTo>
                  <a:pt x="4572000" y="2206406"/>
                  <a:pt x="4572000" y="3047087"/>
                  <a:pt x="0" y="2569427"/>
                </a:cubicBezTo>
                <a:close/>
              </a:path>
            </a:pathLst>
          </a:custGeom>
        </p:spPr>
      </p:pic>
      <p:sp>
        <p:nvSpPr>
          <p:cNvPr id="16" name="标题 1"/>
          <p:cNvSpPr txBox="1"/>
          <p:nvPr/>
        </p:nvSpPr>
        <p:spPr>
          <a:xfrm>
            <a:off x="9305815" y="2847664"/>
            <a:ext cx="2915816" cy="432048"/>
          </a:xfrm>
          <a:prstGeom prst="rect">
            <a:avLst/>
          </a:prstGeom>
          <a:effectLst>
            <a:outerShdw blurRad="50800" dist="38100" dir="2700000" algn="tl" rotWithShape="0">
              <a:prstClr val="black">
                <a:alpha val="40000"/>
              </a:prstClr>
            </a:outerShdw>
          </a:effectLst>
        </p:spPr>
        <p:txBody>
          <a:bodyPr anchor="b"/>
          <a:lstStyle>
            <a:lvl1pPr algn="l" defTabSz="914400" rtl="0" eaLnBrk="1" latinLnBrk="0" hangingPunct="1">
              <a:lnSpc>
                <a:spcPct val="90000"/>
              </a:lnSpc>
              <a:spcBef>
                <a:spcPct val="0"/>
              </a:spcBef>
              <a:buNone/>
              <a:defRPr sz="3600" b="1" kern="1200">
                <a:solidFill>
                  <a:schemeClr val="accent1"/>
                </a:solidFill>
                <a:latin typeface="微软雅黑" panose="020B0503020204020204" charset="-122"/>
                <a:ea typeface="微软雅黑" panose="020B0503020204020204" charset="-122"/>
                <a:cs typeface="+mj-cs"/>
              </a:defRPr>
            </a:lvl1pPr>
          </a:lstStyle>
          <a:p>
            <a:pPr algn="ctr"/>
            <a:r>
              <a:rPr lang="zh-CN" altLang="en-US" sz="2000" b="0">
                <a:solidFill>
                  <a:schemeClr val="accent1">
                    <a:lumMod val="25000"/>
                  </a:schemeClr>
                </a:solidFill>
              </a:rPr>
              <a:t>武汉光电国家研究中心</a:t>
            </a:r>
          </a:p>
        </p:txBody>
      </p:sp>
      <p:sp>
        <p:nvSpPr>
          <p:cNvPr id="6" name="标题 1"/>
          <p:cNvSpPr>
            <a:spLocks noGrp="1"/>
          </p:cNvSpPr>
          <p:nvPr>
            <p:ph type="ctrTitle"/>
          </p:nvPr>
        </p:nvSpPr>
        <p:spPr>
          <a:xfrm>
            <a:off x="1559496" y="3269990"/>
            <a:ext cx="9080679" cy="663062"/>
          </a:xfrm>
        </p:spPr>
        <p:txBody>
          <a:bodyPr>
            <a:noAutofit/>
          </a:bodyPr>
          <a:lstStyle/>
          <a:p>
            <a:pPr algn="l"/>
            <a:r>
              <a:rPr lang="zh-CN" altLang="en-US" sz="2800" b="1" dirty="0">
                <a:solidFill>
                  <a:srgbClr val="000000"/>
                </a:solidFill>
                <a:latin typeface="微软雅黑" panose="020B0503020204020204" charset="-122"/>
                <a:ea typeface="微软雅黑" panose="020B0503020204020204" charset="-122"/>
              </a:rPr>
              <a:t>基于近存储算子卸载的向量高效更新机制</a:t>
            </a:r>
            <a:endParaRPr lang="zh-CN" altLang="en-US" sz="2800" b="1" dirty="0">
              <a:solidFill>
                <a:srgbClr val="000000"/>
              </a:solidFill>
              <a:effectLst/>
              <a:latin typeface="微软雅黑" panose="020B0503020204020204" charset="-122"/>
              <a:ea typeface="微软雅黑" panose="020B0503020204020204" charset="-122"/>
            </a:endParaRPr>
          </a:p>
        </p:txBody>
      </p:sp>
      <p:sp>
        <p:nvSpPr>
          <p:cNvPr id="3" name="TextBox 2"/>
          <p:cNvSpPr txBox="1"/>
          <p:nvPr/>
        </p:nvSpPr>
        <p:spPr>
          <a:xfrm>
            <a:off x="1559496" y="4087119"/>
            <a:ext cx="8352928" cy="396583"/>
          </a:xfrm>
          <a:prstGeom prst="rect">
            <a:avLst/>
          </a:prstGeom>
          <a:noFill/>
        </p:spPr>
        <p:txBody>
          <a:bodyPr wrap="square" rtlCol="0">
            <a:spAutoFit/>
          </a:bodyPr>
          <a:lstStyle/>
          <a:p>
            <a:pPr>
              <a:lnSpc>
                <a:spcPct val="120000"/>
              </a:lnSpc>
              <a:spcBef>
                <a:spcPts val="1200"/>
              </a:spcBef>
            </a:pPr>
            <a:r>
              <a:rPr lang="zh-CN" altLang="en-US" sz="1800" dirty="0">
                <a:solidFill>
                  <a:schemeClr val="tx1"/>
                </a:solidFill>
                <a:latin typeface="微软雅黑" panose="020B0503020204020204" charset="-122"/>
                <a:ea typeface="微软雅黑" panose="020B0503020204020204" charset="-122"/>
              </a:rPr>
              <a:t>报告人：何鸿飞</a:t>
            </a:r>
            <a:endParaRPr lang="en-US" altLang="zh-CN" sz="1800" dirty="0">
              <a:solidFill>
                <a:schemeClr val="tx1"/>
              </a:solidFill>
              <a:latin typeface="微软雅黑" panose="020B0503020204020204" charset="-122"/>
              <a:ea typeface="微软雅黑" panose="020B0503020204020204" charset="-122"/>
            </a:endParaRPr>
          </a:p>
        </p:txBody>
      </p:sp>
      <p:cxnSp>
        <p:nvCxnSpPr>
          <p:cNvPr id="14" name="直接连接符 13"/>
          <p:cNvCxnSpPr/>
          <p:nvPr/>
        </p:nvCxnSpPr>
        <p:spPr>
          <a:xfrm>
            <a:off x="1629660" y="4005064"/>
            <a:ext cx="50424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id="{DB5D2768-B190-4BAC-B328-6718BD683231}"/>
              </a:ext>
            </a:extLst>
          </p:cNvPr>
          <p:cNvSpPr>
            <a:spLocks noGrp="1"/>
          </p:cNvSpPr>
          <p:nvPr>
            <p:ph type="sldNum" sz="quarter" idx="12"/>
          </p:nvPr>
        </p:nvSpPr>
        <p:spPr/>
        <p:txBody>
          <a:bodyPr/>
          <a:lstStyle/>
          <a:p>
            <a:pPr>
              <a:defRPr/>
            </a:pPr>
            <a:fld id="{6A90D09A-ED5D-47CC-A45F-D492BA9A6C1B}" type="slidenum">
              <a:rPr lang="en-US" altLang="zh-CN"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p>
        </p:txBody>
      </p:sp>
      <p:sp>
        <p:nvSpPr>
          <p:cNvPr id="10" name="文本框 9"/>
          <p:cNvSpPr txBox="1"/>
          <p:nvPr/>
        </p:nvSpPr>
        <p:spPr>
          <a:xfrm>
            <a:off x="916596" y="2204864"/>
            <a:ext cx="7915708" cy="1884618"/>
          </a:xfrm>
          <a:prstGeom prst="rect">
            <a:avLst/>
          </a:prstGeom>
          <a:noFill/>
        </p:spPr>
        <p:txBody>
          <a:bodyPr wrap="square" rtlCol="0">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01 </a:t>
            </a: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研究背景</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02 </a:t>
            </a:r>
            <a:r>
              <a:rPr kumimoji="0" lang="zh-CN" altLang="en-US"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研究现状</a:t>
            </a:r>
            <a:endPar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indent="-342900">
              <a:lnSpc>
                <a:spcPct val="150000"/>
              </a:lnSpc>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03 </a:t>
            </a:r>
            <a:r>
              <a:rPr lang="en-US" altLang="zh-CN" dirty="0">
                <a:solidFill>
                  <a:schemeClr val="tx1">
                    <a:lumMod val="50000"/>
                    <a:lumOff val="50000"/>
                  </a:schemeClr>
                </a:solidFill>
                <a:latin typeface="微软雅黑" panose="020B0503020204020204" charset="-122"/>
                <a:ea typeface="微软雅黑" panose="020B0503020204020204" charset="-122"/>
              </a:rPr>
              <a:t>Baseline</a:t>
            </a:r>
            <a:r>
              <a:rPr lang="zh-CN" altLang="en-US" dirty="0">
                <a:solidFill>
                  <a:schemeClr val="tx1">
                    <a:lumMod val="50000"/>
                    <a:lumOff val="50000"/>
                  </a:schemeClr>
                </a:solidFill>
                <a:latin typeface="微软雅黑" panose="020B0503020204020204" charset="-122"/>
                <a:ea typeface="微软雅黑" panose="020B0503020204020204" charset="-122"/>
              </a:rPr>
              <a:t>构建与瓶颈分析</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lvl="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04 </a:t>
            </a:r>
            <a:r>
              <a:rPr lang="zh-CN" altLang="en-US" dirty="0">
                <a:solidFill>
                  <a:schemeClr val="tx1">
                    <a:lumMod val="50000"/>
                    <a:lumOff val="50000"/>
                  </a:schemeClr>
                </a:solidFill>
                <a:latin typeface="微软雅黑" panose="020B0503020204020204" charset="-122"/>
                <a:ea typeface="微软雅黑" panose="020B0503020204020204" charset="-122"/>
              </a:rPr>
              <a:t>研究方案和技术路线</a:t>
            </a:r>
            <a:endParaRPr lang="en-US" altLang="zh-CN" dirty="0">
              <a:solidFill>
                <a:schemeClr val="tx1">
                  <a:lumMod val="50000"/>
                  <a:lumOff val="50000"/>
                </a:schemeClr>
              </a:solidFill>
              <a:latin typeface="微软雅黑" panose="020B0503020204020204" charset="-122"/>
              <a:ea typeface="微软雅黑" panose="020B0503020204020204" charset="-122"/>
            </a:endParaRPr>
          </a:p>
        </p:txBody>
      </p:sp>
      <p:sp>
        <p:nvSpPr>
          <p:cNvPr id="2" name="灯片编号占位符 1">
            <a:extLst>
              <a:ext uri="{FF2B5EF4-FFF2-40B4-BE49-F238E27FC236}">
                <a16:creationId xmlns:a16="http://schemas.microsoft.com/office/drawing/2014/main" id="{F425369F-56CA-471B-A600-B1FE5D83B966}"/>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2</a:t>
            </a:fld>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01</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14" name="文本框 13"/>
          <p:cNvSpPr txBox="1"/>
          <p:nvPr/>
        </p:nvSpPr>
        <p:spPr>
          <a:xfrm>
            <a:off x="1353816" y="1052736"/>
            <a:ext cx="9206680" cy="523220"/>
          </a:xfrm>
          <a:prstGeom prst="rect">
            <a:avLst/>
          </a:prstGeom>
          <a:noFill/>
        </p:spPr>
        <p:txBody>
          <a:bodyPr wrap="square">
            <a:spAutoFit/>
          </a:bodyPr>
          <a:lstStyle/>
          <a:p>
            <a:r>
              <a:rPr lang="zh-CN" altLang="en-US" sz="2800" dirty="0">
                <a:solidFill>
                  <a:schemeClr val="tx1">
                    <a:lumMod val="75000"/>
                    <a:lumOff val="25000"/>
                  </a:schemeClr>
                </a:solidFill>
              </a:rPr>
              <a:t>研究背景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向量数据正从“</a:t>
            </a:r>
            <a:r>
              <a:rPr lang="zh-CN" altLang="en-US" sz="2800" b="1" dirty="0">
                <a:solidFill>
                  <a:schemeClr val="tx1">
                    <a:lumMod val="75000"/>
                    <a:lumOff val="25000"/>
                  </a:schemeClr>
                </a:solidFill>
              </a:rPr>
              <a:t>离线检索</a:t>
            </a:r>
            <a:r>
              <a:rPr lang="zh-CN" altLang="en-US" sz="2800" dirty="0">
                <a:solidFill>
                  <a:schemeClr val="tx1">
                    <a:lumMod val="75000"/>
                    <a:lumOff val="25000"/>
                  </a:schemeClr>
                </a:solidFill>
              </a:rPr>
              <a:t>”走向“</a:t>
            </a:r>
            <a:r>
              <a:rPr lang="zh-CN" altLang="en-US" sz="2800" b="1" dirty="0">
                <a:solidFill>
                  <a:schemeClr val="tx1">
                    <a:lumMod val="75000"/>
                    <a:lumOff val="25000"/>
                  </a:schemeClr>
                </a:solidFill>
              </a:rPr>
              <a:t>持续更新</a:t>
            </a:r>
            <a:r>
              <a:rPr lang="zh-CN" altLang="en-US" sz="2800" dirty="0">
                <a:solidFill>
                  <a:schemeClr val="tx1">
                    <a:lumMod val="75000"/>
                    <a:lumOff val="25000"/>
                  </a:schemeClr>
                </a:solidFill>
              </a:rPr>
              <a:t>”</a:t>
            </a:r>
          </a:p>
        </p:txBody>
      </p:sp>
      <p:grpSp>
        <p:nvGrpSpPr>
          <p:cNvPr id="27" name="组合 26">
            <a:extLst>
              <a:ext uri="{FF2B5EF4-FFF2-40B4-BE49-F238E27FC236}">
                <a16:creationId xmlns:a16="http://schemas.microsoft.com/office/drawing/2014/main" id="{4FA6AB4D-B108-42E8-9838-D6643521E978}"/>
              </a:ext>
            </a:extLst>
          </p:cNvPr>
          <p:cNvGrpSpPr/>
          <p:nvPr/>
        </p:nvGrpSpPr>
        <p:grpSpPr>
          <a:xfrm>
            <a:off x="1019396" y="2060848"/>
            <a:ext cx="9875520" cy="1207008"/>
            <a:chOff x="799376" y="3306286"/>
            <a:chExt cx="9875520" cy="1207008"/>
          </a:xfrm>
        </p:grpSpPr>
        <p:sp>
          <p:nvSpPr>
            <p:cNvPr id="2" name="Text 8">
              <a:extLst>
                <a:ext uri="{FF2B5EF4-FFF2-40B4-BE49-F238E27FC236}">
                  <a16:creationId xmlns:a16="http://schemas.microsoft.com/office/drawing/2014/main" id="{445224A6-7EE9-A371-A31E-FD766227DDE6}"/>
                </a:ext>
              </a:extLst>
            </p:cNvPr>
            <p:cNvSpPr/>
            <p:nvPr/>
          </p:nvSpPr>
          <p:spPr>
            <a:xfrm>
              <a:off x="799376" y="3306286"/>
              <a:ext cx="2194560" cy="658368"/>
            </a:xfrm>
            <a:prstGeom prst="roundRect">
              <a:avLst/>
            </a:prstGeom>
            <a:solidFill>
              <a:schemeClr val="bg1">
                <a:lumMod val="85000"/>
              </a:schemeClr>
            </a:solidFill>
            <a:ln>
              <a:solidFill>
                <a:srgbClr val="1F6FEB">
                  <a:alpha val="0"/>
                </a:srgbClr>
              </a:solidFill>
            </a:ln>
          </p:spPr>
          <p:txBody>
            <a:bodyPr wrap="square" lIns="1016" tIns="1016" rIns="1016" bIns="1016" rtlCol="0" anchor="ctr">
              <a:normAutofit/>
            </a:bodyPr>
            <a:lstStyle/>
            <a:p>
              <a:pPr marL="0" indent="0" algn="ctr">
                <a:buNone/>
              </a:pPr>
              <a:r>
                <a:rPr lang="en-US" altLang="zh-CN" sz="1800" b="1">
                  <a:solidFill>
                    <a:schemeClr val="tx1"/>
                  </a:solidFill>
                  <a:latin typeface="Times New Roman" panose="02020603050405020304" pitchFamily="18" charset="0"/>
                  <a:cs typeface="Times New Roman" panose="02020603050405020304" pitchFamily="18" charset="0"/>
                </a:rPr>
                <a:t>AI/RAG</a:t>
              </a:r>
              <a:r>
                <a:rPr lang="zh-CN" altLang="en-US" sz="1800" b="1">
                  <a:solidFill>
                    <a:schemeClr val="tx1"/>
                  </a:solidFill>
                  <a:latin typeface="Times New Roman" panose="02020603050405020304" pitchFamily="18" charset="0"/>
                  <a:cs typeface="Times New Roman" panose="02020603050405020304" pitchFamily="18" charset="0"/>
                </a:rPr>
                <a:t>应用增长</a:t>
              </a:r>
              <a:endParaRPr lang="en-US" sz="1800" b="1">
                <a:solidFill>
                  <a:schemeClr val="tx1"/>
                </a:solidFill>
                <a:latin typeface="Times New Roman" panose="02020603050405020304" pitchFamily="18" charset="0"/>
                <a:cs typeface="Times New Roman" panose="02020603050405020304" pitchFamily="18" charset="0"/>
              </a:endParaRPr>
            </a:p>
          </p:txBody>
        </p:sp>
        <p:sp>
          <p:nvSpPr>
            <p:cNvPr id="5" name="Text 9">
              <a:extLst>
                <a:ext uri="{FF2B5EF4-FFF2-40B4-BE49-F238E27FC236}">
                  <a16:creationId xmlns:a16="http://schemas.microsoft.com/office/drawing/2014/main" id="{4923A890-E010-395F-0FAD-B3C1B752083F}"/>
                </a:ext>
              </a:extLst>
            </p:cNvPr>
            <p:cNvSpPr/>
            <p:nvPr/>
          </p:nvSpPr>
          <p:spPr>
            <a:xfrm>
              <a:off x="3359696" y="3306286"/>
              <a:ext cx="2194560" cy="658368"/>
            </a:xfrm>
            <a:prstGeom prst="roundRect">
              <a:avLst/>
            </a:prstGeom>
            <a:solidFill>
              <a:schemeClr val="bg1">
                <a:lumMod val="85000"/>
              </a:schemeClr>
            </a:solidFill>
            <a:ln>
              <a:solidFill>
                <a:srgbClr val="13C2C2">
                  <a:alpha val="0"/>
                </a:srgbClr>
              </a:solidFill>
            </a:ln>
          </p:spPr>
          <p:txBody>
            <a:bodyPr wrap="square" lIns="1016" tIns="1016" rIns="1016" bIns="1016" rtlCol="0" anchor="ctr">
              <a:normAutofit/>
            </a:bodyPr>
            <a:lstStyle/>
            <a:p>
              <a:pPr marL="0" indent="0" algn="ctr">
                <a:buNone/>
              </a:pPr>
              <a:r>
                <a:rPr lang="zh-CN" altLang="en-US" sz="1800" b="1">
                  <a:solidFill>
                    <a:schemeClr val="tx1"/>
                  </a:solidFill>
                  <a:latin typeface="Times New Roman" panose="02020603050405020304" pitchFamily="18" charset="0"/>
                  <a:cs typeface="Times New Roman" panose="02020603050405020304" pitchFamily="18" charset="0"/>
                </a:rPr>
                <a:t>向量规模增大</a:t>
              </a:r>
              <a:endParaRPr lang="en-US" sz="1800" b="1">
                <a:solidFill>
                  <a:schemeClr val="tx1"/>
                </a:solidFill>
                <a:latin typeface="Times New Roman" panose="02020603050405020304" pitchFamily="18" charset="0"/>
                <a:cs typeface="Times New Roman" panose="02020603050405020304" pitchFamily="18" charset="0"/>
              </a:endParaRPr>
            </a:p>
          </p:txBody>
        </p:sp>
        <p:sp>
          <p:nvSpPr>
            <p:cNvPr id="6" name="Text 10">
              <a:extLst>
                <a:ext uri="{FF2B5EF4-FFF2-40B4-BE49-F238E27FC236}">
                  <a16:creationId xmlns:a16="http://schemas.microsoft.com/office/drawing/2014/main" id="{7F3F4A0C-0ADA-DE3D-5AF7-202A3A7F5246}"/>
                </a:ext>
              </a:extLst>
            </p:cNvPr>
            <p:cNvSpPr/>
            <p:nvPr/>
          </p:nvSpPr>
          <p:spPr>
            <a:xfrm>
              <a:off x="5920016" y="3306286"/>
              <a:ext cx="2194560" cy="658368"/>
            </a:xfrm>
            <a:prstGeom prst="roundRect">
              <a:avLst/>
            </a:prstGeom>
            <a:solidFill>
              <a:schemeClr val="bg1">
                <a:lumMod val="85000"/>
              </a:schemeClr>
            </a:solidFill>
            <a:ln>
              <a:solidFill>
                <a:srgbClr val="F59E0B">
                  <a:alpha val="0"/>
                </a:srgbClr>
              </a:solidFill>
            </a:ln>
          </p:spPr>
          <p:txBody>
            <a:bodyPr wrap="square" lIns="1016" tIns="1016" rIns="1016" bIns="1016" rtlCol="0" anchor="ctr">
              <a:normAutofit/>
            </a:bodyPr>
            <a:lstStyle/>
            <a:p>
              <a:pPr algn="ctr"/>
              <a:r>
                <a:rPr lang="zh-CN" altLang="en-US" sz="1800" b="1">
                  <a:solidFill>
                    <a:schemeClr val="tx1"/>
                  </a:solidFill>
                  <a:latin typeface="Times New Roman" panose="02020603050405020304" pitchFamily="18" charset="0"/>
                  <a:cs typeface="Times New Roman" panose="02020603050405020304" pitchFamily="18" charset="0"/>
                </a:rPr>
                <a:t>在线更新常态化</a:t>
              </a:r>
              <a:endParaRPr lang="en-US" sz="1800" b="1">
                <a:solidFill>
                  <a:schemeClr val="tx1"/>
                </a:solidFill>
                <a:latin typeface="Times New Roman" panose="02020603050405020304" pitchFamily="18" charset="0"/>
                <a:cs typeface="Times New Roman" panose="02020603050405020304" pitchFamily="18" charset="0"/>
              </a:endParaRPr>
            </a:p>
          </p:txBody>
        </p:sp>
        <p:sp>
          <p:nvSpPr>
            <p:cNvPr id="7" name="Text 11">
              <a:extLst>
                <a:ext uri="{FF2B5EF4-FFF2-40B4-BE49-F238E27FC236}">
                  <a16:creationId xmlns:a16="http://schemas.microsoft.com/office/drawing/2014/main" id="{8EDB6A4C-E8D7-7D01-2541-1D454369C5E6}"/>
                </a:ext>
              </a:extLst>
            </p:cNvPr>
            <p:cNvSpPr/>
            <p:nvPr/>
          </p:nvSpPr>
          <p:spPr>
            <a:xfrm>
              <a:off x="8480336" y="3306286"/>
              <a:ext cx="2194560" cy="658368"/>
            </a:xfrm>
            <a:prstGeom prst="roundRect">
              <a:avLst/>
            </a:prstGeom>
            <a:solidFill>
              <a:schemeClr val="bg1">
                <a:lumMod val="85000"/>
              </a:schemeClr>
            </a:solidFill>
            <a:ln>
              <a:solidFill>
                <a:srgbClr val="EF4444">
                  <a:alpha val="0"/>
                </a:srgbClr>
              </a:solidFill>
            </a:ln>
          </p:spPr>
          <p:txBody>
            <a:bodyPr wrap="square" lIns="1016" tIns="1016" rIns="1016" bIns="1016" rtlCol="0" anchor="ctr">
              <a:normAutofit/>
            </a:bodyPr>
            <a:lstStyle/>
            <a:p>
              <a:pPr marL="0" indent="0" algn="ctr">
                <a:buNone/>
              </a:pPr>
              <a:r>
                <a:rPr lang="zh-CN" altLang="en-US" sz="1800" b="1">
                  <a:solidFill>
                    <a:schemeClr val="tx1"/>
                  </a:solidFill>
                  <a:latin typeface="Times New Roman" panose="02020603050405020304" pitchFamily="18" charset="0"/>
                  <a:cs typeface="Times New Roman" panose="02020603050405020304" pitchFamily="18" charset="0"/>
                </a:rPr>
                <a:t>存算分离瓶颈</a:t>
              </a:r>
              <a:endParaRPr lang="en-US" sz="1800" b="1">
                <a:solidFill>
                  <a:schemeClr val="tx1"/>
                </a:solidFill>
                <a:latin typeface="Times New Roman" panose="02020603050405020304" pitchFamily="18" charset="0"/>
                <a:cs typeface="Times New Roman" panose="02020603050405020304" pitchFamily="18" charset="0"/>
              </a:endParaRPr>
            </a:p>
          </p:txBody>
        </p:sp>
        <p:sp>
          <p:nvSpPr>
            <p:cNvPr id="8" name="Text 15">
              <a:extLst>
                <a:ext uri="{FF2B5EF4-FFF2-40B4-BE49-F238E27FC236}">
                  <a16:creationId xmlns:a16="http://schemas.microsoft.com/office/drawing/2014/main" id="{3D26DA3C-D112-D60E-66FB-73E9D42C9314}"/>
                </a:ext>
              </a:extLst>
            </p:cNvPr>
            <p:cNvSpPr/>
            <p:nvPr/>
          </p:nvSpPr>
          <p:spPr>
            <a:xfrm>
              <a:off x="1142276" y="4220686"/>
              <a:ext cx="1508760" cy="292608"/>
            </a:xfrm>
            <a:prstGeom prst="roundRect">
              <a:avLst/>
            </a:prstGeom>
            <a:solidFill>
              <a:srgbClr val="FFFFFF"/>
            </a:solidFill>
            <a:ln w="12700">
              <a:solidFill>
                <a:schemeClr val="tx1"/>
              </a:solidFill>
            </a:ln>
          </p:spPr>
          <p:txBody>
            <a:bodyPr wrap="square" lIns="1016" tIns="1016" rIns="1016" bIns="1016" rtlCol="0" anchor="ctr">
              <a:normAutofit/>
            </a:bodyPr>
            <a:lstStyle/>
            <a:p>
              <a:pPr marL="0" indent="0" algn="ctr">
                <a:buNone/>
              </a:pPr>
              <a:r>
                <a:rPr lang="en-US" altLang="zh-CN" sz="1400">
                  <a:solidFill>
                    <a:schemeClr val="tx1"/>
                  </a:solidFill>
                  <a:latin typeface="Times New Roman" panose="02020603050405020304" pitchFamily="18" charset="0"/>
                  <a:cs typeface="Times New Roman" panose="02020603050405020304" pitchFamily="18" charset="0"/>
                </a:rPr>
                <a:t>embedding</a:t>
              </a:r>
              <a:r>
                <a:rPr lang="zh-CN" altLang="en-US" sz="1400">
                  <a:solidFill>
                    <a:schemeClr val="tx1"/>
                  </a:solidFill>
                  <a:latin typeface="Times New Roman" panose="02020603050405020304" pitchFamily="18" charset="0"/>
                  <a:cs typeface="Times New Roman" panose="02020603050405020304" pitchFamily="18" charset="0"/>
                </a:rPr>
                <a:t>写入</a:t>
              </a:r>
              <a:endParaRPr lang="en-US" sz="1400">
                <a:solidFill>
                  <a:schemeClr val="tx1"/>
                </a:solidFill>
                <a:latin typeface="Times New Roman" panose="02020603050405020304" pitchFamily="18" charset="0"/>
                <a:cs typeface="Times New Roman" panose="02020603050405020304" pitchFamily="18" charset="0"/>
              </a:endParaRPr>
            </a:p>
          </p:txBody>
        </p:sp>
        <p:sp>
          <p:nvSpPr>
            <p:cNvPr id="9" name="Text 16">
              <a:extLst>
                <a:ext uri="{FF2B5EF4-FFF2-40B4-BE49-F238E27FC236}">
                  <a16:creationId xmlns:a16="http://schemas.microsoft.com/office/drawing/2014/main" id="{6BCEFB80-9F35-72B7-7331-E36701D3C190}"/>
                </a:ext>
              </a:extLst>
            </p:cNvPr>
            <p:cNvSpPr/>
            <p:nvPr/>
          </p:nvSpPr>
          <p:spPr>
            <a:xfrm>
              <a:off x="3702596" y="4220686"/>
              <a:ext cx="1508760" cy="292608"/>
            </a:xfrm>
            <a:prstGeom prst="roundRect">
              <a:avLst/>
            </a:prstGeom>
            <a:solidFill>
              <a:srgbClr val="FFFFFF"/>
            </a:solidFill>
            <a:ln w="12700">
              <a:solidFill>
                <a:schemeClr val="tx1"/>
              </a:solidFill>
            </a:ln>
          </p:spPr>
          <p:txBody>
            <a:bodyPr wrap="square" lIns="1016" tIns="1016" rIns="1016" bIns="1016" rtlCol="0" anchor="ctr">
              <a:normAutofit/>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ANN</a:t>
              </a:r>
              <a:r>
                <a:rPr lang="zh-CN" altLang="en-US" sz="1400" dirty="0">
                  <a:solidFill>
                    <a:schemeClr val="tx1"/>
                  </a:solidFill>
                  <a:latin typeface="Times New Roman" panose="02020603050405020304" pitchFamily="18" charset="0"/>
                  <a:cs typeface="Times New Roman" panose="02020603050405020304" pitchFamily="18" charset="0"/>
                </a:rPr>
                <a:t>索引构建</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11" name="Text 17">
              <a:extLst>
                <a:ext uri="{FF2B5EF4-FFF2-40B4-BE49-F238E27FC236}">
                  <a16:creationId xmlns:a16="http://schemas.microsoft.com/office/drawing/2014/main" id="{9A34CBAF-AF2B-9596-763A-B262D8D597D2}"/>
                </a:ext>
              </a:extLst>
            </p:cNvPr>
            <p:cNvSpPr/>
            <p:nvPr/>
          </p:nvSpPr>
          <p:spPr>
            <a:xfrm>
              <a:off x="6282328" y="4220686"/>
              <a:ext cx="1508760" cy="292608"/>
            </a:xfrm>
            <a:prstGeom prst="roundRect">
              <a:avLst/>
            </a:prstGeom>
            <a:solidFill>
              <a:srgbClr val="FFFFFF"/>
            </a:solidFill>
            <a:ln w="12700">
              <a:solidFill>
                <a:schemeClr val="tx1"/>
              </a:solidFill>
            </a:ln>
          </p:spPr>
          <p:txBody>
            <a:bodyPr wrap="square" lIns="1016" tIns="1016" rIns="1016" bIns="1016" rtlCol="0" anchor="ctr">
              <a:normAutofit/>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Top-k</a:t>
              </a:r>
              <a:r>
                <a:rPr lang="zh-CN" altLang="en-US" sz="1400" dirty="0">
                  <a:solidFill>
                    <a:schemeClr val="tx1"/>
                  </a:solidFill>
                  <a:latin typeface="Times New Roman" panose="02020603050405020304" pitchFamily="18" charset="0"/>
                  <a:cs typeface="Times New Roman" panose="02020603050405020304" pitchFamily="18" charset="0"/>
                </a:rPr>
                <a:t>查询重排</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12" name="Text 18">
              <a:extLst>
                <a:ext uri="{FF2B5EF4-FFF2-40B4-BE49-F238E27FC236}">
                  <a16:creationId xmlns:a16="http://schemas.microsoft.com/office/drawing/2014/main" id="{6F91124A-484B-1869-CABE-E0712F89FDE1}"/>
                </a:ext>
              </a:extLst>
            </p:cNvPr>
            <p:cNvSpPr/>
            <p:nvPr/>
          </p:nvSpPr>
          <p:spPr>
            <a:xfrm>
              <a:off x="8823236" y="4220686"/>
              <a:ext cx="1508760" cy="292608"/>
            </a:xfrm>
            <a:prstGeom prst="roundRect">
              <a:avLst/>
            </a:prstGeom>
            <a:solidFill>
              <a:srgbClr val="FFFFFF"/>
            </a:solidFill>
            <a:ln w="12700">
              <a:solidFill>
                <a:schemeClr val="tx1"/>
              </a:solidFill>
            </a:ln>
          </p:spPr>
          <p:txBody>
            <a:bodyPr wrap="square" lIns="1016" tIns="1016" rIns="1016" bIns="1016" rtlCol="0" anchor="ctr">
              <a:normAutofit/>
            </a:bodyPr>
            <a:lstStyle/>
            <a:p>
              <a:pPr algn="ctr"/>
              <a:r>
                <a:rPr lang="zh-CN" altLang="en-US" sz="1400">
                  <a:solidFill>
                    <a:schemeClr val="tx1"/>
                  </a:solidFill>
                  <a:latin typeface="Times New Roman" panose="02020603050405020304" pitchFamily="18" charset="0"/>
                  <a:cs typeface="Times New Roman" panose="02020603050405020304" pitchFamily="18" charset="0"/>
                </a:rPr>
                <a:t>删除</a:t>
              </a:r>
              <a:r>
                <a:rPr lang="en-US" altLang="zh-CN" sz="1400">
                  <a:solidFill>
                    <a:schemeClr val="tx1"/>
                  </a:solidFill>
                  <a:latin typeface="Times New Roman" panose="02020603050405020304" pitchFamily="18" charset="0"/>
                  <a:cs typeface="Times New Roman" panose="02020603050405020304" pitchFamily="18" charset="0"/>
                </a:rPr>
                <a:t>/</a:t>
              </a:r>
              <a:r>
                <a:rPr lang="zh-CN" altLang="en-US" sz="1400">
                  <a:solidFill>
                    <a:schemeClr val="tx1"/>
                  </a:solidFill>
                  <a:latin typeface="Times New Roman" panose="02020603050405020304" pitchFamily="18" charset="0"/>
                  <a:cs typeface="Times New Roman" panose="02020603050405020304" pitchFamily="18" charset="0"/>
                </a:rPr>
                <a:t>覆盖</a:t>
              </a:r>
              <a:r>
                <a:rPr lang="en-US" altLang="zh-CN" sz="1400">
                  <a:solidFill>
                    <a:schemeClr val="tx1"/>
                  </a:solidFill>
                  <a:latin typeface="Times New Roman" panose="02020603050405020304" pitchFamily="18" charset="0"/>
                  <a:cs typeface="Times New Roman" panose="02020603050405020304" pitchFamily="18" charset="0"/>
                </a:rPr>
                <a:t>/</a:t>
              </a:r>
              <a:r>
                <a:rPr lang="zh-CN" altLang="en-US" sz="1400">
                  <a:solidFill>
                    <a:schemeClr val="tx1"/>
                  </a:solidFill>
                  <a:latin typeface="Times New Roman" panose="02020603050405020304" pitchFamily="18" charset="0"/>
                  <a:cs typeface="Times New Roman" panose="02020603050405020304" pitchFamily="18" charset="0"/>
                </a:rPr>
                <a:t>插入</a:t>
              </a:r>
              <a:endParaRPr lang="en-US" sz="1400">
                <a:solidFill>
                  <a:schemeClr val="tx1"/>
                </a:solidFill>
                <a:latin typeface="Times New Roman" panose="02020603050405020304" pitchFamily="18" charset="0"/>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B33A832B-6A80-018D-0FBE-BBFABB403D18}"/>
                </a:ext>
              </a:extLst>
            </p:cNvPr>
            <p:cNvCxnSpPr>
              <a:stCxn id="2" idx="3"/>
              <a:endCxn id="5" idx="1"/>
            </p:cNvCxnSpPr>
            <p:nvPr/>
          </p:nvCxnSpPr>
          <p:spPr>
            <a:xfrm>
              <a:off x="2993936" y="3635470"/>
              <a:ext cx="3657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D11DD72-5BA5-5CF1-69D7-BB02B4F5EFB3}"/>
                </a:ext>
              </a:extLst>
            </p:cNvPr>
            <p:cNvCxnSpPr>
              <a:stCxn id="5" idx="3"/>
              <a:endCxn id="6" idx="1"/>
            </p:cNvCxnSpPr>
            <p:nvPr/>
          </p:nvCxnSpPr>
          <p:spPr>
            <a:xfrm>
              <a:off x="5554256" y="3635470"/>
              <a:ext cx="3657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0AD5021F-3313-6B8E-B6A9-3995A8579CA6}"/>
                </a:ext>
              </a:extLst>
            </p:cNvPr>
            <p:cNvCxnSpPr>
              <a:stCxn id="6" idx="3"/>
              <a:endCxn id="7" idx="1"/>
            </p:cNvCxnSpPr>
            <p:nvPr/>
          </p:nvCxnSpPr>
          <p:spPr>
            <a:xfrm>
              <a:off x="8114576" y="3635470"/>
              <a:ext cx="3657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5C979FF0-3F8C-4276-9750-EEDB405B4AB6}"/>
              </a:ext>
            </a:extLst>
          </p:cNvPr>
          <p:cNvGrpSpPr/>
          <p:nvPr/>
        </p:nvGrpSpPr>
        <p:grpSpPr>
          <a:xfrm>
            <a:off x="629110" y="5268516"/>
            <a:ext cx="10847289" cy="1211937"/>
            <a:chOff x="732265" y="4028411"/>
            <a:chExt cx="5042010" cy="2488312"/>
          </a:xfrm>
        </p:grpSpPr>
        <p:sp>
          <p:nvSpPr>
            <p:cNvPr id="29" name="文本框 28">
              <a:extLst>
                <a:ext uri="{FF2B5EF4-FFF2-40B4-BE49-F238E27FC236}">
                  <a16:creationId xmlns:a16="http://schemas.microsoft.com/office/drawing/2014/main" id="{93231A27-F502-B49B-5466-77B62F40F527}"/>
                </a:ext>
              </a:extLst>
            </p:cNvPr>
            <p:cNvSpPr txBox="1"/>
            <p:nvPr/>
          </p:nvSpPr>
          <p:spPr>
            <a:xfrm>
              <a:off x="732265" y="4754329"/>
              <a:ext cx="5042010" cy="1762394"/>
            </a:xfrm>
            <a:prstGeom prst="rect">
              <a:avLst/>
            </a:prstGeom>
            <a:noFill/>
          </p:spPr>
          <p:txBody>
            <a:bodyPr wrap="square">
              <a:spAutoFit/>
            </a:bodyPr>
            <a:lstStyle/>
            <a:p>
              <a:pPr>
                <a:lnSpc>
                  <a:spcPct val="150000"/>
                </a:lnSpc>
              </a:pPr>
              <a:r>
                <a:rPr lang="en-US" altLang="zh-CN" sz="1800" dirty="0">
                  <a:solidFill>
                    <a:srgbClr val="2E3033"/>
                  </a:solidFill>
                  <a:latin typeface="黑体" panose="02010609060101010101" pitchFamily="49" charset="-122"/>
                </a:rPr>
                <a:t>向量数据库不再只是“</a:t>
              </a:r>
              <a:r>
                <a:rPr lang="en-US" altLang="zh-CN" sz="1800" dirty="0">
                  <a:solidFill>
                    <a:schemeClr val="tx1"/>
                  </a:solidFill>
                  <a:latin typeface="黑体" panose="02010609060101010101" pitchFamily="49" charset="-122"/>
                </a:rPr>
                <a:t>静态建库后查询</a:t>
              </a:r>
              <a:r>
                <a:rPr lang="en-US" altLang="zh-CN" sz="1800" dirty="0">
                  <a:solidFill>
                    <a:srgbClr val="2E3033"/>
                  </a:solidFill>
                  <a:latin typeface="黑体" panose="02010609060101010101" pitchFamily="49" charset="-122"/>
                </a:rPr>
                <a:t>”，</a:t>
              </a:r>
              <a:r>
                <a:rPr lang="en-US" altLang="zh-CN" sz="1800" dirty="0">
                  <a:solidFill>
                    <a:srgbClr val="FF0000"/>
                  </a:solidFill>
                  <a:latin typeface="黑体" panose="02010609060101010101" pitchFamily="49" charset="-122"/>
                </a:rPr>
                <a:t>而是在不断写入、删除与覆盖中保持可检索</a:t>
              </a:r>
              <a:r>
                <a:rPr lang="en-US" altLang="zh-CN" sz="1800" dirty="0">
                  <a:solidFill>
                    <a:srgbClr val="2E3033"/>
                  </a:solidFill>
                  <a:latin typeface="黑体" panose="02010609060101010101" pitchFamily="49" charset="-122"/>
                </a:rPr>
                <a:t>。传统做法把原始向量拉回计算端完成图更新，再写回存储端，导致</a:t>
              </a:r>
              <a:r>
                <a:rPr lang="zh-CN" altLang="en-US" sz="1800" dirty="0">
                  <a:solidFill>
                    <a:srgbClr val="FF0000"/>
                  </a:solidFill>
                  <a:latin typeface="黑体" panose="02010609060101010101" pitchFamily="49" charset="-122"/>
                </a:rPr>
                <a:t>数据移动</a:t>
              </a:r>
              <a:r>
                <a:rPr lang="zh-CN" altLang="en-US" sz="1800" dirty="0">
                  <a:solidFill>
                    <a:schemeClr val="tx1"/>
                  </a:solidFill>
                  <a:latin typeface="黑体" panose="02010609060101010101" pitchFamily="49" charset="-122"/>
                </a:rPr>
                <a:t>开销极大</a:t>
              </a:r>
              <a:r>
                <a:rPr lang="zh-CN" altLang="en-US" sz="1800" dirty="0">
                  <a:solidFill>
                    <a:srgbClr val="2E3033"/>
                  </a:solidFill>
                  <a:latin typeface="黑体" panose="02010609060101010101" pitchFamily="49" charset="-122"/>
                </a:rPr>
                <a:t>。</a:t>
              </a:r>
            </a:p>
          </p:txBody>
        </p:sp>
        <p:sp>
          <p:nvSpPr>
            <p:cNvPr id="31" name="Text 8">
              <a:extLst>
                <a:ext uri="{FF2B5EF4-FFF2-40B4-BE49-F238E27FC236}">
                  <a16:creationId xmlns:a16="http://schemas.microsoft.com/office/drawing/2014/main" id="{D47DBD98-22BA-2CDF-3648-DDEA97E873E4}"/>
                </a:ext>
              </a:extLst>
            </p:cNvPr>
            <p:cNvSpPr/>
            <p:nvPr/>
          </p:nvSpPr>
          <p:spPr>
            <a:xfrm>
              <a:off x="2356391" y="4028411"/>
              <a:ext cx="1793758" cy="658367"/>
            </a:xfrm>
            <a:prstGeom prst="roundRect">
              <a:avLst/>
            </a:prstGeom>
            <a:noFill/>
            <a:ln>
              <a:solidFill>
                <a:schemeClr val="tx1">
                  <a:alpha val="0"/>
                </a:schemeClr>
              </a:solidFill>
            </a:ln>
          </p:spPr>
          <p:txBody>
            <a:bodyPr wrap="square" lIns="1016" tIns="1016" rIns="1016" bIns="1016" rtlCol="0" anchor="ctr">
              <a:normAutofit lnSpcReduction="10000"/>
            </a:bodyPr>
            <a:lstStyle/>
            <a:p>
              <a:pPr marL="0" indent="0" algn="ctr">
                <a:buNone/>
              </a:pPr>
              <a:r>
                <a:rPr lang="zh-CN" altLang="en-US" b="1" dirty="0">
                  <a:solidFill>
                    <a:srgbClr val="FF0000"/>
                  </a:solidFill>
                  <a:latin typeface="Times New Roman" panose="02020603050405020304" pitchFamily="18" charset="0"/>
                  <a:cs typeface="Times New Roman" panose="02020603050405020304" pitchFamily="18" charset="0"/>
                </a:rPr>
                <a:t>核心变化</a:t>
              </a:r>
              <a:endParaRPr lang="en-US" b="1" dirty="0">
                <a:solidFill>
                  <a:srgbClr val="FF0000"/>
                </a:solidFill>
                <a:latin typeface="Times New Roman" panose="02020603050405020304" pitchFamily="18" charset="0"/>
                <a:cs typeface="Times New Roman" panose="02020603050405020304" pitchFamily="18" charset="0"/>
              </a:endParaRPr>
            </a:p>
          </p:txBody>
        </p:sp>
      </p:grpSp>
      <p:sp>
        <p:nvSpPr>
          <p:cNvPr id="33" name="Rounded Rectangle 24">
            <a:extLst>
              <a:ext uri="{FF2B5EF4-FFF2-40B4-BE49-F238E27FC236}">
                <a16:creationId xmlns:a16="http://schemas.microsoft.com/office/drawing/2014/main" id="{D2306115-4BA6-44CE-894E-4B8BE886B29A}"/>
              </a:ext>
            </a:extLst>
          </p:cNvPr>
          <p:cNvSpPr/>
          <p:nvPr/>
        </p:nvSpPr>
        <p:spPr>
          <a:xfrm>
            <a:off x="1461465" y="3384262"/>
            <a:ext cx="9087986" cy="1572768"/>
          </a:xfrm>
          <a:prstGeom prst="roundRect">
            <a:avLst/>
          </a:prstGeom>
          <a:solidFill>
            <a:schemeClr val="bg2"/>
          </a:solidFill>
          <a:ln w="14604">
            <a:solidFill>
              <a:srgbClr val="ADC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6">
            <a:extLst>
              <a:ext uri="{FF2B5EF4-FFF2-40B4-BE49-F238E27FC236}">
                <a16:creationId xmlns:a16="http://schemas.microsoft.com/office/drawing/2014/main" id="{231DBCB3-C593-48E8-AFA2-BB479B91186D}"/>
              </a:ext>
            </a:extLst>
          </p:cNvPr>
          <p:cNvSpPr/>
          <p:nvPr/>
        </p:nvSpPr>
        <p:spPr>
          <a:xfrm>
            <a:off x="1772361" y="3987766"/>
            <a:ext cx="2468880" cy="457200"/>
          </a:xfrm>
          <a:prstGeom prst="roundRect">
            <a:avLst/>
          </a:prstGeom>
          <a:solidFill>
            <a:srgbClr val="FFFFFF"/>
          </a:solidFill>
          <a:ln w="14604">
            <a:solidFill>
              <a:schemeClr val="tx1"/>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r>
              <a:rPr sz="1800" dirty="0" err="1">
                <a:solidFill>
                  <a:srgbClr val="2E3033"/>
                </a:solidFill>
                <a:latin typeface="黑体" panose="02010609060101010101" pitchFamily="49" charset="-122"/>
                <a:ea typeface="黑体" panose="02010609060101010101" pitchFamily="49" charset="-122"/>
              </a:rPr>
              <a:t>数据在存储侧</a:t>
            </a:r>
            <a:endParaRPr sz="1800" dirty="0">
              <a:solidFill>
                <a:srgbClr val="2E3033"/>
              </a:solidFill>
              <a:latin typeface="黑体" panose="02010609060101010101" pitchFamily="49" charset="-122"/>
              <a:ea typeface="黑体" panose="02010609060101010101" pitchFamily="49" charset="-122"/>
            </a:endParaRPr>
          </a:p>
        </p:txBody>
      </p:sp>
      <p:sp>
        <p:nvSpPr>
          <p:cNvPr id="36" name="TextBox 27">
            <a:extLst>
              <a:ext uri="{FF2B5EF4-FFF2-40B4-BE49-F238E27FC236}">
                <a16:creationId xmlns:a16="http://schemas.microsoft.com/office/drawing/2014/main" id="{B13AD0CC-8252-4E44-9391-921A3EC08E50}"/>
              </a:ext>
            </a:extLst>
          </p:cNvPr>
          <p:cNvSpPr txBox="1"/>
          <p:nvPr/>
        </p:nvSpPr>
        <p:spPr>
          <a:xfrm>
            <a:off x="1620459" y="4490542"/>
            <a:ext cx="2808312" cy="182873"/>
          </a:xfrm>
          <a:prstGeom prst="rect">
            <a:avLst/>
          </a:prstGeom>
          <a:noFill/>
        </p:spPr>
        <p:txBody>
          <a:bodyPr wrap="square" lIns="12700" tIns="12700" rIns="12700" bIns="12700" anchor="t">
            <a:spAutoFit/>
          </a:bodyPr>
          <a:lstStyle/>
          <a:p>
            <a:pPr algn="ctr"/>
            <a:r>
              <a:rPr sz="1000" b="0" dirty="0">
                <a:solidFill>
                  <a:schemeClr val="tx1"/>
                </a:solidFill>
                <a:latin typeface="Microsoft YaHei"/>
              </a:rPr>
              <a:t>payload / adjacency / meta </a:t>
            </a:r>
            <a:r>
              <a:rPr sz="1000" b="0" dirty="0" err="1">
                <a:solidFill>
                  <a:schemeClr val="tx1"/>
                </a:solidFill>
                <a:latin typeface="Microsoft YaHei"/>
              </a:rPr>
              <a:t>分散在多个</a:t>
            </a:r>
            <a:r>
              <a:rPr sz="1000" b="0" dirty="0">
                <a:solidFill>
                  <a:schemeClr val="tx1"/>
                </a:solidFill>
                <a:latin typeface="Microsoft YaHei"/>
              </a:rPr>
              <a:t> OSD</a:t>
            </a:r>
          </a:p>
        </p:txBody>
      </p:sp>
      <p:sp>
        <p:nvSpPr>
          <p:cNvPr id="37" name="Rounded Rectangle 28">
            <a:extLst>
              <a:ext uri="{FF2B5EF4-FFF2-40B4-BE49-F238E27FC236}">
                <a16:creationId xmlns:a16="http://schemas.microsoft.com/office/drawing/2014/main" id="{E86D2FE4-F90B-43B3-8AA3-C44508EA7E3D}"/>
              </a:ext>
            </a:extLst>
          </p:cNvPr>
          <p:cNvSpPr/>
          <p:nvPr/>
        </p:nvSpPr>
        <p:spPr>
          <a:xfrm>
            <a:off x="4768238" y="3721353"/>
            <a:ext cx="2057400" cy="1002278"/>
          </a:xfrm>
          <a:prstGeom prst="roundRect">
            <a:avLst/>
          </a:prstGeom>
          <a:solidFill>
            <a:schemeClr val="bg1"/>
          </a:solidFill>
          <a:ln w="14604">
            <a:solidFill>
              <a:schemeClr val="tx1"/>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r>
              <a:rPr sz="1800" dirty="0" err="1">
                <a:solidFill>
                  <a:srgbClr val="2E3033"/>
                </a:solidFill>
                <a:latin typeface="黑体" panose="02010609060101010101" pitchFamily="49" charset="-122"/>
                <a:ea typeface="黑体" panose="02010609060101010101" pitchFamily="49" charset="-122"/>
              </a:rPr>
              <a:t>传统路径</a:t>
            </a:r>
            <a:r>
              <a:rPr sz="1800" dirty="0">
                <a:solidFill>
                  <a:srgbClr val="2E3033"/>
                </a:solidFill>
                <a:latin typeface="黑体" panose="02010609060101010101" pitchFamily="49" charset="-122"/>
                <a:ea typeface="黑体" panose="02010609060101010101" pitchFamily="49" charset="-122"/>
              </a:rPr>
              <a:t>：</a:t>
            </a:r>
          </a:p>
          <a:p>
            <a:pPr algn="ctr"/>
            <a:r>
              <a:rPr sz="1800" dirty="0" err="1">
                <a:solidFill>
                  <a:srgbClr val="2E3033"/>
                </a:solidFill>
                <a:latin typeface="黑体" panose="02010609060101010101" pitchFamily="49" charset="-122"/>
                <a:ea typeface="黑体" panose="02010609060101010101" pitchFamily="49" charset="-122"/>
              </a:rPr>
              <a:t>拉回计算</a:t>
            </a:r>
            <a:r>
              <a:rPr sz="1800" dirty="0">
                <a:solidFill>
                  <a:srgbClr val="2E3033"/>
                </a:solidFill>
                <a:latin typeface="黑体" panose="02010609060101010101" pitchFamily="49" charset="-122"/>
                <a:ea typeface="黑体" panose="02010609060101010101" pitchFamily="49" charset="-122"/>
              </a:rPr>
              <a:t> → </a:t>
            </a:r>
            <a:r>
              <a:rPr sz="1800" dirty="0" err="1">
                <a:solidFill>
                  <a:srgbClr val="2E3033"/>
                </a:solidFill>
                <a:latin typeface="黑体" panose="02010609060101010101" pitchFamily="49" charset="-122"/>
                <a:ea typeface="黑体" panose="02010609060101010101" pitchFamily="49" charset="-122"/>
              </a:rPr>
              <a:t>本地更新</a:t>
            </a:r>
            <a:r>
              <a:rPr sz="1800" dirty="0">
                <a:solidFill>
                  <a:srgbClr val="2E3033"/>
                </a:solidFill>
                <a:latin typeface="黑体" panose="02010609060101010101" pitchFamily="49" charset="-122"/>
                <a:ea typeface="黑体" panose="02010609060101010101" pitchFamily="49" charset="-122"/>
              </a:rPr>
              <a:t> → </a:t>
            </a:r>
            <a:r>
              <a:rPr sz="1800" dirty="0" err="1">
                <a:solidFill>
                  <a:srgbClr val="2E3033"/>
                </a:solidFill>
                <a:latin typeface="黑体" panose="02010609060101010101" pitchFamily="49" charset="-122"/>
                <a:ea typeface="黑体" panose="02010609060101010101" pitchFamily="49" charset="-122"/>
              </a:rPr>
              <a:t>写回存储</a:t>
            </a:r>
            <a:endParaRPr sz="1800" dirty="0">
              <a:solidFill>
                <a:srgbClr val="2E3033"/>
              </a:solidFill>
              <a:latin typeface="黑体" panose="02010609060101010101" pitchFamily="49" charset="-122"/>
              <a:ea typeface="黑体" panose="02010609060101010101" pitchFamily="49" charset="-122"/>
            </a:endParaRPr>
          </a:p>
        </p:txBody>
      </p:sp>
      <p:sp>
        <p:nvSpPr>
          <p:cNvPr id="38" name="Rounded Rectangle 29">
            <a:extLst>
              <a:ext uri="{FF2B5EF4-FFF2-40B4-BE49-F238E27FC236}">
                <a16:creationId xmlns:a16="http://schemas.microsoft.com/office/drawing/2014/main" id="{6C5774A2-3BEA-44B8-9F7E-3086DBA4D9E8}"/>
              </a:ext>
            </a:extLst>
          </p:cNvPr>
          <p:cNvSpPr/>
          <p:nvPr/>
        </p:nvSpPr>
        <p:spPr>
          <a:xfrm>
            <a:off x="7350201" y="3987766"/>
            <a:ext cx="2724912" cy="457200"/>
          </a:xfrm>
          <a:prstGeom prst="roundRect">
            <a:avLst/>
          </a:prstGeom>
          <a:solidFill>
            <a:srgbClr val="FFFFFF"/>
          </a:solidFill>
          <a:ln w="14604">
            <a:solidFill>
              <a:schemeClr val="tx1"/>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r>
              <a:rPr sz="1800" dirty="0" err="1">
                <a:solidFill>
                  <a:srgbClr val="2E3033"/>
                </a:solidFill>
                <a:latin typeface="黑体" panose="02010609060101010101" pitchFamily="49" charset="-122"/>
                <a:ea typeface="黑体" panose="02010609060101010101" pitchFamily="49" charset="-122"/>
              </a:rPr>
              <a:t>更新逻辑在计算侧</a:t>
            </a:r>
            <a:endParaRPr sz="1800" dirty="0">
              <a:solidFill>
                <a:srgbClr val="2E3033"/>
              </a:solidFill>
              <a:latin typeface="黑体" panose="02010609060101010101" pitchFamily="49" charset="-122"/>
              <a:ea typeface="黑体" panose="02010609060101010101" pitchFamily="49" charset="-122"/>
            </a:endParaRPr>
          </a:p>
        </p:txBody>
      </p:sp>
      <p:sp>
        <p:nvSpPr>
          <p:cNvPr id="39" name="TextBox 30">
            <a:extLst>
              <a:ext uri="{FF2B5EF4-FFF2-40B4-BE49-F238E27FC236}">
                <a16:creationId xmlns:a16="http://schemas.microsoft.com/office/drawing/2014/main" id="{8B2FFB38-E40C-48B6-A9EE-16759A27087A}"/>
              </a:ext>
            </a:extLst>
          </p:cNvPr>
          <p:cNvSpPr txBox="1"/>
          <p:nvPr/>
        </p:nvSpPr>
        <p:spPr>
          <a:xfrm>
            <a:off x="7386777" y="4490542"/>
            <a:ext cx="2688336" cy="182880"/>
          </a:xfrm>
          <a:prstGeom prst="rect">
            <a:avLst/>
          </a:prstGeom>
          <a:noFill/>
        </p:spPr>
        <p:txBody>
          <a:bodyPr wrap="square" lIns="12700" tIns="12700" rIns="12700" bIns="12700" anchor="t">
            <a:spAutoFit/>
          </a:bodyPr>
          <a:lstStyle/>
          <a:p>
            <a:pPr algn="ctr"/>
            <a:r>
              <a:rPr sz="1000" b="0" dirty="0">
                <a:solidFill>
                  <a:schemeClr val="tx1"/>
                </a:solidFill>
                <a:latin typeface="Microsoft YaHei"/>
              </a:rPr>
              <a:t>HNSW </a:t>
            </a:r>
            <a:r>
              <a:rPr sz="1000" b="0" dirty="0" err="1">
                <a:solidFill>
                  <a:schemeClr val="tx1"/>
                </a:solidFill>
                <a:latin typeface="Microsoft YaHei"/>
              </a:rPr>
              <a:t>搜索控制、算距、选邻居、生成</a:t>
            </a:r>
            <a:r>
              <a:rPr sz="1000" b="0" dirty="0">
                <a:solidFill>
                  <a:schemeClr val="tx1"/>
                </a:solidFill>
                <a:latin typeface="Microsoft YaHei"/>
              </a:rPr>
              <a:t> patch</a:t>
            </a:r>
          </a:p>
        </p:txBody>
      </p:sp>
      <p:cxnSp>
        <p:nvCxnSpPr>
          <p:cNvPr id="40" name="Connector 31">
            <a:extLst>
              <a:ext uri="{FF2B5EF4-FFF2-40B4-BE49-F238E27FC236}">
                <a16:creationId xmlns:a16="http://schemas.microsoft.com/office/drawing/2014/main" id="{4D461485-17FB-45CB-AEC9-E83AC5E68CA6}"/>
              </a:ext>
            </a:extLst>
          </p:cNvPr>
          <p:cNvCxnSpPr>
            <a:cxnSpLocks/>
          </p:cNvCxnSpPr>
          <p:nvPr/>
        </p:nvCxnSpPr>
        <p:spPr>
          <a:xfrm>
            <a:off x="4241241" y="4216366"/>
            <a:ext cx="525780" cy="0"/>
          </a:xfrm>
          <a:prstGeom prst="line">
            <a:avLst/>
          </a:prstGeom>
          <a:ln w="2032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Connector 32">
            <a:extLst>
              <a:ext uri="{FF2B5EF4-FFF2-40B4-BE49-F238E27FC236}">
                <a16:creationId xmlns:a16="http://schemas.microsoft.com/office/drawing/2014/main" id="{1FCE281E-B7AC-45BD-86F3-4FB7964BDD21}"/>
              </a:ext>
            </a:extLst>
          </p:cNvPr>
          <p:cNvCxnSpPr>
            <a:cxnSpLocks/>
            <a:stCxn id="37" idx="3"/>
          </p:cNvCxnSpPr>
          <p:nvPr/>
        </p:nvCxnSpPr>
        <p:spPr>
          <a:xfrm flipV="1">
            <a:off x="6825638" y="4216366"/>
            <a:ext cx="524563" cy="6126"/>
          </a:xfrm>
          <a:prstGeom prst="line">
            <a:avLst/>
          </a:prstGeom>
          <a:ln w="20320">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23EB8675-D16D-4870-AFA5-0D82EBDD35BB}"/>
              </a:ext>
            </a:extLst>
          </p:cNvPr>
          <p:cNvSpPr txBox="1"/>
          <p:nvPr/>
        </p:nvSpPr>
        <p:spPr>
          <a:xfrm>
            <a:off x="5284759" y="3405996"/>
            <a:ext cx="1952557" cy="338554"/>
          </a:xfrm>
          <a:prstGeom prst="rect">
            <a:avLst/>
          </a:prstGeom>
          <a:noFill/>
        </p:spPr>
        <p:txBody>
          <a:bodyPr wrap="square" rtlCol="0">
            <a:spAutoFit/>
          </a:bodyPr>
          <a:lstStyle/>
          <a:p>
            <a:r>
              <a:rPr lang="zh-CN" altLang="en-US" sz="1600" dirty="0">
                <a:solidFill>
                  <a:schemeClr val="tx1"/>
                </a:solidFill>
              </a:rPr>
              <a:t>分布式场景</a:t>
            </a:r>
          </a:p>
        </p:txBody>
      </p:sp>
      <p:sp>
        <p:nvSpPr>
          <p:cNvPr id="30" name="灯片编号占位符 1">
            <a:extLst>
              <a:ext uri="{FF2B5EF4-FFF2-40B4-BE49-F238E27FC236}">
                <a16:creationId xmlns:a16="http://schemas.microsoft.com/office/drawing/2014/main" id="{18AD6141-47C3-43A6-A7A5-CBFF4BDA50A2}"/>
              </a:ext>
            </a:extLst>
          </p:cNvPr>
          <p:cNvSpPr>
            <a:spLocks noGrp="1"/>
          </p:cNvSpPr>
          <p:nvPr>
            <p:ph type="sldNum" sz="quarter" idx="12"/>
          </p:nvPr>
        </p:nvSpPr>
        <p:spPr>
          <a:xfrm>
            <a:off x="9336360" y="6418230"/>
            <a:ext cx="2743200" cy="365125"/>
          </a:xfrm>
        </p:spPr>
        <p:txBody>
          <a:bodyPr/>
          <a:lstStyle/>
          <a:p>
            <a:pPr>
              <a:defRPr/>
            </a:pPr>
            <a:fld id="{6A90D09A-ED5D-47CC-A45F-D492BA9A6C1B}" type="slidenum">
              <a:rPr lang="en-US" altLang="zh-CN" smtClean="0"/>
              <a:t>3</a:t>
            </a:fld>
            <a:endParaRPr lang="en-US" altLang="zh-CN" dirty="0"/>
          </a:p>
        </p:txBody>
      </p:sp>
      <p:sp>
        <p:nvSpPr>
          <p:cNvPr id="22" name="矩形 21">
            <a:extLst>
              <a:ext uri="{FF2B5EF4-FFF2-40B4-BE49-F238E27FC236}">
                <a16:creationId xmlns:a16="http://schemas.microsoft.com/office/drawing/2014/main" id="{2D4B5C4F-FF27-4594-BC48-BC9A312287E5}"/>
              </a:ext>
            </a:extLst>
          </p:cNvPr>
          <p:cNvSpPr/>
          <p:nvPr/>
        </p:nvSpPr>
        <p:spPr>
          <a:xfrm>
            <a:off x="551384" y="5185629"/>
            <a:ext cx="10925017" cy="14496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a:extLst>
              <a:ext uri="{FF2B5EF4-FFF2-40B4-BE49-F238E27FC236}">
                <a16:creationId xmlns:a16="http://schemas.microsoft.com/office/drawing/2014/main" id="{A321481A-B78F-4094-9858-1684EEF35DE9}"/>
              </a:ext>
            </a:extLst>
          </p:cNvPr>
          <p:cNvSpPr/>
          <p:nvPr/>
        </p:nvSpPr>
        <p:spPr>
          <a:xfrm>
            <a:off x="6634174" y="1846370"/>
            <a:ext cx="4567226" cy="40324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300BC06-1540-4A54-B16F-CD808BA52E95}"/>
              </a:ext>
            </a:extLst>
          </p:cNvPr>
          <p:cNvSpPr/>
          <p:nvPr/>
        </p:nvSpPr>
        <p:spPr>
          <a:xfrm>
            <a:off x="507496" y="1844824"/>
            <a:ext cx="5803748" cy="40324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1508760" y="1024128"/>
            <a:ext cx="9692640" cy="523220"/>
          </a:xfrm>
          <a:prstGeom prst="rect">
            <a:avLst/>
          </a:prstGeom>
          <a:noFill/>
        </p:spPr>
        <p:txBody>
          <a:bodyPr wrap="square" lIns="38100" tIns="38100" rIns="38100" bIns="38100" anchor="ctr">
            <a:spAutoFit/>
          </a:bodyPr>
          <a:lstStyle/>
          <a:p>
            <a:pPr algn="l">
              <a:defRPr sz="2600" b="0">
                <a:solidFill>
                  <a:srgbClr val="414141"/>
                </a:solidFill>
                <a:latin typeface="Microsoft YaHei"/>
              </a:defRPr>
            </a:pPr>
            <a:r>
              <a:rPr sz="2600" b="0" dirty="0" err="1">
                <a:solidFill>
                  <a:srgbClr val="2C3E50"/>
                </a:solidFill>
                <a:latin typeface="Microsoft YaHei"/>
              </a:rPr>
              <a:t>研究背景</a:t>
            </a:r>
            <a:r>
              <a:rPr sz="2600" b="0" dirty="0">
                <a:solidFill>
                  <a:srgbClr val="2C3E50"/>
                </a:solidFill>
                <a:latin typeface="Microsoft YaHei"/>
              </a:rPr>
              <a:t> – </a:t>
            </a:r>
            <a:r>
              <a:rPr sz="2600" b="0" dirty="0" err="1">
                <a:solidFill>
                  <a:srgbClr val="2C3E50"/>
                </a:solidFill>
                <a:latin typeface="Microsoft YaHei"/>
              </a:rPr>
              <a:t>传统分布式向量更新中的数据移动开销</a:t>
            </a:r>
            <a:endParaRPr sz="2800" dirty="0">
              <a:solidFill>
                <a:schemeClr val="tx1">
                  <a:lumMod val="75000"/>
                  <a:lumOff val="25000"/>
                </a:schemeClr>
              </a:solidFill>
            </a:endParaRPr>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标题 3">
            <a:extLst>
              <a:ext uri="{FF2B5EF4-FFF2-40B4-BE49-F238E27FC236}">
                <a16:creationId xmlns:a16="http://schemas.microsoft.com/office/drawing/2014/main" id="{6CBF073E-E754-4789-8E45-CC4618B0525E}"/>
              </a:ext>
            </a:extLst>
          </p:cNvPr>
          <p:cNvSpPr txBox="1">
            <a:spLocks/>
          </p:cNvSpPr>
          <p:nvPr/>
        </p:nvSpPr>
        <p:spPr>
          <a:xfrm>
            <a:off x="551384" y="980728"/>
            <a:ext cx="730424" cy="555464"/>
          </a:xfrm>
          <a:prstGeom prst="rect">
            <a:avLst/>
          </a:prstGeom>
          <a:solidFill>
            <a:srgbClr val="1588C7"/>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pPr>
            <a:r>
              <a:rPr lang="en-US" altLang="zh-CN" sz="3200" b="1" dirty="0">
                <a:solidFill>
                  <a:schemeClr val="bg1"/>
                </a:solidFill>
                <a:latin typeface="微软雅黑" panose="020B0503020204020204" charset="-122"/>
                <a:ea typeface="微软雅黑" panose="020B0503020204020204" charset="-122"/>
              </a:rPr>
              <a:t>01</a:t>
            </a:r>
            <a:endParaRPr lang="zh-CN" altLang="en-US" sz="3200" b="1" dirty="0">
              <a:solidFill>
                <a:schemeClr val="bg1"/>
              </a:solidFill>
              <a:latin typeface="微软雅黑" panose="020B0503020204020204" charset="-122"/>
              <a:ea typeface="微软雅黑" panose="020B0503020204020204" charset="-122"/>
            </a:endParaRPr>
          </a:p>
        </p:txBody>
      </p:sp>
      <p:grpSp>
        <p:nvGrpSpPr>
          <p:cNvPr id="30" name="组合 29">
            <a:extLst>
              <a:ext uri="{FF2B5EF4-FFF2-40B4-BE49-F238E27FC236}">
                <a16:creationId xmlns:a16="http://schemas.microsoft.com/office/drawing/2014/main" id="{CBEF076E-DA6F-4103-A7F1-CC7A29E44820}"/>
              </a:ext>
            </a:extLst>
          </p:cNvPr>
          <p:cNvGrpSpPr/>
          <p:nvPr/>
        </p:nvGrpSpPr>
        <p:grpSpPr>
          <a:xfrm>
            <a:off x="7006188" y="1933015"/>
            <a:ext cx="3794760" cy="3511297"/>
            <a:chOff x="822960" y="2084831"/>
            <a:chExt cx="3794760" cy="3511297"/>
          </a:xfrm>
        </p:grpSpPr>
        <p:sp>
          <p:nvSpPr>
            <p:cNvPr id="32" name="TextBox 5">
              <a:extLst>
                <a:ext uri="{FF2B5EF4-FFF2-40B4-BE49-F238E27FC236}">
                  <a16:creationId xmlns:a16="http://schemas.microsoft.com/office/drawing/2014/main" id="{EB9FED63-2B92-4BCD-9011-A015F6542903}"/>
                </a:ext>
              </a:extLst>
            </p:cNvPr>
            <p:cNvSpPr txBox="1"/>
            <p:nvPr/>
          </p:nvSpPr>
          <p:spPr>
            <a:xfrm>
              <a:off x="896112" y="2084831"/>
              <a:ext cx="3657600" cy="264688"/>
            </a:xfrm>
            <a:prstGeom prst="rect">
              <a:avLst/>
            </a:prstGeom>
            <a:noFill/>
          </p:spPr>
          <p:txBody>
            <a:bodyPr wrap="square" lIns="27432" tIns="9144" rIns="27432" bIns="9144">
              <a:spAutoFit/>
            </a:bodyPr>
            <a:lstStyle/>
            <a:p>
              <a:pPr algn="ctr">
                <a:defRPr sz="1720" b="1">
                  <a:solidFill>
                    <a:srgbClr val="0C2A55"/>
                  </a:solidFill>
                  <a:latin typeface="Microsoft YaHei"/>
                </a:defRPr>
              </a:pPr>
              <a:r>
                <a:rPr sz="1600" dirty="0" err="1">
                  <a:solidFill>
                    <a:schemeClr val="tx1"/>
                  </a:solidFill>
                  <a:latin typeface="黑体" panose="02010609060101010101" pitchFamily="49" charset="-122"/>
                </a:rPr>
                <a:t>实验对象</a:t>
              </a:r>
              <a:endParaRPr sz="1600" dirty="0">
                <a:solidFill>
                  <a:schemeClr val="tx1"/>
                </a:solidFill>
                <a:latin typeface="黑体" panose="02010609060101010101" pitchFamily="49" charset="-122"/>
              </a:endParaRPr>
            </a:p>
          </p:txBody>
        </p:sp>
        <p:sp>
          <p:nvSpPr>
            <p:cNvPr id="33" name="Rectangle 6">
              <a:extLst>
                <a:ext uri="{FF2B5EF4-FFF2-40B4-BE49-F238E27FC236}">
                  <a16:creationId xmlns:a16="http://schemas.microsoft.com/office/drawing/2014/main" id="{A9C738C9-E7F2-4D46-BCDB-B25E9908A524}"/>
                </a:ext>
              </a:extLst>
            </p:cNvPr>
            <p:cNvSpPr/>
            <p:nvPr/>
          </p:nvSpPr>
          <p:spPr>
            <a:xfrm>
              <a:off x="822960" y="2542032"/>
              <a:ext cx="1143000" cy="374904"/>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019" b="1">
                  <a:solidFill>
                    <a:srgbClr val="FFFFFF"/>
                  </a:solidFill>
                  <a:latin typeface="Microsoft YaHei"/>
                </a:defRPr>
              </a:pPr>
              <a:r>
                <a:t>数据集</a:t>
              </a:r>
            </a:p>
          </p:txBody>
        </p:sp>
        <p:sp>
          <p:nvSpPr>
            <p:cNvPr id="34" name="Rectangle 7">
              <a:extLst>
                <a:ext uri="{FF2B5EF4-FFF2-40B4-BE49-F238E27FC236}">
                  <a16:creationId xmlns:a16="http://schemas.microsoft.com/office/drawing/2014/main" id="{F005E1C7-0E23-44A0-A5C3-E7679D4EBB6C}"/>
                </a:ext>
              </a:extLst>
            </p:cNvPr>
            <p:cNvSpPr/>
            <p:nvPr/>
          </p:nvSpPr>
          <p:spPr>
            <a:xfrm>
              <a:off x="1965960" y="2542032"/>
              <a:ext cx="658368" cy="374904"/>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019" b="1">
                  <a:solidFill>
                    <a:srgbClr val="FFFFFF"/>
                  </a:solidFill>
                  <a:latin typeface="Microsoft YaHei"/>
                </a:defRPr>
              </a:pPr>
              <a:r>
                <a:t>规模</a:t>
              </a:r>
            </a:p>
          </p:txBody>
        </p:sp>
        <p:sp>
          <p:nvSpPr>
            <p:cNvPr id="35" name="Rectangle 8">
              <a:extLst>
                <a:ext uri="{FF2B5EF4-FFF2-40B4-BE49-F238E27FC236}">
                  <a16:creationId xmlns:a16="http://schemas.microsoft.com/office/drawing/2014/main" id="{BF3F2863-98E8-49B9-B068-88212413A0E0}"/>
                </a:ext>
              </a:extLst>
            </p:cNvPr>
            <p:cNvSpPr/>
            <p:nvPr/>
          </p:nvSpPr>
          <p:spPr>
            <a:xfrm>
              <a:off x="2624328" y="2542032"/>
              <a:ext cx="640080" cy="374904"/>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019" b="1">
                  <a:solidFill>
                    <a:srgbClr val="FFFFFF"/>
                  </a:solidFill>
                  <a:latin typeface="Microsoft YaHei"/>
                </a:defRPr>
              </a:pPr>
              <a:r>
                <a:t>维度</a:t>
              </a:r>
            </a:p>
          </p:txBody>
        </p:sp>
        <p:sp>
          <p:nvSpPr>
            <p:cNvPr id="36" name="Rectangle 9">
              <a:extLst>
                <a:ext uri="{FF2B5EF4-FFF2-40B4-BE49-F238E27FC236}">
                  <a16:creationId xmlns:a16="http://schemas.microsoft.com/office/drawing/2014/main" id="{68CBDBAF-7624-4A02-BF03-0AC46A931847}"/>
                </a:ext>
              </a:extLst>
            </p:cNvPr>
            <p:cNvSpPr/>
            <p:nvPr/>
          </p:nvSpPr>
          <p:spPr>
            <a:xfrm>
              <a:off x="3264408" y="2542032"/>
              <a:ext cx="658368" cy="374904"/>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019" b="1">
                  <a:solidFill>
                    <a:srgbClr val="FFFFFF"/>
                  </a:solidFill>
                  <a:latin typeface="Microsoft YaHei"/>
                </a:defRPr>
              </a:pPr>
              <a:r>
                <a:t>类型</a:t>
              </a:r>
            </a:p>
          </p:txBody>
        </p:sp>
        <p:sp>
          <p:nvSpPr>
            <p:cNvPr id="37" name="Rectangle 10">
              <a:extLst>
                <a:ext uri="{FF2B5EF4-FFF2-40B4-BE49-F238E27FC236}">
                  <a16:creationId xmlns:a16="http://schemas.microsoft.com/office/drawing/2014/main" id="{C347E660-69C8-43C3-AE62-BD17104676D0}"/>
                </a:ext>
              </a:extLst>
            </p:cNvPr>
            <p:cNvSpPr/>
            <p:nvPr/>
          </p:nvSpPr>
          <p:spPr>
            <a:xfrm>
              <a:off x="3922776" y="2542032"/>
              <a:ext cx="694944" cy="374904"/>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019" b="1">
                  <a:solidFill>
                    <a:srgbClr val="FFFFFF"/>
                  </a:solidFill>
                  <a:latin typeface="Microsoft YaHei"/>
                </a:defRPr>
              </a:pPr>
              <a:r>
                <a:t>距离</a:t>
              </a:r>
            </a:p>
          </p:txBody>
        </p:sp>
        <p:sp>
          <p:nvSpPr>
            <p:cNvPr id="38" name="Rectangle 11">
              <a:extLst>
                <a:ext uri="{FF2B5EF4-FFF2-40B4-BE49-F238E27FC236}">
                  <a16:creationId xmlns:a16="http://schemas.microsoft.com/office/drawing/2014/main" id="{78E70C81-238D-483B-BD76-7C0F273BAD65}"/>
                </a:ext>
              </a:extLst>
            </p:cNvPr>
            <p:cNvSpPr/>
            <p:nvPr/>
          </p:nvSpPr>
          <p:spPr>
            <a:xfrm>
              <a:off x="822960" y="2916936"/>
              <a:ext cx="1143000"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GIST1M</a:t>
              </a:r>
            </a:p>
          </p:txBody>
        </p:sp>
        <p:sp>
          <p:nvSpPr>
            <p:cNvPr id="39" name="Rectangle 12">
              <a:extLst>
                <a:ext uri="{FF2B5EF4-FFF2-40B4-BE49-F238E27FC236}">
                  <a16:creationId xmlns:a16="http://schemas.microsoft.com/office/drawing/2014/main" id="{0D9B97B0-2F46-429A-8096-26500F401FD6}"/>
                </a:ext>
              </a:extLst>
            </p:cNvPr>
            <p:cNvSpPr/>
            <p:nvPr/>
          </p:nvSpPr>
          <p:spPr>
            <a:xfrm>
              <a:off x="1965960" y="2916936"/>
              <a:ext cx="658368"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1M</a:t>
              </a:r>
            </a:p>
          </p:txBody>
        </p:sp>
        <p:sp>
          <p:nvSpPr>
            <p:cNvPr id="40" name="Rectangle 13">
              <a:extLst>
                <a:ext uri="{FF2B5EF4-FFF2-40B4-BE49-F238E27FC236}">
                  <a16:creationId xmlns:a16="http://schemas.microsoft.com/office/drawing/2014/main" id="{541B3997-832C-4FAF-B477-C22377AE86B2}"/>
                </a:ext>
              </a:extLst>
            </p:cNvPr>
            <p:cNvSpPr/>
            <p:nvPr/>
          </p:nvSpPr>
          <p:spPr>
            <a:xfrm>
              <a:off x="2624328" y="2916936"/>
              <a:ext cx="640080"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960</a:t>
              </a:r>
            </a:p>
          </p:txBody>
        </p:sp>
        <p:sp>
          <p:nvSpPr>
            <p:cNvPr id="41" name="Rectangle 14">
              <a:extLst>
                <a:ext uri="{FF2B5EF4-FFF2-40B4-BE49-F238E27FC236}">
                  <a16:creationId xmlns:a16="http://schemas.microsoft.com/office/drawing/2014/main" id="{1257A7CD-EA21-45D2-9901-A05DAFD64DBC}"/>
                </a:ext>
              </a:extLst>
            </p:cNvPr>
            <p:cNvSpPr/>
            <p:nvPr/>
          </p:nvSpPr>
          <p:spPr>
            <a:xfrm>
              <a:off x="3264408" y="2916936"/>
              <a:ext cx="658368"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f32</a:t>
              </a:r>
            </a:p>
          </p:txBody>
        </p:sp>
        <p:sp>
          <p:nvSpPr>
            <p:cNvPr id="42" name="Rectangle 15">
              <a:extLst>
                <a:ext uri="{FF2B5EF4-FFF2-40B4-BE49-F238E27FC236}">
                  <a16:creationId xmlns:a16="http://schemas.microsoft.com/office/drawing/2014/main" id="{BBB7C56F-DEEE-41D0-B2D6-48E4F89D950C}"/>
                </a:ext>
              </a:extLst>
            </p:cNvPr>
            <p:cNvSpPr/>
            <p:nvPr/>
          </p:nvSpPr>
          <p:spPr>
            <a:xfrm>
              <a:off x="3922776" y="2916936"/>
              <a:ext cx="694944"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L2</a:t>
              </a:r>
            </a:p>
          </p:txBody>
        </p:sp>
        <p:sp>
          <p:nvSpPr>
            <p:cNvPr id="43" name="Rectangle 16">
              <a:extLst>
                <a:ext uri="{FF2B5EF4-FFF2-40B4-BE49-F238E27FC236}">
                  <a16:creationId xmlns:a16="http://schemas.microsoft.com/office/drawing/2014/main" id="{A9384141-D63F-4E4B-94F9-7685DA34F059}"/>
                </a:ext>
              </a:extLst>
            </p:cNvPr>
            <p:cNvSpPr/>
            <p:nvPr/>
          </p:nvSpPr>
          <p:spPr>
            <a:xfrm>
              <a:off x="822960" y="3291839"/>
              <a:ext cx="1143000"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rPr dirty="0"/>
                <a:t>Text-to-Image10M</a:t>
              </a:r>
            </a:p>
          </p:txBody>
        </p:sp>
        <p:sp>
          <p:nvSpPr>
            <p:cNvPr id="44" name="Rectangle 17">
              <a:extLst>
                <a:ext uri="{FF2B5EF4-FFF2-40B4-BE49-F238E27FC236}">
                  <a16:creationId xmlns:a16="http://schemas.microsoft.com/office/drawing/2014/main" id="{514FB6F9-CF71-4354-A961-F86739C13ADA}"/>
                </a:ext>
              </a:extLst>
            </p:cNvPr>
            <p:cNvSpPr/>
            <p:nvPr/>
          </p:nvSpPr>
          <p:spPr>
            <a:xfrm>
              <a:off x="1965960" y="3291839"/>
              <a:ext cx="658368"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10M</a:t>
              </a:r>
            </a:p>
          </p:txBody>
        </p:sp>
        <p:sp>
          <p:nvSpPr>
            <p:cNvPr id="45" name="Rectangle 18">
              <a:extLst>
                <a:ext uri="{FF2B5EF4-FFF2-40B4-BE49-F238E27FC236}">
                  <a16:creationId xmlns:a16="http://schemas.microsoft.com/office/drawing/2014/main" id="{19A038BC-3073-4F0F-89EE-842E4D2DB784}"/>
                </a:ext>
              </a:extLst>
            </p:cNvPr>
            <p:cNvSpPr/>
            <p:nvPr/>
          </p:nvSpPr>
          <p:spPr>
            <a:xfrm>
              <a:off x="2624328" y="3291839"/>
              <a:ext cx="640080"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200</a:t>
              </a:r>
            </a:p>
          </p:txBody>
        </p:sp>
        <p:sp>
          <p:nvSpPr>
            <p:cNvPr id="46" name="Rectangle 19">
              <a:extLst>
                <a:ext uri="{FF2B5EF4-FFF2-40B4-BE49-F238E27FC236}">
                  <a16:creationId xmlns:a16="http://schemas.microsoft.com/office/drawing/2014/main" id="{4979D70E-3A91-4655-A32D-C2483E50BAA9}"/>
                </a:ext>
              </a:extLst>
            </p:cNvPr>
            <p:cNvSpPr/>
            <p:nvPr/>
          </p:nvSpPr>
          <p:spPr>
            <a:xfrm>
              <a:off x="3264408" y="3291839"/>
              <a:ext cx="658368"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f32</a:t>
              </a:r>
            </a:p>
          </p:txBody>
        </p:sp>
        <p:sp>
          <p:nvSpPr>
            <p:cNvPr id="47" name="Rectangle 20">
              <a:extLst>
                <a:ext uri="{FF2B5EF4-FFF2-40B4-BE49-F238E27FC236}">
                  <a16:creationId xmlns:a16="http://schemas.microsoft.com/office/drawing/2014/main" id="{1AD9E596-CAD0-4130-B520-4812A86ABAFE}"/>
                </a:ext>
              </a:extLst>
            </p:cNvPr>
            <p:cNvSpPr/>
            <p:nvPr/>
          </p:nvSpPr>
          <p:spPr>
            <a:xfrm>
              <a:off x="3922776" y="3291839"/>
              <a:ext cx="694944"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IP</a:t>
              </a:r>
            </a:p>
          </p:txBody>
        </p:sp>
        <p:sp>
          <p:nvSpPr>
            <p:cNvPr id="48" name="Rectangle 21">
              <a:extLst>
                <a:ext uri="{FF2B5EF4-FFF2-40B4-BE49-F238E27FC236}">
                  <a16:creationId xmlns:a16="http://schemas.microsoft.com/office/drawing/2014/main" id="{298A7813-BA47-42D0-A59F-84F87865A49F}"/>
                </a:ext>
              </a:extLst>
            </p:cNvPr>
            <p:cNvSpPr/>
            <p:nvPr/>
          </p:nvSpPr>
          <p:spPr>
            <a:xfrm>
              <a:off x="822960" y="3666744"/>
              <a:ext cx="1143000"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Deep100M</a:t>
              </a:r>
            </a:p>
          </p:txBody>
        </p:sp>
        <p:sp>
          <p:nvSpPr>
            <p:cNvPr id="49" name="Rectangle 22">
              <a:extLst>
                <a:ext uri="{FF2B5EF4-FFF2-40B4-BE49-F238E27FC236}">
                  <a16:creationId xmlns:a16="http://schemas.microsoft.com/office/drawing/2014/main" id="{BBF1342C-14C8-467F-9B0A-2D89FEFF89A7}"/>
                </a:ext>
              </a:extLst>
            </p:cNvPr>
            <p:cNvSpPr/>
            <p:nvPr/>
          </p:nvSpPr>
          <p:spPr>
            <a:xfrm>
              <a:off x="1965960" y="3666744"/>
              <a:ext cx="658368"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100M</a:t>
              </a:r>
            </a:p>
          </p:txBody>
        </p:sp>
        <p:sp>
          <p:nvSpPr>
            <p:cNvPr id="50" name="Rectangle 23">
              <a:extLst>
                <a:ext uri="{FF2B5EF4-FFF2-40B4-BE49-F238E27FC236}">
                  <a16:creationId xmlns:a16="http://schemas.microsoft.com/office/drawing/2014/main" id="{68F7D4D0-19C1-4DB5-B920-A1018E13A450}"/>
                </a:ext>
              </a:extLst>
            </p:cNvPr>
            <p:cNvSpPr/>
            <p:nvPr/>
          </p:nvSpPr>
          <p:spPr>
            <a:xfrm>
              <a:off x="2624328" y="3666744"/>
              <a:ext cx="640080"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96</a:t>
              </a:r>
            </a:p>
          </p:txBody>
        </p:sp>
        <p:sp>
          <p:nvSpPr>
            <p:cNvPr id="51" name="Rectangle 24">
              <a:extLst>
                <a:ext uri="{FF2B5EF4-FFF2-40B4-BE49-F238E27FC236}">
                  <a16:creationId xmlns:a16="http://schemas.microsoft.com/office/drawing/2014/main" id="{1FF33296-35D4-4965-A514-24FFB0D255C2}"/>
                </a:ext>
              </a:extLst>
            </p:cNvPr>
            <p:cNvSpPr/>
            <p:nvPr/>
          </p:nvSpPr>
          <p:spPr>
            <a:xfrm>
              <a:off x="3264408" y="3666744"/>
              <a:ext cx="658368"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f32</a:t>
              </a:r>
            </a:p>
          </p:txBody>
        </p:sp>
        <p:sp>
          <p:nvSpPr>
            <p:cNvPr id="52" name="Rectangle 25">
              <a:extLst>
                <a:ext uri="{FF2B5EF4-FFF2-40B4-BE49-F238E27FC236}">
                  <a16:creationId xmlns:a16="http://schemas.microsoft.com/office/drawing/2014/main" id="{62D25F7C-AB2C-4E97-81FE-58D1997B596D}"/>
                </a:ext>
              </a:extLst>
            </p:cNvPr>
            <p:cNvSpPr/>
            <p:nvPr/>
          </p:nvSpPr>
          <p:spPr>
            <a:xfrm>
              <a:off x="3922776" y="3666744"/>
              <a:ext cx="694944" cy="374904"/>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L2</a:t>
              </a:r>
            </a:p>
          </p:txBody>
        </p:sp>
        <p:sp>
          <p:nvSpPr>
            <p:cNvPr id="53" name="Rectangle 26">
              <a:extLst>
                <a:ext uri="{FF2B5EF4-FFF2-40B4-BE49-F238E27FC236}">
                  <a16:creationId xmlns:a16="http://schemas.microsoft.com/office/drawing/2014/main" id="{7DC44394-353C-4063-8BB5-A002300F9EA3}"/>
                </a:ext>
              </a:extLst>
            </p:cNvPr>
            <p:cNvSpPr/>
            <p:nvPr/>
          </p:nvSpPr>
          <p:spPr>
            <a:xfrm>
              <a:off x="822960" y="4041648"/>
              <a:ext cx="1143000"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SIFT100M</a:t>
              </a:r>
            </a:p>
          </p:txBody>
        </p:sp>
        <p:sp>
          <p:nvSpPr>
            <p:cNvPr id="54" name="Rectangle 27">
              <a:extLst>
                <a:ext uri="{FF2B5EF4-FFF2-40B4-BE49-F238E27FC236}">
                  <a16:creationId xmlns:a16="http://schemas.microsoft.com/office/drawing/2014/main" id="{C475346F-81E2-47AE-8891-63938E5A6358}"/>
                </a:ext>
              </a:extLst>
            </p:cNvPr>
            <p:cNvSpPr/>
            <p:nvPr/>
          </p:nvSpPr>
          <p:spPr>
            <a:xfrm>
              <a:off x="1965960" y="4041648"/>
              <a:ext cx="658368"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100M</a:t>
              </a:r>
            </a:p>
          </p:txBody>
        </p:sp>
        <p:sp>
          <p:nvSpPr>
            <p:cNvPr id="55" name="Rectangle 28">
              <a:extLst>
                <a:ext uri="{FF2B5EF4-FFF2-40B4-BE49-F238E27FC236}">
                  <a16:creationId xmlns:a16="http://schemas.microsoft.com/office/drawing/2014/main" id="{C8DAF4DB-F904-4D47-9702-0C8148532AB1}"/>
                </a:ext>
              </a:extLst>
            </p:cNvPr>
            <p:cNvSpPr/>
            <p:nvPr/>
          </p:nvSpPr>
          <p:spPr>
            <a:xfrm>
              <a:off x="2624328" y="4041648"/>
              <a:ext cx="640080"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128</a:t>
              </a:r>
            </a:p>
          </p:txBody>
        </p:sp>
        <p:sp>
          <p:nvSpPr>
            <p:cNvPr id="56" name="Rectangle 29">
              <a:extLst>
                <a:ext uri="{FF2B5EF4-FFF2-40B4-BE49-F238E27FC236}">
                  <a16:creationId xmlns:a16="http://schemas.microsoft.com/office/drawing/2014/main" id="{1B236C8B-1C58-478F-A3D8-9D0BD429F876}"/>
                </a:ext>
              </a:extLst>
            </p:cNvPr>
            <p:cNvSpPr/>
            <p:nvPr/>
          </p:nvSpPr>
          <p:spPr>
            <a:xfrm>
              <a:off x="3264408" y="4041648"/>
              <a:ext cx="658368"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u8</a:t>
              </a:r>
            </a:p>
          </p:txBody>
        </p:sp>
        <p:sp>
          <p:nvSpPr>
            <p:cNvPr id="57" name="Rectangle 30">
              <a:extLst>
                <a:ext uri="{FF2B5EF4-FFF2-40B4-BE49-F238E27FC236}">
                  <a16:creationId xmlns:a16="http://schemas.microsoft.com/office/drawing/2014/main" id="{4ECE8000-7FAC-47A2-B6B6-A0E686EC3D27}"/>
                </a:ext>
              </a:extLst>
            </p:cNvPr>
            <p:cNvSpPr/>
            <p:nvPr/>
          </p:nvSpPr>
          <p:spPr>
            <a:xfrm>
              <a:off x="3922776" y="4041648"/>
              <a:ext cx="694944" cy="374904"/>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979" b="0">
                  <a:solidFill>
                    <a:srgbClr val="232323"/>
                  </a:solidFill>
                  <a:latin typeface="Microsoft YaHei"/>
                </a:defRPr>
              </a:pPr>
              <a:r>
                <a:t>L2</a:t>
              </a:r>
            </a:p>
          </p:txBody>
        </p:sp>
        <p:sp>
          <p:nvSpPr>
            <p:cNvPr id="58" name="Rounded Rectangle 31">
              <a:extLst>
                <a:ext uri="{FF2B5EF4-FFF2-40B4-BE49-F238E27FC236}">
                  <a16:creationId xmlns:a16="http://schemas.microsoft.com/office/drawing/2014/main" id="{A8E09ABE-737C-40A4-B623-419B4BA124BB}"/>
                </a:ext>
              </a:extLst>
            </p:cNvPr>
            <p:cNvSpPr/>
            <p:nvPr/>
          </p:nvSpPr>
          <p:spPr>
            <a:xfrm>
              <a:off x="868680" y="4754880"/>
              <a:ext cx="3703320" cy="841248"/>
            </a:xfrm>
            <a:prstGeom prst="roundRect">
              <a:avLst/>
            </a:prstGeom>
            <a:solidFill>
              <a:srgbClr val="F6FAFF"/>
            </a:solidFill>
            <a:ln w="15240">
              <a:solidFill>
                <a:srgbClr val="D2E1F3"/>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240" b="0">
                  <a:solidFill>
                    <a:srgbClr val="232323"/>
                  </a:solidFill>
                  <a:latin typeface="Microsoft YaHei"/>
                </a:defRPr>
              </a:pPr>
              <a:r>
                <a:rPr sz="1400" dirty="0" err="1">
                  <a:latin typeface="黑体" panose="02010609060101010101" pitchFamily="49" charset="-122"/>
                  <a:ea typeface="黑体" panose="02010609060101010101" pitchFamily="49" charset="-122"/>
                </a:rPr>
                <a:t>覆盖不同</a:t>
              </a:r>
              <a:r>
                <a:rPr sz="1400" b="1" dirty="0" err="1">
                  <a:solidFill>
                    <a:srgbClr val="FF0000"/>
                  </a:solidFill>
                  <a:latin typeface="黑体" panose="02010609060101010101" pitchFamily="49" charset="-122"/>
                  <a:ea typeface="黑体" panose="02010609060101010101" pitchFamily="49" charset="-122"/>
                </a:rPr>
                <a:t>维度</a:t>
              </a:r>
              <a:r>
                <a:rPr sz="1400" dirty="0" err="1">
                  <a:latin typeface="黑体" panose="02010609060101010101" pitchFamily="49" charset="-122"/>
                  <a:ea typeface="黑体" panose="02010609060101010101" pitchFamily="49" charset="-122"/>
                </a:rPr>
                <a:t>、</a:t>
              </a:r>
              <a:r>
                <a:rPr sz="1400" b="1" dirty="0" err="1">
                  <a:solidFill>
                    <a:srgbClr val="FF0000"/>
                  </a:solidFill>
                  <a:latin typeface="黑体" panose="02010609060101010101" pitchFamily="49" charset="-122"/>
                  <a:ea typeface="黑体" panose="02010609060101010101" pitchFamily="49" charset="-122"/>
                </a:rPr>
                <a:t>数据类型</a:t>
              </a:r>
              <a:r>
                <a:rPr sz="1400" dirty="0" err="1">
                  <a:latin typeface="黑体" panose="02010609060101010101" pitchFamily="49" charset="-122"/>
                  <a:ea typeface="黑体" panose="02010609060101010101" pitchFamily="49" charset="-122"/>
                </a:rPr>
                <a:t>与</a:t>
              </a:r>
              <a:r>
                <a:rPr sz="1400" b="1" dirty="0" err="1">
                  <a:solidFill>
                    <a:srgbClr val="FF0000"/>
                  </a:solidFill>
                  <a:latin typeface="黑体" panose="02010609060101010101" pitchFamily="49" charset="-122"/>
                  <a:ea typeface="黑体" panose="02010609060101010101" pitchFamily="49" charset="-122"/>
                </a:rPr>
                <a:t>距离度量</a:t>
              </a:r>
              <a:r>
                <a:rPr sz="1400" dirty="0" err="1">
                  <a:latin typeface="黑体" panose="02010609060101010101" pitchFamily="49" charset="-122"/>
                  <a:ea typeface="黑体" panose="02010609060101010101" pitchFamily="49" charset="-122"/>
                </a:rPr>
                <a:t>，用于观察候选向量搬运开销是否具有</a:t>
              </a:r>
              <a:r>
                <a:rPr sz="1400" b="1" dirty="0" err="1">
                  <a:latin typeface="黑体" panose="02010609060101010101" pitchFamily="49" charset="-122"/>
                  <a:ea typeface="黑体" panose="02010609060101010101" pitchFamily="49" charset="-122"/>
                </a:rPr>
                <a:t>普遍性</a:t>
              </a:r>
              <a:r>
                <a:rPr sz="1400" dirty="0">
                  <a:latin typeface="黑体" panose="02010609060101010101" pitchFamily="49" charset="-122"/>
                  <a:ea typeface="黑体" panose="02010609060101010101" pitchFamily="49" charset="-122"/>
                </a:rPr>
                <a:t>。</a:t>
              </a:r>
            </a:p>
          </p:txBody>
        </p:sp>
      </p:grpSp>
      <p:sp>
        <p:nvSpPr>
          <p:cNvPr id="61" name="TextBox 60"/>
          <p:cNvSpPr txBox="1"/>
          <p:nvPr/>
        </p:nvSpPr>
        <p:spPr>
          <a:xfrm>
            <a:off x="639304" y="1919090"/>
            <a:ext cx="5588504" cy="271869"/>
          </a:xfrm>
          <a:prstGeom prst="rect">
            <a:avLst/>
          </a:prstGeom>
          <a:noFill/>
        </p:spPr>
        <p:txBody>
          <a:bodyPr wrap="square" lIns="12700" tIns="12700" rIns="12700" bIns="12700" anchor="ctr">
            <a:spAutoFit/>
          </a:bodyPr>
          <a:lstStyle/>
          <a:p>
            <a:pPr algn="ctr"/>
            <a:r>
              <a:rPr sz="1600" b="1" dirty="0" err="1">
                <a:solidFill>
                  <a:schemeClr val="tx1"/>
                </a:solidFill>
                <a:latin typeface="Times New Roman" panose="02020603050405020304" pitchFamily="18" charset="0"/>
                <a:cs typeface="Times New Roman" panose="02020603050405020304" pitchFamily="18" charset="0"/>
              </a:rPr>
              <a:t>传统路径：计算侧负责</a:t>
            </a:r>
            <a:r>
              <a:rPr sz="1600" b="1" dirty="0">
                <a:solidFill>
                  <a:schemeClr val="tx1"/>
                </a:solidFill>
                <a:latin typeface="Times New Roman" panose="02020603050405020304" pitchFamily="18" charset="0"/>
                <a:cs typeface="Times New Roman" panose="02020603050405020304" pitchFamily="18" charset="0"/>
              </a:rPr>
              <a:t> HNSW </a:t>
            </a:r>
            <a:r>
              <a:rPr sz="1600" b="1" dirty="0" err="1">
                <a:solidFill>
                  <a:schemeClr val="tx1"/>
                </a:solidFill>
                <a:latin typeface="Times New Roman" panose="02020603050405020304" pitchFamily="18" charset="0"/>
                <a:cs typeface="Times New Roman" panose="02020603050405020304" pitchFamily="18" charset="0"/>
              </a:rPr>
              <a:t>更新；存储侧仅保存分片对象</a:t>
            </a:r>
            <a:endParaRPr sz="1600" b="1" dirty="0">
              <a:solidFill>
                <a:schemeClr val="tx1"/>
              </a:solidFill>
              <a:latin typeface="Times New Roman" panose="02020603050405020304" pitchFamily="18" charset="0"/>
              <a:cs typeface="Times New Roman" panose="02020603050405020304" pitchFamily="18" charset="0"/>
            </a:endParaRPr>
          </a:p>
        </p:txBody>
      </p:sp>
      <p:sp>
        <p:nvSpPr>
          <p:cNvPr id="62" name="Rounded Rectangle 61"/>
          <p:cNvSpPr/>
          <p:nvPr/>
        </p:nvSpPr>
        <p:spPr>
          <a:xfrm>
            <a:off x="804672" y="2286000"/>
            <a:ext cx="4791456" cy="292608"/>
          </a:xfrm>
          <a:prstGeom prst="roundRect">
            <a:avLst/>
          </a:prstGeom>
          <a:solidFill>
            <a:srgbClr val="0B598C"/>
          </a:solidFill>
          <a:ln w="13970">
            <a:solidFill>
              <a:srgbClr val="0B598C"/>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Compute / </a:t>
            </a:r>
            <a:r>
              <a:rPr sz="1600" b="1" dirty="0" err="1">
                <a:solidFill>
                  <a:schemeClr val="bg1"/>
                </a:solidFill>
                <a:latin typeface="Times New Roman" panose="02020603050405020304" pitchFamily="18" charset="0"/>
                <a:ea typeface="黑体" panose="02010609060101010101" pitchFamily="49" charset="-122"/>
                <a:cs typeface="Times New Roman" panose="02020603050405020304" pitchFamily="18" charset="0"/>
              </a:rPr>
              <a:t>Coordinator（计算侧</a:t>
            </a:r>
            <a:r>
              <a:rPr sz="1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63" name="Rounded Rectangle 62"/>
          <p:cNvSpPr/>
          <p:nvPr/>
        </p:nvSpPr>
        <p:spPr>
          <a:xfrm>
            <a:off x="820615" y="2724912"/>
            <a:ext cx="738881" cy="457200"/>
          </a:xfrm>
          <a:prstGeom prst="roundRect">
            <a:avLst/>
          </a:prstGeom>
          <a:solidFill>
            <a:srgbClr val="FFFFFF"/>
          </a:solidFill>
          <a:ln w="1397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HNSW</a:t>
            </a:r>
            <a:endParaRPr lang="en-US"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sz="1200"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搜索控</a:t>
            </a:r>
            <a:r>
              <a:rPr lang="zh-CN" altLang="en-US"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制</a:t>
            </a:r>
            <a:endParaRPr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4" name="Rounded Rectangle 63"/>
          <p:cNvSpPr/>
          <p:nvPr/>
        </p:nvSpPr>
        <p:spPr>
          <a:xfrm>
            <a:off x="1897824" y="2724912"/>
            <a:ext cx="1558608" cy="457200"/>
          </a:xfrm>
          <a:prstGeom prst="roundRect">
            <a:avLst/>
          </a:prstGeom>
          <a:solidFill>
            <a:srgbClr val="FFFFFF"/>
          </a:solidFill>
          <a:ln w="1397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200"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本地算距离</a:t>
            </a:r>
            <a:endParaRPr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local compute</a:t>
            </a:r>
          </a:p>
        </p:txBody>
      </p:sp>
      <p:sp>
        <p:nvSpPr>
          <p:cNvPr id="65" name="Rounded Rectangle 64"/>
          <p:cNvSpPr/>
          <p:nvPr/>
        </p:nvSpPr>
        <p:spPr>
          <a:xfrm>
            <a:off x="3794760" y="2724912"/>
            <a:ext cx="1170432" cy="457200"/>
          </a:xfrm>
          <a:prstGeom prst="roundRect">
            <a:avLst/>
          </a:prstGeom>
          <a:solidFill>
            <a:srgbClr val="FFFFFF"/>
          </a:solidFill>
          <a:ln w="1397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200"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选邻居</a:t>
            </a:r>
            <a:r>
              <a:rPr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 </a:t>
            </a:r>
            <a:r>
              <a:rPr sz="1200"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生成</a:t>
            </a:r>
            <a:endParaRPr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edge patch</a:t>
            </a:r>
          </a:p>
        </p:txBody>
      </p:sp>
      <p:cxnSp>
        <p:nvCxnSpPr>
          <p:cNvPr id="66" name="Connector 65"/>
          <p:cNvCxnSpPr/>
          <p:nvPr/>
        </p:nvCxnSpPr>
        <p:spPr>
          <a:xfrm>
            <a:off x="1545336" y="2953512"/>
            <a:ext cx="338328" cy="0"/>
          </a:xfrm>
          <a:prstGeom prst="line">
            <a:avLst/>
          </a:prstGeom>
          <a:ln w="16510">
            <a:solidFill>
              <a:srgbClr val="276AA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456432" y="2953512"/>
            <a:ext cx="338328" cy="0"/>
          </a:xfrm>
          <a:prstGeom prst="line">
            <a:avLst/>
          </a:prstGeom>
          <a:ln w="16510">
            <a:solidFill>
              <a:srgbClr val="276AA8"/>
            </a:solidFill>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804672" y="4041648"/>
            <a:ext cx="4791456" cy="292608"/>
          </a:xfrm>
          <a:prstGeom prst="roundRect">
            <a:avLst/>
          </a:prstGeom>
          <a:solidFill>
            <a:srgbClr val="0B598C"/>
          </a:solidFill>
          <a:ln w="13970">
            <a:solidFill>
              <a:srgbClr val="0B598C"/>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Storage </a:t>
            </a:r>
            <a:r>
              <a:rPr sz="1600" b="1" dirty="0" err="1">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cluster（分布式</a:t>
            </a:r>
            <a:r>
              <a:rPr sz="1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 OSD）</a:t>
            </a:r>
          </a:p>
        </p:txBody>
      </p:sp>
      <p:sp>
        <p:nvSpPr>
          <p:cNvPr id="69" name="Rounded Rectangle 68"/>
          <p:cNvSpPr/>
          <p:nvPr/>
        </p:nvSpPr>
        <p:spPr>
          <a:xfrm>
            <a:off x="859536" y="4462272"/>
            <a:ext cx="1234440" cy="512064"/>
          </a:xfrm>
          <a:prstGeom prst="roundRect">
            <a:avLst/>
          </a:prstGeom>
          <a:solidFill>
            <a:srgbClr val="FFFFFF"/>
          </a:solidFill>
          <a:ln w="13970">
            <a:solidFill>
              <a:srgbClr val="ADC7E0"/>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rPr>
              <a:t>OSD-1</a:t>
            </a:r>
          </a:p>
          <a:p>
            <a:pPr algn="ctr"/>
            <a:r>
              <a:rPr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rPr>
              <a:t>payload / adj / meta</a:t>
            </a:r>
          </a:p>
        </p:txBody>
      </p:sp>
      <p:sp>
        <p:nvSpPr>
          <p:cNvPr id="70" name="Rounded Rectangle 69"/>
          <p:cNvSpPr/>
          <p:nvPr/>
        </p:nvSpPr>
        <p:spPr>
          <a:xfrm>
            <a:off x="2212848" y="4462272"/>
            <a:ext cx="1234440" cy="512064"/>
          </a:xfrm>
          <a:prstGeom prst="roundRect">
            <a:avLst/>
          </a:prstGeom>
          <a:solidFill>
            <a:srgbClr val="FFFFFF"/>
          </a:solidFill>
          <a:ln w="13970">
            <a:solidFill>
              <a:srgbClr val="ADC7E0"/>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rPr>
              <a:t>OSD-2</a:t>
            </a:r>
          </a:p>
          <a:p>
            <a:pPr algn="ctr"/>
            <a:r>
              <a:rPr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rPr>
              <a:t>payload / adj / meta</a:t>
            </a:r>
          </a:p>
        </p:txBody>
      </p:sp>
      <p:sp>
        <p:nvSpPr>
          <p:cNvPr id="71" name="Rounded Rectangle 70"/>
          <p:cNvSpPr/>
          <p:nvPr/>
        </p:nvSpPr>
        <p:spPr>
          <a:xfrm>
            <a:off x="4288536" y="4462272"/>
            <a:ext cx="1234440" cy="512064"/>
          </a:xfrm>
          <a:prstGeom prst="roundRect">
            <a:avLst/>
          </a:prstGeom>
          <a:solidFill>
            <a:srgbClr val="FFFFFF"/>
          </a:solidFill>
          <a:ln w="13970">
            <a:solidFill>
              <a:srgbClr val="ADC7E0"/>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rPr>
              <a:t>OSD-</a:t>
            </a:r>
            <a:r>
              <a:rPr lang="en-US" altLang="zh-CN"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rPr>
              <a:t>n</a:t>
            </a:r>
            <a:endParaRPr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sz="1000" b="1" dirty="0">
                <a:solidFill>
                  <a:srgbClr val="2C3E50"/>
                </a:solidFill>
                <a:latin typeface="Times New Roman" panose="02020603050405020304" pitchFamily="18" charset="0"/>
                <a:ea typeface="微软雅黑" panose="020B0503020204020204" pitchFamily="34" charset="-122"/>
                <a:cs typeface="Times New Roman" panose="02020603050405020304" pitchFamily="18" charset="0"/>
              </a:rPr>
              <a:t>payload / adj / meta</a:t>
            </a:r>
          </a:p>
        </p:txBody>
      </p:sp>
      <p:sp>
        <p:nvSpPr>
          <p:cNvPr id="79" name="Down Arrow 78"/>
          <p:cNvSpPr/>
          <p:nvPr/>
        </p:nvSpPr>
        <p:spPr>
          <a:xfrm>
            <a:off x="4206240" y="3310128"/>
            <a:ext cx="411480" cy="658368"/>
          </a:xfrm>
          <a:prstGeom prst="downArrow">
            <a:avLst/>
          </a:prstGeom>
          <a:solidFill>
            <a:srgbClr val="276AA8"/>
          </a:solidFill>
          <a:ln>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endParaRPr/>
          </a:p>
        </p:txBody>
      </p:sp>
      <p:sp>
        <p:nvSpPr>
          <p:cNvPr id="80" name="TextBox 79"/>
          <p:cNvSpPr txBox="1"/>
          <p:nvPr/>
        </p:nvSpPr>
        <p:spPr>
          <a:xfrm>
            <a:off x="4608576" y="3353727"/>
            <a:ext cx="914400" cy="333425"/>
          </a:xfrm>
          <a:prstGeom prst="rect">
            <a:avLst/>
          </a:prstGeom>
          <a:noFill/>
        </p:spPr>
        <p:txBody>
          <a:bodyPr wrap="square" lIns="12700" tIns="12700" rIns="12700" bIns="12700" anchor="ctr">
            <a:spAutoFit/>
          </a:bodyPr>
          <a:lstStyle/>
          <a:p>
            <a:pPr algn="l"/>
            <a:r>
              <a:rPr sz="1000" dirty="0" err="1">
                <a:solidFill>
                  <a:schemeClr val="tx1"/>
                </a:solidFill>
                <a:latin typeface="Microsoft YaHei"/>
              </a:rPr>
              <a:t>邻接patch写回</a:t>
            </a:r>
            <a:endParaRPr sz="1000" dirty="0">
              <a:solidFill>
                <a:schemeClr val="tx1"/>
              </a:solidFill>
              <a:latin typeface="Microsoft YaHei"/>
            </a:endParaRPr>
          </a:p>
          <a:p>
            <a:pPr algn="l"/>
            <a:r>
              <a:rPr sz="1000" dirty="0" err="1">
                <a:solidFill>
                  <a:schemeClr val="tx1"/>
                </a:solidFill>
                <a:latin typeface="Microsoft YaHei"/>
              </a:rPr>
              <a:t>更新多个对象</a:t>
            </a:r>
            <a:endParaRPr sz="1000" dirty="0">
              <a:solidFill>
                <a:schemeClr val="tx1"/>
              </a:solidFill>
              <a:latin typeface="Microsoft YaHei"/>
            </a:endParaRPr>
          </a:p>
        </p:txBody>
      </p:sp>
      <p:sp>
        <p:nvSpPr>
          <p:cNvPr id="87" name="Down Arrow 78">
            <a:extLst>
              <a:ext uri="{FF2B5EF4-FFF2-40B4-BE49-F238E27FC236}">
                <a16:creationId xmlns:a16="http://schemas.microsoft.com/office/drawing/2014/main" id="{56189353-9A5F-4450-A2AB-CB32CD763334}"/>
              </a:ext>
            </a:extLst>
          </p:cNvPr>
          <p:cNvSpPr/>
          <p:nvPr/>
        </p:nvSpPr>
        <p:spPr>
          <a:xfrm>
            <a:off x="1952244" y="3270177"/>
            <a:ext cx="155448" cy="707463"/>
          </a:xfrm>
          <a:prstGeom prst="downArrow">
            <a:avLst>
              <a:gd name="adj1" fmla="val 50000"/>
              <a:gd name="adj2" fmla="val 152600"/>
            </a:avLst>
          </a:prstGeom>
          <a:solidFill>
            <a:srgbClr val="276AA8"/>
          </a:solidFill>
          <a:ln>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endParaRPr/>
          </a:p>
        </p:txBody>
      </p:sp>
      <p:sp>
        <p:nvSpPr>
          <p:cNvPr id="88" name="TextBox 15">
            <a:extLst>
              <a:ext uri="{FF2B5EF4-FFF2-40B4-BE49-F238E27FC236}">
                <a16:creationId xmlns:a16="http://schemas.microsoft.com/office/drawing/2014/main" id="{C795E1E0-8927-4501-B201-2C21E88E53BD}"/>
              </a:ext>
            </a:extLst>
          </p:cNvPr>
          <p:cNvSpPr txBox="1"/>
          <p:nvPr/>
        </p:nvSpPr>
        <p:spPr>
          <a:xfrm>
            <a:off x="1650492" y="2987318"/>
            <a:ext cx="155448" cy="1015663"/>
          </a:xfrm>
          <a:prstGeom prst="rect">
            <a:avLst/>
          </a:prstGeom>
          <a:noFill/>
        </p:spPr>
        <p:txBody>
          <a:bodyPr wrap="square">
            <a:spAutoFit/>
          </a:bodyPr>
          <a:lstStyle/>
          <a:p>
            <a:pPr>
              <a:defRPr sz="1050" b="0">
                <a:solidFill>
                  <a:srgbClr val="646464"/>
                </a:solidFill>
                <a:latin typeface="Microsoft YaHei"/>
              </a:defRPr>
            </a:pPr>
            <a:r>
              <a:rPr sz="1000" dirty="0" err="1">
                <a:solidFill>
                  <a:schemeClr val="tx1"/>
                </a:solidFill>
                <a:latin typeface="Microsoft YaHei"/>
              </a:rPr>
              <a:t>读取候选向量</a:t>
            </a:r>
            <a:endParaRPr sz="1000" dirty="0">
              <a:solidFill>
                <a:schemeClr val="tx1"/>
              </a:solidFill>
              <a:latin typeface="Microsoft YaHei"/>
            </a:endParaRPr>
          </a:p>
        </p:txBody>
      </p:sp>
      <p:sp>
        <p:nvSpPr>
          <p:cNvPr id="89" name="Down Arrow 78">
            <a:extLst>
              <a:ext uri="{FF2B5EF4-FFF2-40B4-BE49-F238E27FC236}">
                <a16:creationId xmlns:a16="http://schemas.microsoft.com/office/drawing/2014/main" id="{D1CAE977-75DB-4C6D-88FE-D7177ED6FE51}"/>
              </a:ext>
            </a:extLst>
          </p:cNvPr>
          <p:cNvSpPr/>
          <p:nvPr/>
        </p:nvSpPr>
        <p:spPr>
          <a:xfrm rot="10800000">
            <a:off x="2149782" y="3259042"/>
            <a:ext cx="155448" cy="707463"/>
          </a:xfrm>
          <a:prstGeom prst="downArrow">
            <a:avLst>
              <a:gd name="adj1" fmla="val 50000"/>
              <a:gd name="adj2" fmla="val 152600"/>
            </a:avLst>
          </a:prstGeom>
          <a:solidFill>
            <a:srgbClr val="276AA8"/>
          </a:solidFill>
          <a:ln>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endParaRPr dirty="0"/>
          </a:p>
        </p:txBody>
      </p:sp>
      <p:sp>
        <p:nvSpPr>
          <p:cNvPr id="90" name="TextBox 16">
            <a:extLst>
              <a:ext uri="{FF2B5EF4-FFF2-40B4-BE49-F238E27FC236}">
                <a16:creationId xmlns:a16="http://schemas.microsoft.com/office/drawing/2014/main" id="{4F1C3E1B-98DF-471D-AF2D-FB9072FAA6E2}"/>
              </a:ext>
            </a:extLst>
          </p:cNvPr>
          <p:cNvSpPr txBox="1"/>
          <p:nvPr/>
        </p:nvSpPr>
        <p:spPr>
          <a:xfrm>
            <a:off x="2285348" y="3276159"/>
            <a:ext cx="425848" cy="707886"/>
          </a:xfrm>
          <a:prstGeom prst="rect">
            <a:avLst/>
          </a:prstGeom>
          <a:noFill/>
        </p:spPr>
        <p:txBody>
          <a:bodyPr wrap="square">
            <a:spAutoFit/>
          </a:bodyPr>
          <a:lstStyle/>
          <a:p>
            <a:pPr>
              <a:defRPr sz="1050" b="0">
                <a:solidFill>
                  <a:srgbClr val="646464"/>
                </a:solidFill>
                <a:latin typeface="Microsoft YaHei"/>
              </a:defRPr>
            </a:pPr>
            <a:r>
              <a:rPr sz="1000" dirty="0" err="1">
                <a:solidFill>
                  <a:schemeClr val="tx1"/>
                </a:solidFill>
                <a:latin typeface="Microsoft YaHei"/>
              </a:rPr>
              <a:t>返回</a:t>
            </a:r>
            <a:r>
              <a:rPr lang="zh-CN" altLang="en-US" sz="1000" dirty="0">
                <a:solidFill>
                  <a:schemeClr val="tx1"/>
                </a:solidFill>
                <a:latin typeface="Microsoft YaHei"/>
              </a:rPr>
              <a:t>向量</a:t>
            </a:r>
            <a:endParaRPr sz="1000" dirty="0">
              <a:solidFill>
                <a:schemeClr val="tx1"/>
              </a:solidFill>
              <a:latin typeface="Microsoft YaHei"/>
            </a:endParaRPr>
          </a:p>
        </p:txBody>
      </p:sp>
      <p:sp>
        <p:nvSpPr>
          <p:cNvPr id="2" name="文本框 1">
            <a:extLst>
              <a:ext uri="{FF2B5EF4-FFF2-40B4-BE49-F238E27FC236}">
                <a16:creationId xmlns:a16="http://schemas.microsoft.com/office/drawing/2014/main" id="{275A5F24-5830-4E6A-9251-7BB1EC3678ED}"/>
              </a:ext>
            </a:extLst>
          </p:cNvPr>
          <p:cNvSpPr txBox="1"/>
          <p:nvPr/>
        </p:nvSpPr>
        <p:spPr>
          <a:xfrm>
            <a:off x="2464308" y="3355020"/>
            <a:ext cx="908256"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sp>
        <p:nvSpPr>
          <p:cNvPr id="91" name="Down Arrow 78">
            <a:extLst>
              <a:ext uri="{FF2B5EF4-FFF2-40B4-BE49-F238E27FC236}">
                <a16:creationId xmlns:a16="http://schemas.microsoft.com/office/drawing/2014/main" id="{A07942CD-DF39-4BEC-B75C-F4413D60C91C}"/>
              </a:ext>
            </a:extLst>
          </p:cNvPr>
          <p:cNvSpPr/>
          <p:nvPr/>
        </p:nvSpPr>
        <p:spPr>
          <a:xfrm>
            <a:off x="3080570" y="3270177"/>
            <a:ext cx="155448" cy="707463"/>
          </a:xfrm>
          <a:prstGeom prst="downArrow">
            <a:avLst>
              <a:gd name="adj1" fmla="val 50000"/>
              <a:gd name="adj2" fmla="val 152600"/>
            </a:avLst>
          </a:prstGeom>
          <a:solidFill>
            <a:srgbClr val="276AA8"/>
          </a:solidFill>
          <a:ln>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endParaRPr/>
          </a:p>
        </p:txBody>
      </p:sp>
      <p:sp>
        <p:nvSpPr>
          <p:cNvPr id="92" name="Down Arrow 78">
            <a:extLst>
              <a:ext uri="{FF2B5EF4-FFF2-40B4-BE49-F238E27FC236}">
                <a16:creationId xmlns:a16="http://schemas.microsoft.com/office/drawing/2014/main" id="{37C00B91-305C-4A12-AF5F-EF131D5610C8}"/>
              </a:ext>
            </a:extLst>
          </p:cNvPr>
          <p:cNvSpPr/>
          <p:nvPr/>
        </p:nvSpPr>
        <p:spPr>
          <a:xfrm rot="10800000">
            <a:off x="3278108" y="3259042"/>
            <a:ext cx="155448" cy="707463"/>
          </a:xfrm>
          <a:prstGeom prst="downArrow">
            <a:avLst>
              <a:gd name="adj1" fmla="val 50000"/>
              <a:gd name="adj2" fmla="val 152600"/>
            </a:avLst>
          </a:prstGeom>
          <a:solidFill>
            <a:srgbClr val="276AA8"/>
          </a:solidFill>
          <a:ln>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endParaRPr dirty="0"/>
          </a:p>
        </p:txBody>
      </p:sp>
      <p:sp>
        <p:nvSpPr>
          <p:cNvPr id="93" name="文本框 92">
            <a:extLst>
              <a:ext uri="{FF2B5EF4-FFF2-40B4-BE49-F238E27FC236}">
                <a16:creationId xmlns:a16="http://schemas.microsoft.com/office/drawing/2014/main" id="{CE61F7A8-D6F4-4F7F-BECE-022839143C9F}"/>
              </a:ext>
            </a:extLst>
          </p:cNvPr>
          <p:cNvSpPr txBox="1"/>
          <p:nvPr/>
        </p:nvSpPr>
        <p:spPr>
          <a:xfrm>
            <a:off x="3538862" y="4437841"/>
            <a:ext cx="908256"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sp>
        <p:nvSpPr>
          <p:cNvPr id="94" name="文本框 93">
            <a:extLst>
              <a:ext uri="{FF2B5EF4-FFF2-40B4-BE49-F238E27FC236}">
                <a16:creationId xmlns:a16="http://schemas.microsoft.com/office/drawing/2014/main" id="{DE084FE8-76AD-4393-8B00-790DDA8F850B}"/>
              </a:ext>
            </a:extLst>
          </p:cNvPr>
          <p:cNvSpPr txBox="1"/>
          <p:nvPr/>
        </p:nvSpPr>
        <p:spPr>
          <a:xfrm>
            <a:off x="915608" y="5102352"/>
            <a:ext cx="4680520" cy="646331"/>
          </a:xfrm>
          <a:prstGeom prst="rect">
            <a:avLst/>
          </a:prstGeom>
          <a:noFill/>
        </p:spPr>
        <p:txBody>
          <a:bodyPr wrap="square">
            <a:spAutoFit/>
          </a:bodyPr>
          <a:lstStyle/>
          <a:p>
            <a:r>
              <a:rPr lang="zh-CN" altLang="en-US" sz="1200" dirty="0">
                <a:solidFill>
                  <a:schemeClr val="tx1"/>
                </a:solidFill>
                <a:latin typeface="Times New Roman" panose="02020603050405020304" pitchFamily="18" charset="0"/>
                <a:cs typeface="Times New Roman" panose="02020603050405020304" pitchFamily="18" charset="0"/>
              </a:rPr>
              <a:t>计算节点负责控制 </a:t>
            </a:r>
            <a:r>
              <a:rPr lang="en-US" altLang="zh-CN" sz="1200" dirty="0">
                <a:solidFill>
                  <a:schemeClr val="tx1"/>
                </a:solidFill>
                <a:latin typeface="Times New Roman" panose="02020603050405020304" pitchFamily="18" charset="0"/>
                <a:cs typeface="Times New Roman" panose="02020603050405020304" pitchFamily="18" charset="0"/>
              </a:rPr>
              <a:t>HNSW </a:t>
            </a:r>
            <a:r>
              <a:rPr lang="zh-CN" altLang="en-US" sz="1200" dirty="0">
                <a:solidFill>
                  <a:schemeClr val="tx1"/>
                </a:solidFill>
                <a:latin typeface="Times New Roman" panose="02020603050405020304" pitchFamily="18" charset="0"/>
                <a:cs typeface="Times New Roman" panose="02020603050405020304" pitchFamily="18" charset="0"/>
              </a:rPr>
              <a:t>搜索与更新逻辑，从多个存储节点拉取候选向量和邻接表到本地完成距离计算、邻居选择与边修改，再将更新后的邻接表和元数据写回对应存储节点。</a:t>
            </a:r>
          </a:p>
        </p:txBody>
      </p:sp>
      <p:sp>
        <p:nvSpPr>
          <p:cNvPr id="72" name="灯片编号占位符 1">
            <a:extLst>
              <a:ext uri="{FF2B5EF4-FFF2-40B4-BE49-F238E27FC236}">
                <a16:creationId xmlns:a16="http://schemas.microsoft.com/office/drawing/2014/main" id="{47F8C020-70F6-46E9-B8E7-26A72D0FCFDD}"/>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4</a:t>
            </a:fld>
            <a:endParaRPr lang="en-US" altLang="zh-CN" dirty="0"/>
          </a:p>
        </p:txBody>
      </p:sp>
      <p:sp>
        <p:nvSpPr>
          <p:cNvPr id="74" name="文本框 73">
            <a:extLst>
              <a:ext uri="{FF2B5EF4-FFF2-40B4-BE49-F238E27FC236}">
                <a16:creationId xmlns:a16="http://schemas.microsoft.com/office/drawing/2014/main" id="{EA6FF5C3-24EF-489A-85C8-569026CABEE3}"/>
              </a:ext>
            </a:extLst>
          </p:cNvPr>
          <p:cNvSpPr txBox="1"/>
          <p:nvPr/>
        </p:nvSpPr>
        <p:spPr>
          <a:xfrm>
            <a:off x="361548" y="6083636"/>
            <a:ext cx="10439400" cy="338554"/>
          </a:xfrm>
          <a:prstGeom prst="rect">
            <a:avLst/>
          </a:prstGeom>
          <a:noFill/>
        </p:spPr>
        <p:txBody>
          <a:bodyPr wrap="square">
            <a:spAutoFit/>
          </a:bodyPr>
          <a:lstStyle/>
          <a:p>
            <a:pPr algn="ctr">
              <a:defRPr sz="1550" b="1">
                <a:solidFill>
                  <a:srgbClr val="0C2A55"/>
                </a:solidFill>
                <a:latin typeface="Microsoft YaHei"/>
              </a:defRPr>
            </a:pPr>
            <a:r>
              <a:rPr lang="zh-CN" altLang="en-US" sz="1600" dirty="0">
                <a:solidFill>
                  <a:schemeClr val="tx1"/>
                </a:solidFill>
                <a:latin typeface="Times New Roman" panose="02020603050405020304" pitchFamily="18" charset="0"/>
                <a:cs typeface="Times New Roman" panose="02020603050405020304" pitchFamily="18" charset="0"/>
              </a:rPr>
              <a:t>实验目的：量化传统分布式更新中“跨 </a:t>
            </a:r>
            <a:r>
              <a:rPr lang="en-US" altLang="zh-CN" sz="1600" dirty="0">
                <a:solidFill>
                  <a:schemeClr val="tx1"/>
                </a:solidFill>
                <a:latin typeface="Times New Roman" panose="02020603050405020304" pitchFamily="18" charset="0"/>
                <a:cs typeface="Times New Roman" panose="02020603050405020304" pitchFamily="18" charset="0"/>
              </a:rPr>
              <a:t>OSD </a:t>
            </a:r>
            <a:r>
              <a:rPr lang="zh-CN" altLang="en-US" sz="1600" dirty="0">
                <a:solidFill>
                  <a:schemeClr val="tx1"/>
                </a:solidFill>
                <a:latin typeface="Times New Roman" panose="02020603050405020304" pitchFamily="18" charset="0"/>
                <a:cs typeface="Times New Roman" panose="02020603050405020304" pitchFamily="18" charset="0"/>
              </a:rPr>
              <a:t>候选向量搬运”与本地算距成本，</a:t>
            </a:r>
            <a:r>
              <a:rPr lang="zh-CN" altLang="en-US" sz="1600" dirty="0">
                <a:solidFill>
                  <a:srgbClr val="FF0000"/>
                </a:solidFill>
                <a:latin typeface="Times New Roman" panose="02020603050405020304" pitchFamily="18" charset="0"/>
                <a:cs typeface="Times New Roman" panose="02020603050405020304" pitchFamily="18" charset="0"/>
              </a:rPr>
              <a:t>验证数据移动是否成为主导开销</a:t>
            </a:r>
          </a:p>
        </p:txBody>
      </p:sp>
    </p:spTree>
    <p:extLst>
      <p:ext uri="{BB962C8B-B14F-4D97-AF65-F5344CB8AC3E}">
        <p14:creationId xmlns:p14="http://schemas.microsoft.com/office/powerpoint/2010/main" val="3034789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a:extLst>
              <a:ext uri="{FF2B5EF4-FFF2-40B4-BE49-F238E27FC236}">
                <a16:creationId xmlns:a16="http://schemas.microsoft.com/office/drawing/2014/main" id="{47A35C26-A43D-4AC3-B4B6-01B4EBC23498}"/>
              </a:ext>
            </a:extLst>
          </p:cNvPr>
          <p:cNvSpPr/>
          <p:nvPr/>
        </p:nvSpPr>
        <p:spPr>
          <a:xfrm>
            <a:off x="8161019" y="5358384"/>
            <a:ext cx="3264409" cy="9860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897106"/>
            <a:ext cx="5321808" cy="3246120"/>
          </a:xfrm>
          <a:prstGeom prst="roundRect">
            <a:avLst/>
          </a:prstGeom>
          <a:solidFill>
            <a:srgbClr val="FFFFFF"/>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600" b="0">
                <a:solidFill>
                  <a:srgbClr val="232323"/>
                </a:solidFill>
                <a:latin typeface="Microsoft YaHei"/>
              </a:defRPr>
            </a:pPr>
            <a:endParaRPr/>
          </a:p>
        </p:txBody>
      </p:sp>
      <p:sp>
        <p:nvSpPr>
          <p:cNvPr id="6" name="TextBox 5"/>
          <p:cNvSpPr txBox="1"/>
          <p:nvPr/>
        </p:nvSpPr>
        <p:spPr>
          <a:xfrm>
            <a:off x="841247" y="2029968"/>
            <a:ext cx="4956048" cy="252377"/>
          </a:xfrm>
          <a:prstGeom prst="rect">
            <a:avLst/>
          </a:prstGeom>
          <a:noFill/>
        </p:spPr>
        <p:txBody>
          <a:bodyPr wrap="square" lIns="27432" tIns="9144" rIns="27432" bIns="9144">
            <a:spAutoFit/>
          </a:bodyPr>
          <a:lstStyle/>
          <a:p>
            <a:pPr algn="ctr">
              <a:defRPr sz="1520" b="1">
                <a:solidFill>
                  <a:srgbClr val="0C2A55"/>
                </a:solidFill>
                <a:latin typeface="Microsoft YaHei"/>
              </a:defRPr>
            </a:pPr>
            <a:r>
              <a:rPr dirty="0" err="1"/>
              <a:t>距离阶段占整个</a:t>
            </a:r>
            <a:r>
              <a:rPr dirty="0"/>
              <a:t> update </a:t>
            </a:r>
            <a:r>
              <a:rPr dirty="0" err="1"/>
              <a:t>的比例</a:t>
            </a:r>
            <a:endParaRPr dirty="0"/>
          </a:p>
        </p:txBody>
      </p:sp>
      <p:cxnSp>
        <p:nvCxnSpPr>
          <p:cNvPr id="7" name="Connector 6"/>
          <p:cNvCxnSpPr/>
          <p:nvPr/>
        </p:nvCxnSpPr>
        <p:spPr>
          <a:xfrm>
            <a:off x="1618488" y="4663440"/>
            <a:ext cx="3995928"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41247" y="4581144"/>
            <a:ext cx="566928" cy="164592"/>
          </a:xfrm>
          <a:prstGeom prst="rect">
            <a:avLst/>
          </a:prstGeom>
          <a:noFill/>
        </p:spPr>
        <p:txBody>
          <a:bodyPr wrap="square" lIns="27432" tIns="9144" rIns="27432" bIns="9144">
            <a:spAutoFit/>
          </a:bodyPr>
          <a:lstStyle/>
          <a:p>
            <a:pPr algn="r">
              <a:defRPr sz="750" b="0">
                <a:solidFill>
                  <a:srgbClr val="646464"/>
                </a:solidFill>
                <a:latin typeface="Microsoft YaHei"/>
              </a:defRPr>
            </a:pPr>
            <a:r>
              <a:t>0%</a:t>
            </a:r>
          </a:p>
        </p:txBody>
      </p:sp>
      <p:cxnSp>
        <p:nvCxnSpPr>
          <p:cNvPr id="9" name="Connector 8"/>
          <p:cNvCxnSpPr/>
          <p:nvPr/>
        </p:nvCxnSpPr>
        <p:spPr>
          <a:xfrm>
            <a:off x="1618488" y="4121657"/>
            <a:ext cx="3995928"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618488" y="3579875"/>
            <a:ext cx="3995928"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41247" y="3497579"/>
            <a:ext cx="566928" cy="164592"/>
          </a:xfrm>
          <a:prstGeom prst="rect">
            <a:avLst/>
          </a:prstGeom>
          <a:noFill/>
        </p:spPr>
        <p:txBody>
          <a:bodyPr wrap="square" lIns="27432" tIns="9144" rIns="27432" bIns="9144">
            <a:spAutoFit/>
          </a:bodyPr>
          <a:lstStyle/>
          <a:p>
            <a:pPr algn="r">
              <a:defRPr sz="750" b="0">
                <a:solidFill>
                  <a:srgbClr val="646464"/>
                </a:solidFill>
                <a:latin typeface="Microsoft YaHei"/>
              </a:defRPr>
            </a:pPr>
            <a:r>
              <a:t>50%</a:t>
            </a:r>
          </a:p>
        </p:txBody>
      </p:sp>
      <p:cxnSp>
        <p:nvCxnSpPr>
          <p:cNvPr id="12" name="Connector 11"/>
          <p:cNvCxnSpPr/>
          <p:nvPr/>
        </p:nvCxnSpPr>
        <p:spPr>
          <a:xfrm>
            <a:off x="1618488" y="3038094"/>
            <a:ext cx="3995928"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18488" y="2496311"/>
            <a:ext cx="3995928"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1247" y="2414015"/>
            <a:ext cx="566928" cy="164592"/>
          </a:xfrm>
          <a:prstGeom prst="rect">
            <a:avLst/>
          </a:prstGeom>
          <a:noFill/>
        </p:spPr>
        <p:txBody>
          <a:bodyPr wrap="square" lIns="27432" tIns="9144" rIns="27432" bIns="9144">
            <a:spAutoFit/>
          </a:bodyPr>
          <a:lstStyle/>
          <a:p>
            <a:pPr algn="r">
              <a:defRPr sz="750" b="0">
                <a:solidFill>
                  <a:srgbClr val="646464"/>
                </a:solidFill>
                <a:latin typeface="Microsoft YaHei"/>
              </a:defRPr>
            </a:pPr>
            <a:r>
              <a:t>100%</a:t>
            </a:r>
          </a:p>
        </p:txBody>
      </p:sp>
      <p:sp>
        <p:nvSpPr>
          <p:cNvPr id="15" name="Rectangle 14"/>
          <p:cNvSpPr/>
          <p:nvPr/>
        </p:nvSpPr>
        <p:spPr>
          <a:xfrm>
            <a:off x="1890987" y="3504333"/>
            <a:ext cx="557783" cy="1159846"/>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91639" y="3293281"/>
            <a:ext cx="976122"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53.52%</a:t>
            </a:r>
          </a:p>
        </p:txBody>
      </p:sp>
      <p:sp>
        <p:nvSpPr>
          <p:cNvPr id="17" name="TextBox 16"/>
          <p:cNvSpPr txBox="1"/>
          <p:nvPr/>
        </p:nvSpPr>
        <p:spPr>
          <a:xfrm>
            <a:off x="1691639" y="4736592"/>
            <a:ext cx="976122"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t>GIST1M</a:t>
            </a:r>
          </a:p>
        </p:txBody>
      </p:sp>
      <p:sp>
        <p:nvSpPr>
          <p:cNvPr id="18" name="Rectangle 17"/>
          <p:cNvSpPr/>
          <p:nvPr/>
        </p:nvSpPr>
        <p:spPr>
          <a:xfrm>
            <a:off x="2816352" y="3683590"/>
            <a:ext cx="557783" cy="979541"/>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649474" y="3473586"/>
            <a:ext cx="976122"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45.20%</a:t>
            </a:r>
          </a:p>
        </p:txBody>
      </p:sp>
      <p:sp>
        <p:nvSpPr>
          <p:cNvPr id="20" name="TextBox 19"/>
          <p:cNvSpPr txBox="1"/>
          <p:nvPr/>
        </p:nvSpPr>
        <p:spPr>
          <a:xfrm>
            <a:off x="2649474" y="4736592"/>
            <a:ext cx="976122"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t>Text-Img10M</a:t>
            </a:r>
          </a:p>
        </p:txBody>
      </p:sp>
      <p:sp>
        <p:nvSpPr>
          <p:cNvPr id="21" name="Rectangle 20"/>
          <p:cNvSpPr/>
          <p:nvPr/>
        </p:nvSpPr>
        <p:spPr>
          <a:xfrm>
            <a:off x="3776762" y="3527171"/>
            <a:ext cx="552074" cy="1131674"/>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07308" y="3321453"/>
            <a:ext cx="976122"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52.22%</a:t>
            </a:r>
          </a:p>
        </p:txBody>
      </p:sp>
      <p:sp>
        <p:nvSpPr>
          <p:cNvPr id="23" name="TextBox 22"/>
          <p:cNvSpPr txBox="1"/>
          <p:nvPr/>
        </p:nvSpPr>
        <p:spPr>
          <a:xfrm>
            <a:off x="3607308" y="4736592"/>
            <a:ext cx="976122"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t>Deep100M</a:t>
            </a:r>
          </a:p>
        </p:txBody>
      </p:sp>
      <p:sp>
        <p:nvSpPr>
          <p:cNvPr id="24" name="Rectangle 23"/>
          <p:cNvSpPr/>
          <p:nvPr/>
        </p:nvSpPr>
        <p:spPr>
          <a:xfrm>
            <a:off x="4748022" y="3489141"/>
            <a:ext cx="552074" cy="1173933"/>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65142" y="3279194"/>
            <a:ext cx="976122"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54.17%</a:t>
            </a:r>
          </a:p>
        </p:txBody>
      </p:sp>
      <p:sp>
        <p:nvSpPr>
          <p:cNvPr id="26" name="TextBox 25"/>
          <p:cNvSpPr txBox="1"/>
          <p:nvPr/>
        </p:nvSpPr>
        <p:spPr>
          <a:xfrm>
            <a:off x="4565142" y="4736592"/>
            <a:ext cx="976122"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t>SIFT100M</a:t>
            </a:r>
          </a:p>
        </p:txBody>
      </p:sp>
      <p:sp>
        <p:nvSpPr>
          <p:cNvPr id="27" name="Rounded Rectangle 26"/>
          <p:cNvSpPr/>
          <p:nvPr/>
        </p:nvSpPr>
        <p:spPr>
          <a:xfrm>
            <a:off x="6190488" y="1901952"/>
            <a:ext cx="5239512" cy="3246120"/>
          </a:xfrm>
          <a:prstGeom prst="roundRect">
            <a:avLst/>
          </a:prstGeom>
          <a:solidFill>
            <a:srgbClr val="FFFFFF"/>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1600" b="0">
                <a:solidFill>
                  <a:srgbClr val="232323"/>
                </a:solidFill>
                <a:latin typeface="Microsoft YaHei"/>
              </a:defRPr>
            </a:pPr>
            <a:endParaRPr/>
          </a:p>
        </p:txBody>
      </p:sp>
      <p:sp>
        <p:nvSpPr>
          <p:cNvPr id="28" name="TextBox 27"/>
          <p:cNvSpPr txBox="1"/>
          <p:nvPr/>
        </p:nvSpPr>
        <p:spPr>
          <a:xfrm>
            <a:off x="6373368" y="2029968"/>
            <a:ext cx="4873752" cy="252377"/>
          </a:xfrm>
          <a:prstGeom prst="rect">
            <a:avLst/>
          </a:prstGeom>
          <a:noFill/>
        </p:spPr>
        <p:txBody>
          <a:bodyPr wrap="square" lIns="27432" tIns="9144" rIns="27432" bIns="9144">
            <a:spAutoFit/>
          </a:bodyPr>
          <a:lstStyle/>
          <a:p>
            <a:pPr algn="ctr">
              <a:defRPr sz="1520" b="1">
                <a:solidFill>
                  <a:srgbClr val="0C2A55"/>
                </a:solidFill>
                <a:latin typeface="Microsoft YaHei"/>
              </a:defRPr>
            </a:pPr>
            <a:r>
              <a:t>距离阶段内部数据移动占比</a:t>
            </a:r>
          </a:p>
        </p:txBody>
      </p:sp>
      <p:cxnSp>
        <p:nvCxnSpPr>
          <p:cNvPr id="29" name="Connector 28"/>
          <p:cNvCxnSpPr/>
          <p:nvPr/>
        </p:nvCxnSpPr>
        <p:spPr>
          <a:xfrm>
            <a:off x="7150607" y="4663440"/>
            <a:ext cx="3913633"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73368" y="4581144"/>
            <a:ext cx="566928" cy="164592"/>
          </a:xfrm>
          <a:prstGeom prst="rect">
            <a:avLst/>
          </a:prstGeom>
          <a:noFill/>
        </p:spPr>
        <p:txBody>
          <a:bodyPr wrap="square" lIns="27432" tIns="9144" rIns="27432" bIns="9144">
            <a:spAutoFit/>
          </a:bodyPr>
          <a:lstStyle/>
          <a:p>
            <a:pPr algn="r">
              <a:defRPr sz="750" b="0">
                <a:solidFill>
                  <a:srgbClr val="646464"/>
                </a:solidFill>
                <a:latin typeface="Microsoft YaHei"/>
              </a:defRPr>
            </a:pPr>
            <a:r>
              <a:t>0%</a:t>
            </a:r>
          </a:p>
        </p:txBody>
      </p:sp>
      <p:cxnSp>
        <p:nvCxnSpPr>
          <p:cNvPr id="31" name="Connector 30"/>
          <p:cNvCxnSpPr/>
          <p:nvPr/>
        </p:nvCxnSpPr>
        <p:spPr>
          <a:xfrm>
            <a:off x="7150607" y="4121657"/>
            <a:ext cx="3913633"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150607" y="3579875"/>
            <a:ext cx="3913633"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373368" y="3497579"/>
            <a:ext cx="566928" cy="164592"/>
          </a:xfrm>
          <a:prstGeom prst="rect">
            <a:avLst/>
          </a:prstGeom>
          <a:noFill/>
        </p:spPr>
        <p:txBody>
          <a:bodyPr wrap="square" lIns="27432" tIns="9144" rIns="27432" bIns="9144">
            <a:spAutoFit/>
          </a:bodyPr>
          <a:lstStyle/>
          <a:p>
            <a:pPr algn="r">
              <a:defRPr sz="750" b="0">
                <a:solidFill>
                  <a:srgbClr val="646464"/>
                </a:solidFill>
                <a:latin typeface="Microsoft YaHei"/>
              </a:defRPr>
            </a:pPr>
            <a:r>
              <a:t>50%</a:t>
            </a:r>
          </a:p>
        </p:txBody>
      </p:sp>
      <p:cxnSp>
        <p:nvCxnSpPr>
          <p:cNvPr id="34" name="Connector 33"/>
          <p:cNvCxnSpPr/>
          <p:nvPr/>
        </p:nvCxnSpPr>
        <p:spPr>
          <a:xfrm>
            <a:off x="7150607" y="3038094"/>
            <a:ext cx="3913633"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50607" y="2496311"/>
            <a:ext cx="3913633" cy="0"/>
          </a:xfrm>
          <a:prstGeom prst="line">
            <a:avLst/>
          </a:prstGeom>
          <a:ln w="7620">
            <a:solidFill>
              <a:srgbClr val="E6E6E6"/>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373368" y="2414015"/>
            <a:ext cx="566928" cy="164592"/>
          </a:xfrm>
          <a:prstGeom prst="rect">
            <a:avLst/>
          </a:prstGeom>
          <a:noFill/>
        </p:spPr>
        <p:txBody>
          <a:bodyPr wrap="square" lIns="27432" tIns="9144" rIns="27432" bIns="9144">
            <a:spAutoFit/>
          </a:bodyPr>
          <a:lstStyle/>
          <a:p>
            <a:pPr algn="r">
              <a:defRPr sz="750" b="0">
                <a:solidFill>
                  <a:srgbClr val="646464"/>
                </a:solidFill>
                <a:latin typeface="Microsoft YaHei"/>
              </a:defRPr>
            </a:pPr>
            <a:r>
              <a:t>100%</a:t>
            </a:r>
          </a:p>
        </p:txBody>
      </p:sp>
      <p:sp>
        <p:nvSpPr>
          <p:cNvPr id="37" name="Rectangle 36"/>
          <p:cNvSpPr/>
          <p:nvPr/>
        </p:nvSpPr>
        <p:spPr>
          <a:xfrm>
            <a:off x="7406375" y="2514987"/>
            <a:ext cx="552725" cy="2146973"/>
          </a:xfrm>
          <a:prstGeom prst="rect">
            <a:avLst/>
          </a:prstGeom>
          <a:solidFill>
            <a:srgbClr val="0070C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59" y="2306154"/>
            <a:ext cx="955548"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99.07%</a:t>
            </a:r>
          </a:p>
        </p:txBody>
      </p:sp>
      <p:sp>
        <p:nvSpPr>
          <p:cNvPr id="39" name="TextBox 38"/>
          <p:cNvSpPr txBox="1"/>
          <p:nvPr/>
        </p:nvSpPr>
        <p:spPr>
          <a:xfrm>
            <a:off x="7223759" y="4736592"/>
            <a:ext cx="955548"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t>GIST1M</a:t>
            </a:r>
          </a:p>
        </p:txBody>
      </p:sp>
      <p:sp>
        <p:nvSpPr>
          <p:cNvPr id="40" name="Rectangle 39"/>
          <p:cNvSpPr/>
          <p:nvPr/>
        </p:nvSpPr>
        <p:spPr>
          <a:xfrm>
            <a:off x="8294412" y="2501513"/>
            <a:ext cx="566928" cy="2162793"/>
          </a:xfrm>
          <a:prstGeom prst="rect">
            <a:avLst/>
          </a:prstGeom>
          <a:solidFill>
            <a:srgbClr val="0070C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161019" y="2290334"/>
            <a:ext cx="955548"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99.80%</a:t>
            </a:r>
          </a:p>
        </p:txBody>
      </p:sp>
      <p:sp>
        <p:nvSpPr>
          <p:cNvPr id="42" name="TextBox 41"/>
          <p:cNvSpPr txBox="1"/>
          <p:nvPr/>
        </p:nvSpPr>
        <p:spPr>
          <a:xfrm>
            <a:off x="8161019" y="4736592"/>
            <a:ext cx="955548"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t>Text-Img10M</a:t>
            </a:r>
          </a:p>
        </p:txBody>
      </p:sp>
      <p:sp>
        <p:nvSpPr>
          <p:cNvPr id="43" name="Rectangle 42"/>
          <p:cNvSpPr/>
          <p:nvPr/>
        </p:nvSpPr>
        <p:spPr>
          <a:xfrm>
            <a:off x="9279032" y="2501513"/>
            <a:ext cx="566928" cy="2162793"/>
          </a:xfrm>
          <a:prstGeom prst="rect">
            <a:avLst/>
          </a:prstGeom>
          <a:solidFill>
            <a:srgbClr val="0070C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098280" y="2290334"/>
            <a:ext cx="955548"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99.80%</a:t>
            </a:r>
          </a:p>
        </p:txBody>
      </p:sp>
      <p:sp>
        <p:nvSpPr>
          <p:cNvPr id="45" name="TextBox 44"/>
          <p:cNvSpPr txBox="1"/>
          <p:nvPr/>
        </p:nvSpPr>
        <p:spPr>
          <a:xfrm>
            <a:off x="9098280" y="4736592"/>
            <a:ext cx="955548"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t>Deep100M</a:t>
            </a:r>
          </a:p>
        </p:txBody>
      </p:sp>
      <p:sp>
        <p:nvSpPr>
          <p:cNvPr id="46" name="Rectangle 45"/>
          <p:cNvSpPr/>
          <p:nvPr/>
        </p:nvSpPr>
        <p:spPr>
          <a:xfrm>
            <a:off x="10216897" y="2496145"/>
            <a:ext cx="566928" cy="2161926"/>
          </a:xfrm>
          <a:prstGeom prst="rect">
            <a:avLst/>
          </a:prstGeom>
          <a:solidFill>
            <a:srgbClr val="0070C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035540" y="2291201"/>
            <a:ext cx="955548" cy="182880"/>
          </a:xfrm>
          <a:prstGeom prst="rect">
            <a:avLst/>
          </a:prstGeom>
          <a:noFill/>
        </p:spPr>
        <p:txBody>
          <a:bodyPr wrap="square" lIns="27432" tIns="9144" rIns="27432" bIns="9144">
            <a:spAutoFit/>
          </a:bodyPr>
          <a:lstStyle/>
          <a:p>
            <a:pPr algn="ctr">
              <a:defRPr sz="800" b="1">
                <a:solidFill>
                  <a:srgbClr val="0C2A55"/>
                </a:solidFill>
                <a:latin typeface="Microsoft YaHei"/>
              </a:defRPr>
            </a:pPr>
            <a:r>
              <a:t>99.76%</a:t>
            </a:r>
          </a:p>
        </p:txBody>
      </p:sp>
      <p:sp>
        <p:nvSpPr>
          <p:cNvPr id="48" name="TextBox 47"/>
          <p:cNvSpPr txBox="1"/>
          <p:nvPr/>
        </p:nvSpPr>
        <p:spPr>
          <a:xfrm>
            <a:off x="10035540" y="4736592"/>
            <a:ext cx="955548" cy="201168"/>
          </a:xfrm>
          <a:prstGeom prst="rect">
            <a:avLst/>
          </a:prstGeom>
          <a:noFill/>
        </p:spPr>
        <p:txBody>
          <a:bodyPr wrap="square" lIns="27432" tIns="9144" rIns="27432" bIns="9144">
            <a:spAutoFit/>
          </a:bodyPr>
          <a:lstStyle/>
          <a:p>
            <a:pPr algn="ctr">
              <a:defRPr sz="760" b="0">
                <a:solidFill>
                  <a:srgbClr val="232323"/>
                </a:solidFill>
                <a:latin typeface="Microsoft YaHei"/>
              </a:defRPr>
            </a:pPr>
            <a:r>
              <a:rPr dirty="0"/>
              <a:t>SIFT100M</a:t>
            </a:r>
          </a:p>
        </p:txBody>
      </p:sp>
      <p:grpSp>
        <p:nvGrpSpPr>
          <p:cNvPr id="80" name="组合 79">
            <a:extLst>
              <a:ext uri="{FF2B5EF4-FFF2-40B4-BE49-F238E27FC236}">
                <a16:creationId xmlns:a16="http://schemas.microsoft.com/office/drawing/2014/main" id="{D753419F-886D-3E9D-ED31-8BCF02FAE69D}"/>
              </a:ext>
            </a:extLst>
          </p:cNvPr>
          <p:cNvGrpSpPr/>
          <p:nvPr/>
        </p:nvGrpSpPr>
        <p:grpSpPr>
          <a:xfrm>
            <a:off x="658368" y="5287518"/>
            <a:ext cx="7296912" cy="1058417"/>
            <a:chOff x="868680" y="5687568"/>
            <a:chExt cx="7086600" cy="658367"/>
          </a:xfrm>
        </p:grpSpPr>
        <p:sp>
          <p:nvSpPr>
            <p:cNvPr id="51" name="Rectangle 50"/>
            <p:cNvSpPr/>
            <p:nvPr/>
          </p:nvSpPr>
          <p:spPr>
            <a:xfrm>
              <a:off x="868680" y="5687568"/>
              <a:ext cx="1325880" cy="131673"/>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60" b="1">
                  <a:solidFill>
                    <a:srgbClr val="FFFFFF"/>
                  </a:solidFill>
                  <a:latin typeface="Microsoft YaHei"/>
                </a:defRPr>
              </a:pPr>
              <a:r>
                <a:t>数据集</a:t>
              </a:r>
            </a:p>
          </p:txBody>
        </p:sp>
        <p:sp>
          <p:nvSpPr>
            <p:cNvPr id="52" name="Rectangle 51"/>
            <p:cNvSpPr/>
            <p:nvPr/>
          </p:nvSpPr>
          <p:spPr>
            <a:xfrm>
              <a:off x="2194560" y="5687568"/>
              <a:ext cx="1417320" cy="131673"/>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60" b="1">
                  <a:solidFill>
                    <a:srgbClr val="FFFFFF"/>
                  </a:solidFill>
                  <a:latin typeface="Microsoft YaHei"/>
                </a:defRPr>
              </a:pPr>
              <a:r>
                <a:t>距离阶段占全局</a:t>
              </a:r>
            </a:p>
          </p:txBody>
        </p:sp>
        <p:sp>
          <p:nvSpPr>
            <p:cNvPr id="53" name="Rectangle 52"/>
            <p:cNvSpPr/>
            <p:nvPr/>
          </p:nvSpPr>
          <p:spPr>
            <a:xfrm>
              <a:off x="3611880" y="5687568"/>
              <a:ext cx="1417320" cy="131673"/>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60" b="1">
                  <a:solidFill>
                    <a:srgbClr val="FFFFFF"/>
                  </a:solidFill>
                  <a:latin typeface="Microsoft YaHei"/>
                </a:defRPr>
              </a:pPr>
              <a:r>
                <a:t>阶段内数据移动</a:t>
              </a:r>
            </a:p>
          </p:txBody>
        </p:sp>
        <p:sp>
          <p:nvSpPr>
            <p:cNvPr id="54" name="Rectangle 53"/>
            <p:cNvSpPr/>
            <p:nvPr/>
          </p:nvSpPr>
          <p:spPr>
            <a:xfrm>
              <a:off x="5029200" y="5687568"/>
              <a:ext cx="1417320" cy="131673"/>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60" b="1">
                  <a:solidFill>
                    <a:srgbClr val="FFFFFF"/>
                  </a:solidFill>
                  <a:latin typeface="Microsoft YaHei"/>
                </a:defRPr>
              </a:pPr>
              <a:r>
                <a:t>全局数据移动</a:t>
              </a:r>
            </a:p>
          </p:txBody>
        </p:sp>
        <p:sp>
          <p:nvSpPr>
            <p:cNvPr id="55" name="Rectangle 54"/>
            <p:cNvSpPr/>
            <p:nvPr/>
          </p:nvSpPr>
          <p:spPr>
            <a:xfrm>
              <a:off x="6446520" y="5687568"/>
              <a:ext cx="1508760" cy="131673"/>
            </a:xfrm>
            <a:prstGeom prst="rect">
              <a:avLst/>
            </a:prstGeom>
            <a:solidFill>
              <a:srgbClr val="1F56A5"/>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60" b="1">
                  <a:solidFill>
                    <a:srgbClr val="FFFFFF"/>
                  </a:solidFill>
                  <a:latin typeface="Microsoft YaHei"/>
                </a:defRPr>
              </a:pPr>
              <a:r>
                <a:t>传输放大</a:t>
              </a:r>
            </a:p>
          </p:txBody>
        </p:sp>
        <p:sp>
          <p:nvSpPr>
            <p:cNvPr id="56" name="Rectangle 55"/>
            <p:cNvSpPr/>
            <p:nvPr/>
          </p:nvSpPr>
          <p:spPr>
            <a:xfrm>
              <a:off x="868680" y="5819241"/>
              <a:ext cx="132588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GIST1M</a:t>
              </a:r>
            </a:p>
          </p:txBody>
        </p:sp>
        <p:sp>
          <p:nvSpPr>
            <p:cNvPr id="57" name="Rectangle 56"/>
            <p:cNvSpPr/>
            <p:nvPr/>
          </p:nvSpPr>
          <p:spPr>
            <a:xfrm>
              <a:off x="2194560" y="5819241"/>
              <a:ext cx="141732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53.52%</a:t>
              </a:r>
            </a:p>
          </p:txBody>
        </p:sp>
        <p:sp>
          <p:nvSpPr>
            <p:cNvPr id="58" name="Rectangle 57"/>
            <p:cNvSpPr/>
            <p:nvPr/>
          </p:nvSpPr>
          <p:spPr>
            <a:xfrm>
              <a:off x="3611880" y="5819241"/>
              <a:ext cx="141732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99.07%</a:t>
              </a:r>
            </a:p>
          </p:txBody>
        </p:sp>
        <p:sp>
          <p:nvSpPr>
            <p:cNvPr id="59" name="Rectangle 58"/>
            <p:cNvSpPr/>
            <p:nvPr/>
          </p:nvSpPr>
          <p:spPr>
            <a:xfrm>
              <a:off x="5029200" y="5819241"/>
              <a:ext cx="141732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53.0%</a:t>
              </a:r>
            </a:p>
          </p:txBody>
        </p:sp>
        <p:sp>
          <p:nvSpPr>
            <p:cNvPr id="60" name="Rectangle 59"/>
            <p:cNvSpPr/>
            <p:nvPr/>
          </p:nvSpPr>
          <p:spPr>
            <a:xfrm>
              <a:off x="6446520" y="5819241"/>
              <a:ext cx="150876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rPr b="1">
                  <a:solidFill>
                    <a:srgbClr val="FF0000"/>
                  </a:solidFill>
                </a:rPr>
                <a:t>960×</a:t>
              </a:r>
            </a:p>
          </p:txBody>
        </p:sp>
        <p:sp>
          <p:nvSpPr>
            <p:cNvPr id="61" name="Rectangle 60"/>
            <p:cNvSpPr/>
            <p:nvPr/>
          </p:nvSpPr>
          <p:spPr>
            <a:xfrm>
              <a:off x="868680" y="5950915"/>
              <a:ext cx="132588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Text-Img10M</a:t>
              </a:r>
            </a:p>
          </p:txBody>
        </p:sp>
        <p:sp>
          <p:nvSpPr>
            <p:cNvPr id="62" name="Rectangle 61"/>
            <p:cNvSpPr/>
            <p:nvPr/>
          </p:nvSpPr>
          <p:spPr>
            <a:xfrm>
              <a:off x="2194560" y="5950915"/>
              <a:ext cx="141732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45.20%</a:t>
              </a:r>
            </a:p>
          </p:txBody>
        </p:sp>
        <p:sp>
          <p:nvSpPr>
            <p:cNvPr id="63" name="Rectangle 62"/>
            <p:cNvSpPr/>
            <p:nvPr/>
          </p:nvSpPr>
          <p:spPr>
            <a:xfrm>
              <a:off x="3611880" y="5950915"/>
              <a:ext cx="141732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99.80%</a:t>
              </a:r>
            </a:p>
          </p:txBody>
        </p:sp>
        <p:sp>
          <p:nvSpPr>
            <p:cNvPr id="64" name="Rectangle 63"/>
            <p:cNvSpPr/>
            <p:nvPr/>
          </p:nvSpPr>
          <p:spPr>
            <a:xfrm>
              <a:off x="5029200" y="5950915"/>
              <a:ext cx="141732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45.1%</a:t>
              </a:r>
            </a:p>
          </p:txBody>
        </p:sp>
        <p:sp>
          <p:nvSpPr>
            <p:cNvPr id="65" name="Rectangle 64"/>
            <p:cNvSpPr/>
            <p:nvPr/>
          </p:nvSpPr>
          <p:spPr>
            <a:xfrm>
              <a:off x="6446520" y="5950915"/>
              <a:ext cx="150876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rPr b="1">
                  <a:solidFill>
                    <a:srgbClr val="FF0000"/>
                  </a:solidFill>
                </a:rPr>
                <a:t>200×</a:t>
              </a:r>
            </a:p>
          </p:txBody>
        </p:sp>
        <p:sp>
          <p:nvSpPr>
            <p:cNvPr id="66" name="Rectangle 65"/>
            <p:cNvSpPr/>
            <p:nvPr/>
          </p:nvSpPr>
          <p:spPr>
            <a:xfrm>
              <a:off x="868680" y="6082588"/>
              <a:ext cx="132588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Deep100M</a:t>
              </a:r>
            </a:p>
          </p:txBody>
        </p:sp>
        <p:sp>
          <p:nvSpPr>
            <p:cNvPr id="67" name="Rectangle 66"/>
            <p:cNvSpPr/>
            <p:nvPr/>
          </p:nvSpPr>
          <p:spPr>
            <a:xfrm>
              <a:off x="2194560" y="6082588"/>
              <a:ext cx="141732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52.22%</a:t>
              </a:r>
            </a:p>
          </p:txBody>
        </p:sp>
        <p:sp>
          <p:nvSpPr>
            <p:cNvPr id="68" name="Rectangle 67"/>
            <p:cNvSpPr/>
            <p:nvPr/>
          </p:nvSpPr>
          <p:spPr>
            <a:xfrm>
              <a:off x="3611880" y="6082588"/>
              <a:ext cx="141732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99.80%</a:t>
              </a:r>
            </a:p>
          </p:txBody>
        </p:sp>
        <p:sp>
          <p:nvSpPr>
            <p:cNvPr id="69" name="Rectangle 68"/>
            <p:cNvSpPr/>
            <p:nvPr/>
          </p:nvSpPr>
          <p:spPr>
            <a:xfrm>
              <a:off x="5029200" y="6082588"/>
              <a:ext cx="141732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52.1%</a:t>
              </a:r>
            </a:p>
          </p:txBody>
        </p:sp>
        <p:sp>
          <p:nvSpPr>
            <p:cNvPr id="70" name="Rectangle 69"/>
            <p:cNvSpPr/>
            <p:nvPr/>
          </p:nvSpPr>
          <p:spPr>
            <a:xfrm>
              <a:off x="6446520" y="6082588"/>
              <a:ext cx="1508760" cy="131673"/>
            </a:xfrm>
            <a:prstGeom prst="rect">
              <a:avLst/>
            </a:prstGeom>
            <a:solidFill>
              <a:srgbClr val="F9FC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rPr b="1">
                  <a:solidFill>
                    <a:srgbClr val="FF0000"/>
                  </a:solidFill>
                </a:rPr>
                <a:t>96×</a:t>
              </a:r>
            </a:p>
          </p:txBody>
        </p:sp>
        <p:sp>
          <p:nvSpPr>
            <p:cNvPr id="71" name="Rectangle 70"/>
            <p:cNvSpPr/>
            <p:nvPr/>
          </p:nvSpPr>
          <p:spPr>
            <a:xfrm>
              <a:off x="868680" y="6214262"/>
              <a:ext cx="132588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SIFT100M</a:t>
              </a:r>
            </a:p>
          </p:txBody>
        </p:sp>
        <p:sp>
          <p:nvSpPr>
            <p:cNvPr id="72" name="Rectangle 71"/>
            <p:cNvSpPr/>
            <p:nvPr/>
          </p:nvSpPr>
          <p:spPr>
            <a:xfrm>
              <a:off x="2194560" y="6214262"/>
              <a:ext cx="141732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54.17%</a:t>
              </a:r>
            </a:p>
          </p:txBody>
        </p:sp>
        <p:sp>
          <p:nvSpPr>
            <p:cNvPr id="73" name="Rectangle 72"/>
            <p:cNvSpPr/>
            <p:nvPr/>
          </p:nvSpPr>
          <p:spPr>
            <a:xfrm>
              <a:off x="3611880" y="6214262"/>
              <a:ext cx="141732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99.76%</a:t>
              </a:r>
            </a:p>
          </p:txBody>
        </p:sp>
        <p:sp>
          <p:nvSpPr>
            <p:cNvPr id="74" name="Rectangle 73"/>
            <p:cNvSpPr/>
            <p:nvPr/>
          </p:nvSpPr>
          <p:spPr>
            <a:xfrm>
              <a:off x="5029200" y="6214262"/>
              <a:ext cx="141732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t>54.0%</a:t>
              </a:r>
            </a:p>
          </p:txBody>
        </p:sp>
        <p:sp>
          <p:nvSpPr>
            <p:cNvPr id="75" name="Rectangle 74"/>
            <p:cNvSpPr/>
            <p:nvPr/>
          </p:nvSpPr>
          <p:spPr>
            <a:xfrm>
              <a:off x="6446520" y="6214262"/>
              <a:ext cx="1508760" cy="131673"/>
            </a:xfrm>
            <a:prstGeom prst="rect">
              <a:avLst/>
            </a:prstGeom>
            <a:solidFill>
              <a:srgbClr val="F1F7FF"/>
            </a:solidFill>
            <a:ln w="15240">
              <a:solidFill>
                <a:srgbClr val="C8D7EB"/>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defRPr sz="719" b="0">
                  <a:solidFill>
                    <a:srgbClr val="232323"/>
                  </a:solidFill>
                  <a:latin typeface="Microsoft YaHei"/>
                </a:defRPr>
              </a:pPr>
              <a:r>
                <a:rPr b="1">
                  <a:solidFill>
                    <a:srgbClr val="FF0000"/>
                  </a:solidFill>
                </a:rPr>
                <a:t>32×</a:t>
              </a:r>
            </a:p>
          </p:txBody>
        </p:sp>
      </p:grpSp>
      <p:sp>
        <p:nvSpPr>
          <p:cNvPr id="77" name="TextBox 76"/>
          <p:cNvSpPr txBox="1"/>
          <p:nvPr/>
        </p:nvSpPr>
        <p:spPr>
          <a:xfrm>
            <a:off x="8577072" y="5468112"/>
            <a:ext cx="2651760" cy="241605"/>
          </a:xfrm>
          <a:prstGeom prst="rect">
            <a:avLst/>
          </a:prstGeom>
          <a:noFill/>
        </p:spPr>
        <p:txBody>
          <a:bodyPr wrap="square" lIns="27432" tIns="9144" rIns="27432" bIns="9144">
            <a:spAutoFit/>
          </a:bodyPr>
          <a:lstStyle/>
          <a:p>
            <a:pPr algn="ctr">
              <a:defRPr sz="1450" b="1">
                <a:solidFill>
                  <a:srgbClr val="C1392B"/>
                </a:solidFill>
                <a:latin typeface="Microsoft YaHei"/>
              </a:defRPr>
            </a:pPr>
            <a:r>
              <a:rPr dirty="0" err="1">
                <a:solidFill>
                  <a:srgbClr val="FF0000"/>
                </a:solidFill>
              </a:rPr>
              <a:t>核心结论</a:t>
            </a:r>
            <a:endParaRPr dirty="0">
              <a:solidFill>
                <a:srgbClr val="FF0000"/>
              </a:solidFill>
            </a:endParaRPr>
          </a:p>
        </p:txBody>
      </p:sp>
      <p:sp>
        <p:nvSpPr>
          <p:cNvPr id="78" name="TextBox 77"/>
          <p:cNvSpPr txBox="1"/>
          <p:nvPr/>
        </p:nvSpPr>
        <p:spPr>
          <a:xfrm>
            <a:off x="8577072" y="5730565"/>
            <a:ext cx="2633472" cy="563231"/>
          </a:xfrm>
          <a:prstGeom prst="rect">
            <a:avLst/>
          </a:prstGeom>
          <a:noFill/>
        </p:spPr>
        <p:txBody>
          <a:bodyPr wrap="square" lIns="27432" tIns="9144" rIns="27432" bIns="9144" anchor="ctr">
            <a:spAutoFit/>
          </a:bodyPr>
          <a:lstStyle/>
          <a:p>
            <a:pPr algn="ctr">
              <a:defRPr sz="1180" b="1">
                <a:solidFill>
                  <a:srgbClr val="232323"/>
                </a:solidFill>
                <a:latin typeface="Microsoft YaHei"/>
              </a:defRPr>
            </a:pPr>
            <a:r>
              <a:rPr>
                <a:latin typeface="黑体" panose="02010609060101010101" pitchFamily="49" charset="-122"/>
              </a:rPr>
              <a:t>数据移动本身已占整个 update 时间的近一半；</a:t>
            </a:r>
            <a:r>
              <a:rPr>
                <a:latin typeface="Times New Roman" panose="02020603050405020304" pitchFamily="18" charset="0"/>
                <a:cs typeface="Times New Roman" panose="02020603050405020304" pitchFamily="18" charset="0"/>
              </a:rPr>
              <a:t>纯本地距离计算仅约 0.1%–0.5%。</a:t>
            </a:r>
          </a:p>
        </p:txBody>
      </p:sp>
      <p:sp>
        <p:nvSpPr>
          <p:cNvPr id="79" name="Rounded Rectangle 78"/>
          <p:cNvSpPr/>
          <p:nvPr/>
        </p:nvSpPr>
        <p:spPr>
          <a:xfrm>
            <a:off x="658368" y="6437376"/>
            <a:ext cx="10771632" cy="329184"/>
          </a:xfrm>
          <a:prstGeom prst="roundRect">
            <a:avLst/>
          </a:prstGeom>
          <a:noFill/>
          <a:ln w="15240">
            <a:solidFill>
              <a:schemeClr val="tx1"/>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dirty="0" err="1">
                <a:solidFill>
                  <a:schemeClr val="tx1"/>
                </a:solidFill>
                <a:latin typeface="黑体" panose="02010609060101010101" pitchFamily="49" charset="-122"/>
                <a:ea typeface="黑体" panose="02010609060101010101" pitchFamily="49" charset="-122"/>
              </a:rPr>
              <a:t>传统存算分离更新中，距离阶段的主要成本不是算距，而是候选向量从存储侧到计算侧的搬运</a:t>
            </a:r>
            <a:r>
              <a:rPr sz="1400" b="1" dirty="0">
                <a:solidFill>
                  <a:srgbClr val="0C2A55"/>
                </a:solidFill>
                <a:latin typeface="黑体" panose="02010609060101010101" pitchFamily="49" charset="-122"/>
                <a:ea typeface="黑体" panose="02010609060101010101" pitchFamily="49" charset="-122"/>
              </a:rPr>
              <a:t>。</a:t>
            </a:r>
          </a:p>
        </p:txBody>
      </p:sp>
      <p:sp>
        <p:nvSpPr>
          <p:cNvPr id="81" name="TextBox 2">
            <a:extLst>
              <a:ext uri="{FF2B5EF4-FFF2-40B4-BE49-F238E27FC236}">
                <a16:creationId xmlns:a16="http://schemas.microsoft.com/office/drawing/2014/main" id="{1DB86686-127E-4990-9779-B2EEA851C69C}"/>
              </a:ext>
            </a:extLst>
          </p:cNvPr>
          <p:cNvSpPr txBox="1"/>
          <p:nvPr/>
        </p:nvSpPr>
        <p:spPr>
          <a:xfrm>
            <a:off x="1508760" y="1024128"/>
            <a:ext cx="9692640" cy="523220"/>
          </a:xfrm>
          <a:prstGeom prst="rect">
            <a:avLst/>
          </a:prstGeom>
          <a:noFill/>
        </p:spPr>
        <p:txBody>
          <a:bodyPr wrap="square">
            <a:spAutoFit/>
          </a:bodyPr>
          <a:lstStyle/>
          <a:p>
            <a:pPr>
              <a:defRPr sz="2600" b="0">
                <a:solidFill>
                  <a:srgbClr val="414141"/>
                </a:solidFill>
                <a:latin typeface="Microsoft YaHei"/>
              </a:defRPr>
            </a:pPr>
            <a:r>
              <a:rPr sz="2800" dirty="0" err="1">
                <a:solidFill>
                  <a:schemeClr val="tx1">
                    <a:lumMod val="75000"/>
                    <a:lumOff val="25000"/>
                  </a:schemeClr>
                </a:solidFill>
              </a:rPr>
              <a:t>研究</a:t>
            </a:r>
            <a:r>
              <a:rPr lang="zh-CN" altLang="en-US" sz="2800" dirty="0">
                <a:solidFill>
                  <a:schemeClr val="tx1">
                    <a:lumMod val="75000"/>
                    <a:lumOff val="25000"/>
                  </a:schemeClr>
                </a:solidFill>
              </a:rPr>
              <a:t>背景</a:t>
            </a:r>
            <a:r>
              <a:rPr sz="2800" dirty="0">
                <a:solidFill>
                  <a:schemeClr val="tx1">
                    <a:lumMod val="75000"/>
                    <a:lumOff val="25000"/>
                  </a:schemeClr>
                </a:solidFill>
              </a:rPr>
              <a:t> – </a:t>
            </a:r>
            <a:r>
              <a:rPr sz="2800" dirty="0" err="1">
                <a:solidFill>
                  <a:schemeClr val="tx1">
                    <a:lumMod val="75000"/>
                    <a:lumOff val="25000"/>
                  </a:schemeClr>
                </a:solidFill>
              </a:rPr>
              <a:t>验证</a:t>
            </a:r>
            <a:r>
              <a:rPr lang="zh-CN" altLang="en-US" sz="2800" dirty="0">
                <a:solidFill>
                  <a:schemeClr val="tx1">
                    <a:lumMod val="75000"/>
                    <a:lumOff val="25000"/>
                  </a:schemeClr>
                </a:solidFill>
              </a:rPr>
              <a:t>传统向量</a:t>
            </a:r>
            <a:r>
              <a:rPr sz="2800" dirty="0" err="1">
                <a:solidFill>
                  <a:schemeClr val="tx1">
                    <a:lumMod val="75000"/>
                    <a:lumOff val="25000"/>
                  </a:schemeClr>
                </a:solidFill>
              </a:rPr>
              <a:t>更新中的数据移动开销</a:t>
            </a:r>
            <a:endParaRPr sz="2800" dirty="0">
              <a:solidFill>
                <a:schemeClr val="tx1">
                  <a:lumMod val="75000"/>
                  <a:lumOff val="25000"/>
                </a:schemeClr>
              </a:solidFill>
            </a:endParaRPr>
          </a:p>
        </p:txBody>
      </p:sp>
      <p:sp>
        <p:nvSpPr>
          <p:cNvPr id="82" name="标题 3">
            <a:extLst>
              <a:ext uri="{FF2B5EF4-FFF2-40B4-BE49-F238E27FC236}">
                <a16:creationId xmlns:a16="http://schemas.microsoft.com/office/drawing/2014/main" id="{6E078CDD-294E-48E7-B465-983F073F9288}"/>
              </a:ext>
            </a:extLst>
          </p:cNvPr>
          <p:cNvSpPr txBox="1">
            <a:spLocks/>
          </p:cNvSpPr>
          <p:nvPr/>
        </p:nvSpPr>
        <p:spPr>
          <a:xfrm>
            <a:off x="551384" y="980728"/>
            <a:ext cx="730424" cy="555464"/>
          </a:xfrm>
          <a:prstGeom prst="rect">
            <a:avLst/>
          </a:prstGeom>
          <a:solidFill>
            <a:srgbClr val="1588C7"/>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pPr>
            <a:r>
              <a:rPr lang="en-US" altLang="zh-CN" sz="3200" b="1" dirty="0">
                <a:solidFill>
                  <a:schemeClr val="bg1"/>
                </a:solidFill>
                <a:latin typeface="微软雅黑" panose="020B0503020204020204" charset="-122"/>
                <a:ea typeface="微软雅黑" panose="020B0503020204020204" charset="-122"/>
              </a:rPr>
              <a:t>01</a:t>
            </a:r>
            <a:endParaRPr lang="zh-CN" altLang="en-US" sz="3200" b="1" dirty="0">
              <a:solidFill>
                <a:schemeClr val="bg1"/>
              </a:solidFill>
              <a:latin typeface="微软雅黑" panose="020B0503020204020204" charset="-122"/>
              <a:ea typeface="微软雅黑" panose="020B0503020204020204" charset="-122"/>
            </a:endParaRPr>
          </a:p>
        </p:txBody>
      </p:sp>
      <p:pic>
        <p:nvPicPr>
          <p:cNvPr id="2" name="图片 1">
            <a:extLst>
              <a:ext uri="{FF2B5EF4-FFF2-40B4-BE49-F238E27FC236}">
                <a16:creationId xmlns:a16="http://schemas.microsoft.com/office/drawing/2014/main" id="{8DFD5B13-105C-4F96-B9A4-6F657168288B}"/>
              </a:ext>
            </a:extLst>
          </p:cNvPr>
          <p:cNvPicPr>
            <a:picLocks noChangeAspect="1"/>
          </p:cNvPicPr>
          <p:nvPr/>
        </p:nvPicPr>
        <p:blipFill>
          <a:blip r:embed="rId3"/>
          <a:stretch>
            <a:fillRect/>
          </a:stretch>
        </p:blipFill>
        <p:spPr>
          <a:xfrm>
            <a:off x="7987933" y="5162775"/>
            <a:ext cx="4091627" cy="175161"/>
          </a:xfrm>
          <a:prstGeom prst="rect">
            <a:avLst/>
          </a:prstGeom>
        </p:spPr>
      </p:pic>
      <p:pic>
        <p:nvPicPr>
          <p:cNvPr id="50" name="图片 49">
            <a:extLst>
              <a:ext uri="{FF2B5EF4-FFF2-40B4-BE49-F238E27FC236}">
                <a16:creationId xmlns:a16="http://schemas.microsoft.com/office/drawing/2014/main" id="{65CC42B5-233F-41ED-9C9B-FB1E864007FE}"/>
              </a:ext>
            </a:extLst>
          </p:cNvPr>
          <p:cNvPicPr>
            <a:picLocks noChangeAspect="1"/>
          </p:cNvPicPr>
          <p:nvPr/>
        </p:nvPicPr>
        <p:blipFill>
          <a:blip r:embed="rId4"/>
          <a:stretch>
            <a:fillRect/>
          </a:stretch>
        </p:blipFill>
        <p:spPr>
          <a:xfrm>
            <a:off x="11311127" y="4985384"/>
            <a:ext cx="114301" cy="190501"/>
          </a:xfrm>
          <a:prstGeom prst="rect">
            <a:avLst/>
          </a:prstGeom>
        </p:spPr>
      </p:pic>
      <p:sp>
        <p:nvSpPr>
          <p:cNvPr id="83" name="新月形 82">
            <a:extLst>
              <a:ext uri="{FF2B5EF4-FFF2-40B4-BE49-F238E27FC236}">
                <a16:creationId xmlns:a16="http://schemas.microsoft.com/office/drawing/2014/main" id="{11844165-FD35-4E0C-A5D2-DE6177D3B720}"/>
              </a:ext>
            </a:extLst>
          </p:cNvPr>
          <p:cNvSpPr/>
          <p:nvPr/>
        </p:nvSpPr>
        <p:spPr>
          <a:xfrm rot="12594498">
            <a:off x="11104589" y="4220801"/>
            <a:ext cx="594918" cy="1257978"/>
          </a:xfrm>
          <a:prstGeom prst="mo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灯片编号占位符 1">
            <a:extLst>
              <a:ext uri="{FF2B5EF4-FFF2-40B4-BE49-F238E27FC236}">
                <a16:creationId xmlns:a16="http://schemas.microsoft.com/office/drawing/2014/main" id="{5DF39690-7333-4434-BA59-B72D9246B625}"/>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5</a:t>
            </a:fld>
            <a:endParaRPr lang="en-US" altLang="zh-CN" dirty="0"/>
          </a:p>
        </p:txBody>
      </p:sp>
    </p:spTree>
    <p:extLst>
      <p:ext uri="{BB962C8B-B14F-4D97-AF65-F5344CB8AC3E}">
        <p14:creationId xmlns:p14="http://schemas.microsoft.com/office/powerpoint/2010/main" val="3262806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410EA-34C7-2A64-0590-48F7F0F2788D}"/>
            </a:ext>
          </a:extLst>
        </p:cNvPr>
        <p:cNvGrpSpPr/>
        <p:nvPr/>
      </p:nvGrpSpPr>
      <p:grpSpPr>
        <a:xfrm>
          <a:off x="0" y="0"/>
          <a:ext cx="0" cy="0"/>
          <a:chOff x="0" y="0"/>
          <a:chExt cx="0" cy="0"/>
        </a:xfrm>
      </p:grpSpPr>
      <p:sp>
        <p:nvSpPr>
          <p:cNvPr id="14" name="文本框 13">
            <a:extLst>
              <a:ext uri="{FF2B5EF4-FFF2-40B4-BE49-F238E27FC236}">
                <a16:creationId xmlns:a16="http://schemas.microsoft.com/office/drawing/2014/main" id="{017A0DEE-F3A3-9EC4-25BB-F166BB64249E}"/>
              </a:ext>
            </a:extLst>
          </p:cNvPr>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p>
        </p:txBody>
      </p:sp>
      <p:sp>
        <p:nvSpPr>
          <p:cNvPr id="10" name="文本框 9">
            <a:extLst>
              <a:ext uri="{FF2B5EF4-FFF2-40B4-BE49-F238E27FC236}">
                <a16:creationId xmlns:a16="http://schemas.microsoft.com/office/drawing/2014/main" id="{86C1E260-E37D-FAAA-9C05-D039C1F414B3}"/>
              </a:ext>
            </a:extLst>
          </p:cNvPr>
          <p:cNvSpPr txBox="1"/>
          <p:nvPr/>
        </p:nvSpPr>
        <p:spPr>
          <a:xfrm>
            <a:off x="916596" y="2204864"/>
            <a:ext cx="7915708" cy="1884618"/>
          </a:xfrm>
          <a:prstGeom prst="rect">
            <a:avLst/>
          </a:prstGeom>
          <a:noFill/>
        </p:spPr>
        <p:txBody>
          <a:bodyPr wrap="square" rtlCol="0">
            <a:spAutoFit/>
          </a:bodyPr>
          <a:lstStyle/>
          <a:p>
            <a:pPr marL="34290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01 </a:t>
            </a:r>
            <a:r>
              <a:rPr lang="zh-CN" altLang="en-US" dirty="0">
                <a:solidFill>
                  <a:schemeClr val="tx1">
                    <a:lumMod val="50000"/>
                    <a:lumOff val="50000"/>
                  </a:schemeClr>
                </a:solidFill>
                <a:latin typeface="微软雅黑" panose="020B0503020204020204" charset="-122"/>
                <a:ea typeface="微软雅黑" panose="020B0503020204020204" charset="-122"/>
              </a:rPr>
              <a:t>研究背景</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en-US" altLang="zh-CN" sz="20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02 </a:t>
            </a:r>
            <a:r>
              <a:rPr kumimoji="0" lang="zh-CN" altLang="en-US" sz="20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研究现状</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indent="-342900">
              <a:lnSpc>
                <a:spcPct val="150000"/>
              </a:lnSpc>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03 </a:t>
            </a:r>
            <a:r>
              <a:rPr lang="en-US" altLang="zh-CN" dirty="0">
                <a:solidFill>
                  <a:schemeClr val="tx1">
                    <a:lumMod val="50000"/>
                    <a:lumOff val="50000"/>
                  </a:schemeClr>
                </a:solidFill>
                <a:latin typeface="微软雅黑" panose="020B0503020204020204" charset="-122"/>
                <a:ea typeface="微软雅黑" panose="020B0503020204020204" charset="-122"/>
              </a:rPr>
              <a:t>Baseline</a:t>
            </a:r>
            <a:r>
              <a:rPr lang="zh-CN" altLang="en-US" dirty="0">
                <a:solidFill>
                  <a:schemeClr val="tx1">
                    <a:lumMod val="50000"/>
                    <a:lumOff val="50000"/>
                  </a:schemeClr>
                </a:solidFill>
                <a:latin typeface="微软雅黑" panose="020B0503020204020204" charset="-122"/>
                <a:ea typeface="微软雅黑" panose="020B0503020204020204" charset="-122"/>
              </a:rPr>
              <a:t>构建与瓶颈分析</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lvl="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04 </a:t>
            </a:r>
            <a:r>
              <a:rPr lang="zh-CN" altLang="en-US" dirty="0">
                <a:solidFill>
                  <a:schemeClr val="tx1">
                    <a:lumMod val="50000"/>
                    <a:lumOff val="50000"/>
                  </a:schemeClr>
                </a:solidFill>
                <a:latin typeface="微软雅黑" panose="020B0503020204020204" charset="-122"/>
                <a:ea typeface="微软雅黑" panose="020B0503020204020204" charset="-122"/>
              </a:rPr>
              <a:t>研究方案和技术路线</a:t>
            </a:r>
            <a:endParaRPr lang="en-US" altLang="zh-CN" dirty="0">
              <a:solidFill>
                <a:schemeClr val="tx1">
                  <a:lumMod val="50000"/>
                  <a:lumOff val="50000"/>
                </a:schemeClr>
              </a:solidFill>
              <a:latin typeface="微软雅黑" panose="020B0503020204020204" charset="-122"/>
              <a:ea typeface="微软雅黑" panose="020B0503020204020204" charset="-122"/>
            </a:endParaRPr>
          </a:p>
        </p:txBody>
      </p:sp>
      <p:sp>
        <p:nvSpPr>
          <p:cNvPr id="5" name="灯片编号占位符 1">
            <a:extLst>
              <a:ext uri="{FF2B5EF4-FFF2-40B4-BE49-F238E27FC236}">
                <a16:creationId xmlns:a16="http://schemas.microsoft.com/office/drawing/2014/main" id="{0FE0F663-26C1-4009-B200-DBE306596FEA}"/>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6</a:t>
            </a:fld>
            <a:endParaRPr lang="en-US" altLang="zh-CN" dirty="0"/>
          </a:p>
        </p:txBody>
      </p:sp>
    </p:spTree>
    <p:extLst>
      <p:ext uri="{BB962C8B-B14F-4D97-AF65-F5344CB8AC3E}">
        <p14:creationId xmlns:p14="http://schemas.microsoft.com/office/powerpoint/2010/main" val="435823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551B7-C400-DEB6-E98D-762AAD50A537}"/>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A831B8F0-2135-2D60-11DF-26FFB30E5F01}"/>
              </a:ext>
            </a:extLst>
          </p:cNvPr>
          <p:cNvSpPr/>
          <p:nvPr/>
        </p:nvSpPr>
        <p:spPr>
          <a:xfrm>
            <a:off x="625796" y="2348881"/>
            <a:ext cx="3005805" cy="33843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a:extLst>
              <a:ext uri="{FF2B5EF4-FFF2-40B4-BE49-F238E27FC236}">
                <a16:creationId xmlns:a16="http://schemas.microsoft.com/office/drawing/2014/main" id="{E0E4F47F-D65E-FDC9-3E76-581E8FD0D38A}"/>
              </a:ext>
            </a:extLst>
          </p:cNvPr>
          <p:cNvSpPr>
            <a:spLocks noGrp="1"/>
          </p:cNvSpPr>
          <p:nvPr>
            <p:ph type="title"/>
          </p:nvPr>
        </p:nvSpPr>
        <p:spPr>
          <a:xfrm>
            <a:off x="551384" y="980728"/>
            <a:ext cx="730424" cy="648072"/>
          </a:xfrm>
          <a:solidFill>
            <a:srgbClr val="1588C7"/>
          </a:solidFill>
        </p:spPr>
        <p:txBody>
          <a:bodyPr/>
          <a:lstStyle/>
          <a:p>
            <a:pPr algn="ctr"/>
            <a:r>
              <a:rPr lang="en-US" altLang="zh-CN" sz="3200" b="1">
                <a:solidFill>
                  <a:schemeClr val="bg1"/>
                </a:solidFill>
                <a:effectLst/>
                <a:latin typeface="微软雅黑" panose="020B0503020204020204" charset="-122"/>
                <a:ea typeface="微软雅黑" panose="020B0503020204020204" charset="-122"/>
              </a:rPr>
              <a:t>02</a:t>
            </a:r>
            <a:endParaRPr lang="zh-CN" altLang="en-US" sz="3200" b="1">
              <a:solidFill>
                <a:schemeClr val="bg1"/>
              </a:solidFill>
              <a:effectLst/>
              <a:latin typeface="微软雅黑" panose="020B0503020204020204" charset="-122"/>
              <a:ea typeface="微软雅黑" panose="020B0503020204020204" charset="-122"/>
            </a:endParaRPr>
          </a:p>
        </p:txBody>
      </p:sp>
      <p:sp>
        <p:nvSpPr>
          <p:cNvPr id="14" name="文本框 13">
            <a:extLst>
              <a:ext uri="{FF2B5EF4-FFF2-40B4-BE49-F238E27FC236}">
                <a16:creationId xmlns:a16="http://schemas.microsoft.com/office/drawing/2014/main" id="{EA63D338-9690-A8C6-AFB6-45DDA6408362}"/>
              </a:ext>
            </a:extLst>
          </p:cNvPr>
          <p:cNvSpPr txBox="1"/>
          <p:nvPr/>
        </p:nvSpPr>
        <p:spPr>
          <a:xfrm>
            <a:off x="1353816" y="1052736"/>
            <a:ext cx="8774632" cy="523220"/>
          </a:xfrm>
          <a:prstGeom prst="rect">
            <a:avLst/>
          </a:prstGeom>
          <a:noFill/>
        </p:spPr>
        <p:txBody>
          <a:bodyPr wrap="square">
            <a:spAutoFit/>
          </a:bodyPr>
          <a:lstStyle/>
          <a:p>
            <a:r>
              <a:rPr lang="zh-CN" altLang="en-US" sz="2800" dirty="0">
                <a:solidFill>
                  <a:schemeClr val="tx1">
                    <a:lumMod val="75000"/>
                    <a:lumOff val="25000"/>
                  </a:schemeClr>
                </a:solidFill>
              </a:rPr>
              <a:t>研究现状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向量检索系统演进</a:t>
            </a:r>
          </a:p>
        </p:txBody>
      </p:sp>
      <p:sp>
        <p:nvSpPr>
          <p:cNvPr id="15" name="Rectangle 2">
            <a:extLst>
              <a:ext uri="{FF2B5EF4-FFF2-40B4-BE49-F238E27FC236}">
                <a16:creationId xmlns:a16="http://schemas.microsoft.com/office/drawing/2014/main" id="{74C1E53F-D8FD-D9D6-CD62-25B6F150BB7B}"/>
              </a:ext>
            </a:extLst>
          </p:cNvPr>
          <p:cNvSpPr>
            <a:spLocks noChangeArrowheads="1"/>
          </p:cNvSpPr>
          <p:nvPr/>
        </p:nvSpPr>
        <p:spPr bwMode="auto">
          <a:xfrm>
            <a:off x="6240016" y="27089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矩形: 圆角 4">
            <a:extLst>
              <a:ext uri="{FF2B5EF4-FFF2-40B4-BE49-F238E27FC236}">
                <a16:creationId xmlns:a16="http://schemas.microsoft.com/office/drawing/2014/main" id="{0667DADB-2419-2193-2113-D46AD1A45364}"/>
              </a:ext>
            </a:extLst>
          </p:cNvPr>
          <p:cNvSpPr/>
          <p:nvPr/>
        </p:nvSpPr>
        <p:spPr>
          <a:xfrm>
            <a:off x="1192044" y="2420888"/>
            <a:ext cx="2013308" cy="48712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tx1"/>
                </a:solidFill>
                <a:latin typeface="黑体" panose="02010609060101010101" pitchFamily="49" charset="-122"/>
                <a:ea typeface="黑体" panose="02010609060101010101" pitchFamily="49" charset="-122"/>
              </a:rPr>
              <a:t>内存级别</a:t>
            </a:r>
          </a:p>
        </p:txBody>
      </p:sp>
      <p:sp>
        <p:nvSpPr>
          <p:cNvPr id="11" name="矩形: 圆角 10">
            <a:extLst>
              <a:ext uri="{FF2B5EF4-FFF2-40B4-BE49-F238E27FC236}">
                <a16:creationId xmlns:a16="http://schemas.microsoft.com/office/drawing/2014/main" id="{AAF6816B-5AE6-4C6A-0683-7EE7E09CB116}"/>
              </a:ext>
            </a:extLst>
          </p:cNvPr>
          <p:cNvSpPr/>
          <p:nvPr/>
        </p:nvSpPr>
        <p:spPr>
          <a:xfrm>
            <a:off x="866774" y="3092424"/>
            <a:ext cx="2562014" cy="91023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Times New Roman" panose="02020603050405020304" pitchFamily="18" charset="0"/>
                <a:cs typeface="Times New Roman" panose="02020603050405020304" pitchFamily="18" charset="0"/>
              </a:rPr>
              <a:t>HNSW</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TPAMI 2018</a:t>
            </a:r>
            <a:r>
              <a:rPr lang="zh-CN" altLang="en-US" sz="1600" dirty="0">
                <a:solidFill>
                  <a:schemeClr val="tx1"/>
                </a:solidFill>
                <a:latin typeface="Times New Roman" panose="02020603050405020304" pitchFamily="18" charset="0"/>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NSG</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VLDB 2019</a:t>
            </a:r>
            <a:r>
              <a:rPr lang="zh-CN" altLang="en-US" sz="1600" dirty="0">
                <a:solidFill>
                  <a:schemeClr val="tx1"/>
                </a:solidFill>
                <a:latin typeface="Times New Roman" panose="02020603050405020304" pitchFamily="18" charset="0"/>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Faiss</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Meta AI</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2017</a:t>
            </a:r>
            <a:r>
              <a:rPr lang="zh-CN" altLang="en-US" sz="1600" dirty="0">
                <a:solidFill>
                  <a:schemeClr val="tx1"/>
                </a:solidFill>
                <a:latin typeface="Times New Roman" panose="02020603050405020304" pitchFamily="18" charset="0"/>
                <a:cs typeface="Times New Roman" panose="02020603050405020304" pitchFamily="18" charset="0"/>
              </a:rPr>
              <a:t>）</a:t>
            </a:r>
            <a:endParaRPr lang="en-US" altLang="zh-CN" sz="1600" dirty="0">
              <a:solidFill>
                <a:schemeClr val="tx1"/>
              </a:solidFill>
              <a:latin typeface="Times New Roman" panose="02020603050405020304" pitchFamily="18" charset="0"/>
              <a:cs typeface="Times New Roman" panose="02020603050405020304" pitchFamily="18" charset="0"/>
            </a:endParaRPr>
          </a:p>
        </p:txBody>
      </p:sp>
      <p:sp>
        <p:nvSpPr>
          <p:cNvPr id="12" name="矩形: 圆角 11">
            <a:extLst>
              <a:ext uri="{FF2B5EF4-FFF2-40B4-BE49-F238E27FC236}">
                <a16:creationId xmlns:a16="http://schemas.microsoft.com/office/drawing/2014/main" id="{72A12C7F-EE69-89E9-67FE-8B817DFCA353}"/>
              </a:ext>
            </a:extLst>
          </p:cNvPr>
          <p:cNvSpPr/>
          <p:nvPr/>
        </p:nvSpPr>
        <p:spPr>
          <a:xfrm>
            <a:off x="4234940" y="3119536"/>
            <a:ext cx="3187361" cy="12048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Times New Roman" panose="02020603050405020304" pitchFamily="18" charset="0"/>
                <a:cs typeface="Times New Roman" panose="02020603050405020304" pitchFamily="18" charset="0"/>
              </a:rPr>
              <a:t>DiskANN</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NeurIPS</a:t>
            </a:r>
            <a:r>
              <a:rPr lang="en-US" altLang="zh-CN" sz="1600" dirty="0">
                <a:solidFill>
                  <a:schemeClr val="tx1"/>
                </a:solidFill>
                <a:latin typeface="Times New Roman" panose="02020603050405020304" pitchFamily="18" charset="0"/>
                <a:cs typeface="Times New Roman" panose="02020603050405020304" pitchFamily="18" charset="0"/>
              </a:rPr>
              <a:t> 2019</a:t>
            </a:r>
            <a:r>
              <a:rPr lang="zh-CN" altLang="en-US" sz="1600" dirty="0">
                <a:solidFill>
                  <a:schemeClr val="tx1"/>
                </a:solidFill>
                <a:latin typeface="Times New Roman" panose="02020603050405020304" pitchFamily="18" charset="0"/>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FreshDiskANN</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ICDE 2022</a:t>
            </a:r>
            <a:r>
              <a:rPr lang="zh-CN" altLang="en-US" sz="1600" dirty="0">
                <a:solidFill>
                  <a:schemeClr val="tx1"/>
                </a:solidFill>
                <a:latin typeface="Times New Roman" panose="02020603050405020304" pitchFamily="18" charset="0"/>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SPANN</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NeurIPS</a:t>
            </a:r>
            <a:r>
              <a:rPr lang="en-US" altLang="zh-CN" sz="1600" dirty="0">
                <a:solidFill>
                  <a:schemeClr val="tx1"/>
                </a:solidFill>
                <a:latin typeface="Times New Roman" panose="02020603050405020304" pitchFamily="18" charset="0"/>
                <a:cs typeface="Times New Roman" panose="02020603050405020304" pitchFamily="18" charset="0"/>
              </a:rPr>
              <a:t> 2021</a:t>
            </a:r>
            <a:r>
              <a:rPr lang="zh-CN" altLang="en-US" sz="1600" dirty="0">
                <a:solidFill>
                  <a:schemeClr val="tx1"/>
                </a:solidFill>
                <a:latin typeface="Times New Roman" panose="02020603050405020304" pitchFamily="18" charset="0"/>
                <a:cs typeface="Times New Roman" panose="02020603050405020304" pitchFamily="18" charset="0"/>
              </a:rPr>
              <a:t>）</a:t>
            </a:r>
            <a:endParaRPr lang="en-US" altLang="zh-CN" sz="1600" dirty="0">
              <a:solidFill>
                <a:schemeClr val="tx1"/>
              </a:solidFill>
              <a:latin typeface="Times New Roman" panose="02020603050405020304" pitchFamily="18" charset="0"/>
              <a:cs typeface="Times New Roman" panose="02020603050405020304" pitchFamily="18" charset="0"/>
            </a:endParaRPr>
          </a:p>
          <a:p>
            <a:pPr algn="ctr"/>
            <a:r>
              <a:rPr lang="en-US" altLang="zh-CN" sz="1600" dirty="0" err="1">
                <a:solidFill>
                  <a:schemeClr val="tx1"/>
                </a:solidFill>
                <a:latin typeface="Times New Roman" panose="02020603050405020304" pitchFamily="18" charset="0"/>
                <a:cs typeface="Times New Roman" panose="02020603050405020304" pitchFamily="18" charset="0"/>
              </a:rPr>
              <a:t>SPFresh</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SOSP 2023</a:t>
            </a:r>
            <a:r>
              <a:rPr lang="zh-CN" altLang="en-US" sz="1600" dirty="0">
                <a:solidFill>
                  <a:schemeClr val="tx1"/>
                </a:solidFill>
                <a:latin typeface="Times New Roman" panose="02020603050405020304" pitchFamily="18" charset="0"/>
                <a:cs typeface="Times New Roman" panose="02020603050405020304" pitchFamily="18" charset="0"/>
              </a:rPr>
              <a:t>）</a:t>
            </a:r>
            <a:endParaRPr lang="en-US" altLang="zh-CN" sz="1600" dirty="0">
              <a:solidFill>
                <a:schemeClr val="tx1"/>
              </a:solidFill>
              <a:latin typeface="Times New Roman" panose="02020603050405020304" pitchFamily="18" charset="0"/>
              <a:cs typeface="Times New Roman" panose="02020603050405020304" pitchFamily="18" charset="0"/>
            </a:endParaRPr>
          </a:p>
        </p:txBody>
      </p:sp>
      <p:sp>
        <p:nvSpPr>
          <p:cNvPr id="13" name="矩形: 圆角 12">
            <a:extLst>
              <a:ext uri="{FF2B5EF4-FFF2-40B4-BE49-F238E27FC236}">
                <a16:creationId xmlns:a16="http://schemas.microsoft.com/office/drawing/2014/main" id="{63EB7893-ACC2-CC0E-C0CC-D47553459DE8}"/>
              </a:ext>
            </a:extLst>
          </p:cNvPr>
          <p:cNvSpPr/>
          <p:nvPr/>
        </p:nvSpPr>
        <p:spPr>
          <a:xfrm>
            <a:off x="8120167" y="3126491"/>
            <a:ext cx="3290895" cy="107730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sz="910" b="0">
                <a:solidFill>
                  <a:srgbClr val="203549"/>
                </a:solidFill>
                <a:latin typeface="Microsoft YaHei"/>
              </a:defRPr>
            </a:pPr>
            <a:r>
              <a:rPr lang="en-US" altLang="zh-CN" sz="1600" dirty="0">
                <a:solidFill>
                  <a:schemeClr val="tx1"/>
                </a:solidFill>
                <a:latin typeface="Times New Roman" panose="02020603050405020304" pitchFamily="18" charset="0"/>
                <a:cs typeface="Times New Roman" panose="02020603050405020304" pitchFamily="18" charset="0"/>
              </a:rPr>
              <a:t>Milvus</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SIGMOD 2021</a:t>
            </a:r>
            <a:r>
              <a:rPr lang="zh-CN" altLang="en-US" sz="1600" dirty="0">
                <a:solidFill>
                  <a:schemeClr val="tx1"/>
                </a:solidFill>
                <a:latin typeface="Times New Roman" panose="02020603050405020304" pitchFamily="18" charset="0"/>
                <a:cs typeface="Times New Roman" panose="02020603050405020304" pitchFamily="18" charset="0"/>
              </a:rPr>
              <a:t>）</a:t>
            </a:r>
          </a:p>
          <a:p>
            <a:pPr algn="ctr">
              <a:defRPr sz="910" b="0">
                <a:solidFill>
                  <a:srgbClr val="203549"/>
                </a:solidFill>
                <a:latin typeface="Microsoft YaHei"/>
              </a:defRPr>
            </a:pPr>
            <a:r>
              <a:rPr lang="en-US" altLang="zh-CN" sz="1600" dirty="0">
                <a:solidFill>
                  <a:schemeClr val="tx1"/>
                </a:solidFill>
                <a:latin typeface="Times New Roman" panose="02020603050405020304" pitchFamily="18" charset="0"/>
                <a:cs typeface="Times New Roman" panose="02020603050405020304" pitchFamily="18" charset="0"/>
              </a:rPr>
              <a:t>Manu / Milvus 2.0</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VLDB 2022</a:t>
            </a:r>
            <a:r>
              <a:rPr lang="zh-CN" altLang="en-US" sz="1600" dirty="0">
                <a:solidFill>
                  <a:schemeClr val="tx1"/>
                </a:solidFill>
                <a:latin typeface="Times New Roman" panose="02020603050405020304" pitchFamily="18" charset="0"/>
                <a:cs typeface="Times New Roman" panose="02020603050405020304" pitchFamily="18" charset="0"/>
              </a:rPr>
              <a:t>）</a:t>
            </a:r>
          </a:p>
          <a:p>
            <a:pPr algn="ctr">
              <a:defRPr sz="910" b="0">
                <a:solidFill>
                  <a:srgbClr val="203549"/>
                </a:solidFill>
                <a:latin typeface="Microsoft YaHei"/>
              </a:defRPr>
            </a:pPr>
            <a:r>
              <a:rPr lang="en-US" altLang="zh-CN" sz="1600" dirty="0">
                <a:solidFill>
                  <a:schemeClr val="tx1"/>
                </a:solidFill>
                <a:latin typeface="Times New Roman" panose="02020603050405020304" pitchFamily="18" charset="0"/>
                <a:cs typeface="Times New Roman" panose="02020603050405020304" pitchFamily="18" charset="0"/>
              </a:rPr>
              <a:t>Pinecone</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Public Beta</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2021</a:t>
            </a:r>
            <a:r>
              <a:rPr lang="zh-CN" altLang="en-US" sz="1600" dirty="0">
                <a:solidFill>
                  <a:schemeClr val="tx1"/>
                </a:solidFill>
                <a:latin typeface="Times New Roman" panose="02020603050405020304" pitchFamily="18" charset="0"/>
                <a:cs typeface="Times New Roman" panose="02020603050405020304" pitchFamily="18" charset="0"/>
              </a:rPr>
              <a:t>）</a:t>
            </a:r>
          </a:p>
          <a:p>
            <a:pPr algn="ctr">
              <a:defRPr sz="910" b="0">
                <a:solidFill>
                  <a:srgbClr val="203549"/>
                </a:solidFill>
                <a:latin typeface="Microsoft YaHei"/>
              </a:defRPr>
            </a:pPr>
            <a:r>
              <a:rPr lang="en-US" altLang="zh-CN" sz="1600" dirty="0">
                <a:solidFill>
                  <a:schemeClr val="tx1"/>
                </a:solidFill>
                <a:latin typeface="Times New Roman" panose="02020603050405020304" pitchFamily="18" charset="0"/>
                <a:cs typeface="Times New Roman" panose="02020603050405020304" pitchFamily="18" charset="0"/>
              </a:rPr>
              <a:t>VDBMS Survey</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VLDBJ 2024</a:t>
            </a:r>
            <a:r>
              <a:rPr lang="zh-CN" altLang="en-US" sz="1600" dirty="0">
                <a:solidFill>
                  <a:schemeClr val="tx1"/>
                </a:solidFill>
                <a:latin typeface="Times New Roman" panose="02020603050405020304" pitchFamily="18" charset="0"/>
                <a:cs typeface="Times New Roman" panose="02020603050405020304" pitchFamily="18" charset="0"/>
              </a:rPr>
              <a:t>）</a:t>
            </a:r>
            <a:endParaRPr lang="zh-CN" altLang="en-US" sz="800" dirty="0"/>
          </a:p>
        </p:txBody>
      </p:sp>
      <p:sp>
        <p:nvSpPr>
          <p:cNvPr id="16" name="文本框 15">
            <a:extLst>
              <a:ext uri="{FF2B5EF4-FFF2-40B4-BE49-F238E27FC236}">
                <a16:creationId xmlns:a16="http://schemas.microsoft.com/office/drawing/2014/main" id="{87416C2C-7CFA-545B-0B75-1541EB847F61}"/>
              </a:ext>
            </a:extLst>
          </p:cNvPr>
          <p:cNvSpPr txBox="1"/>
          <p:nvPr/>
        </p:nvSpPr>
        <p:spPr>
          <a:xfrm>
            <a:off x="796515" y="4053988"/>
            <a:ext cx="2804366" cy="1077218"/>
          </a:xfrm>
          <a:prstGeom prst="rect">
            <a:avLst/>
          </a:prstGeom>
          <a:noFill/>
        </p:spPr>
        <p:txBody>
          <a:bodyPr wrap="square" rtlCol="0">
            <a:spAutoFit/>
          </a:bodyPr>
          <a:lstStyle/>
          <a:p>
            <a:pPr marL="285750" indent="-285750" algn="l">
              <a:buFont typeface="Wingdings" panose="05000000000000000000" pitchFamily="2" charset="2"/>
              <a:buChar char="Ø"/>
              <a:defRPr sz="919" b="0">
                <a:solidFill>
                  <a:srgbClr val="203549"/>
                </a:solidFill>
                <a:latin typeface="Microsoft YaHei"/>
              </a:defRPr>
            </a:pPr>
            <a:r>
              <a:rPr lang="zh-CN" altLang="en-US" sz="1600" dirty="0">
                <a:solidFill>
                  <a:srgbClr val="262626"/>
                </a:solidFill>
                <a:latin typeface="Microsoft YaHei"/>
              </a:rPr>
              <a:t>优点：查询路径短，延迟低，召回稳定</a:t>
            </a:r>
          </a:p>
          <a:p>
            <a:pPr marL="285750" indent="-285750" algn="l">
              <a:buFont typeface="Wingdings" panose="05000000000000000000" pitchFamily="2" charset="2"/>
              <a:buChar char="Ø"/>
              <a:defRPr sz="919" b="0">
                <a:solidFill>
                  <a:srgbClr val="203549"/>
                </a:solidFill>
                <a:latin typeface="Microsoft YaHei"/>
              </a:defRPr>
            </a:pPr>
            <a:r>
              <a:rPr lang="zh-CN" altLang="en-US" sz="1600" dirty="0">
                <a:solidFill>
                  <a:srgbClr val="262626"/>
                </a:solidFill>
                <a:latin typeface="Microsoft YaHei"/>
              </a:rPr>
              <a:t>不足：</a:t>
            </a:r>
            <a:r>
              <a:rPr lang="zh-CN" altLang="en-US" sz="1600" dirty="0">
                <a:solidFill>
                  <a:srgbClr val="FF0000"/>
                </a:solidFill>
                <a:latin typeface="Microsoft YaHei"/>
              </a:rPr>
              <a:t>内存容量受限</a:t>
            </a:r>
            <a:r>
              <a:rPr lang="zh-CN" altLang="en-US" sz="1600" dirty="0">
                <a:solidFill>
                  <a:srgbClr val="262626"/>
                </a:solidFill>
                <a:latin typeface="Microsoft YaHei"/>
              </a:rPr>
              <a:t>；高频更新易带来图维护成本</a:t>
            </a:r>
          </a:p>
        </p:txBody>
      </p:sp>
      <p:sp>
        <p:nvSpPr>
          <p:cNvPr id="18" name="矩形 17">
            <a:extLst>
              <a:ext uri="{FF2B5EF4-FFF2-40B4-BE49-F238E27FC236}">
                <a16:creationId xmlns:a16="http://schemas.microsoft.com/office/drawing/2014/main" id="{5FF3A0B7-148A-F7EE-05CF-7D53F7DF75DA}"/>
              </a:ext>
            </a:extLst>
          </p:cNvPr>
          <p:cNvSpPr/>
          <p:nvPr/>
        </p:nvSpPr>
        <p:spPr>
          <a:xfrm>
            <a:off x="4158743" y="2348873"/>
            <a:ext cx="3361406" cy="34156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52F18042-AFC9-DFE3-5079-49761FC48F2F}"/>
              </a:ext>
            </a:extLst>
          </p:cNvPr>
          <p:cNvSpPr/>
          <p:nvPr/>
        </p:nvSpPr>
        <p:spPr>
          <a:xfrm>
            <a:off x="8066289" y="2348873"/>
            <a:ext cx="3398653" cy="33843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6C29BDD-BB49-2F97-412B-D27050D09495}"/>
              </a:ext>
            </a:extLst>
          </p:cNvPr>
          <p:cNvSpPr txBox="1"/>
          <p:nvPr/>
        </p:nvSpPr>
        <p:spPr>
          <a:xfrm>
            <a:off x="4263636" y="4439518"/>
            <a:ext cx="3325168" cy="1077218"/>
          </a:xfrm>
          <a:prstGeom prst="rect">
            <a:avLst/>
          </a:prstGeom>
          <a:noFill/>
        </p:spPr>
        <p:txBody>
          <a:bodyPr wrap="square" rtlCol="0">
            <a:spAutoFit/>
          </a:bodyPr>
          <a:lstStyle/>
          <a:p>
            <a:pPr marL="285750" indent="-285750">
              <a:buFont typeface="Wingdings" panose="05000000000000000000" pitchFamily="2" charset="2"/>
              <a:buChar char="Ø"/>
              <a:defRPr sz="919" b="0">
                <a:solidFill>
                  <a:srgbClr val="203549"/>
                </a:solidFill>
                <a:latin typeface="Microsoft YaHei"/>
              </a:defRPr>
            </a:pPr>
            <a:r>
              <a:rPr lang="zh-CN" altLang="en-US" sz="1600" dirty="0">
                <a:solidFill>
                  <a:srgbClr val="262626"/>
                </a:solidFill>
                <a:latin typeface="Microsoft YaHei"/>
              </a:rPr>
              <a:t>优点：</a:t>
            </a:r>
            <a:r>
              <a:rPr lang="en-US" altLang="zh-CN" sz="1600" dirty="0">
                <a:solidFill>
                  <a:srgbClr val="FF0000"/>
                </a:solidFill>
                <a:latin typeface="Microsoft YaHei"/>
              </a:rPr>
              <a:t>SSD</a:t>
            </a:r>
            <a:r>
              <a:rPr lang="zh-CN" altLang="en-US" sz="1600" dirty="0">
                <a:solidFill>
                  <a:srgbClr val="FF0000"/>
                </a:solidFill>
                <a:latin typeface="Microsoft YaHei"/>
              </a:rPr>
              <a:t>承载十亿级向量</a:t>
            </a:r>
            <a:r>
              <a:rPr lang="zh-CN" altLang="en-US" sz="1600" dirty="0">
                <a:solidFill>
                  <a:srgbClr val="262626"/>
                </a:solidFill>
                <a:latin typeface="Microsoft YaHei"/>
              </a:rPr>
              <a:t>，降低内存成本</a:t>
            </a:r>
          </a:p>
          <a:p>
            <a:pPr marL="285750" indent="-285750">
              <a:buFont typeface="Wingdings" panose="05000000000000000000" pitchFamily="2" charset="2"/>
              <a:buChar char="Ø"/>
              <a:defRPr sz="919" b="0">
                <a:solidFill>
                  <a:srgbClr val="203549"/>
                </a:solidFill>
                <a:latin typeface="Microsoft YaHei"/>
              </a:defRPr>
            </a:pPr>
            <a:r>
              <a:rPr lang="zh-CN" altLang="en-US" sz="1600" dirty="0">
                <a:solidFill>
                  <a:srgbClr val="262626"/>
                </a:solidFill>
                <a:latin typeface="Microsoft YaHei"/>
              </a:rPr>
              <a:t>不足：更新会触发随机</a:t>
            </a:r>
            <a:r>
              <a:rPr lang="en-US" altLang="zh-CN" sz="1600" dirty="0">
                <a:solidFill>
                  <a:srgbClr val="262626"/>
                </a:solidFill>
                <a:latin typeface="Microsoft YaHei"/>
              </a:rPr>
              <a:t>I/O</a:t>
            </a:r>
            <a:r>
              <a:rPr lang="zh-CN" altLang="en-US" sz="1600" dirty="0">
                <a:solidFill>
                  <a:srgbClr val="262626"/>
                </a:solidFill>
                <a:latin typeface="Microsoft YaHei"/>
              </a:rPr>
              <a:t>、合并或重平衡压力</a:t>
            </a:r>
          </a:p>
        </p:txBody>
      </p:sp>
      <p:sp>
        <p:nvSpPr>
          <p:cNvPr id="23" name="文本框 22">
            <a:extLst>
              <a:ext uri="{FF2B5EF4-FFF2-40B4-BE49-F238E27FC236}">
                <a16:creationId xmlns:a16="http://schemas.microsoft.com/office/drawing/2014/main" id="{859327C9-219E-8E5A-79ED-302729AFF48B}"/>
              </a:ext>
            </a:extLst>
          </p:cNvPr>
          <p:cNvSpPr txBox="1"/>
          <p:nvPr/>
        </p:nvSpPr>
        <p:spPr>
          <a:xfrm>
            <a:off x="8264957" y="4326460"/>
            <a:ext cx="3150097" cy="1077218"/>
          </a:xfrm>
          <a:prstGeom prst="rect">
            <a:avLst/>
          </a:prstGeom>
          <a:noFill/>
        </p:spPr>
        <p:txBody>
          <a:bodyPr wrap="square" rtlCol="0">
            <a:spAutoFit/>
          </a:bodyPr>
          <a:lstStyle/>
          <a:p>
            <a:pPr marL="285750" indent="-285750">
              <a:buFont typeface="Wingdings" panose="05000000000000000000" pitchFamily="2" charset="2"/>
              <a:buChar char="Ø"/>
              <a:defRPr sz="919" b="0">
                <a:solidFill>
                  <a:srgbClr val="203549"/>
                </a:solidFill>
                <a:latin typeface="Microsoft YaHei"/>
              </a:defRPr>
            </a:pPr>
            <a:r>
              <a:rPr lang="zh-CN" altLang="en-US" sz="1600" dirty="0">
                <a:solidFill>
                  <a:srgbClr val="262626"/>
                </a:solidFill>
                <a:latin typeface="Microsoft YaHei"/>
              </a:rPr>
              <a:t>优点：</a:t>
            </a:r>
            <a:r>
              <a:rPr lang="zh-CN" altLang="en-US" sz="1600" dirty="0">
                <a:solidFill>
                  <a:srgbClr val="FF0000"/>
                </a:solidFill>
                <a:latin typeface="Microsoft YaHei"/>
              </a:rPr>
              <a:t>分片、副本、多租户、弹性扩展</a:t>
            </a:r>
          </a:p>
          <a:p>
            <a:pPr marL="285750" indent="-285750">
              <a:buFont typeface="Wingdings" panose="05000000000000000000" pitchFamily="2" charset="2"/>
              <a:buChar char="Ø"/>
              <a:defRPr sz="919" b="0">
                <a:solidFill>
                  <a:srgbClr val="203549"/>
                </a:solidFill>
                <a:latin typeface="Microsoft YaHei"/>
              </a:defRPr>
            </a:pPr>
            <a:r>
              <a:rPr lang="zh-CN" altLang="en-US" sz="1600" dirty="0">
                <a:solidFill>
                  <a:srgbClr val="262626"/>
                </a:solidFill>
                <a:latin typeface="Microsoft YaHei"/>
              </a:rPr>
              <a:t>不足：</a:t>
            </a:r>
            <a:r>
              <a:rPr lang="zh-CN" altLang="en-US" sz="1600" dirty="0">
                <a:solidFill>
                  <a:srgbClr val="FF0000"/>
                </a:solidFill>
                <a:latin typeface="Microsoft YaHei"/>
              </a:rPr>
              <a:t>跨节点更新、元数据一致性与网络往返突出</a:t>
            </a:r>
          </a:p>
        </p:txBody>
      </p:sp>
      <p:sp>
        <p:nvSpPr>
          <p:cNvPr id="26" name="矩形: 圆角 25">
            <a:extLst>
              <a:ext uri="{FF2B5EF4-FFF2-40B4-BE49-F238E27FC236}">
                <a16:creationId xmlns:a16="http://schemas.microsoft.com/office/drawing/2014/main" id="{BD7C355F-A446-4576-940A-67A9E9509F09}"/>
              </a:ext>
            </a:extLst>
          </p:cNvPr>
          <p:cNvSpPr/>
          <p:nvPr/>
        </p:nvSpPr>
        <p:spPr>
          <a:xfrm>
            <a:off x="4964149" y="2452188"/>
            <a:ext cx="2013308" cy="48712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tx1"/>
                </a:solidFill>
                <a:latin typeface="黑体" panose="02010609060101010101" pitchFamily="49" charset="-122"/>
                <a:ea typeface="黑体" panose="02010609060101010101" pitchFamily="49" charset="-122"/>
              </a:rPr>
              <a:t>外存级别</a:t>
            </a:r>
          </a:p>
        </p:txBody>
      </p:sp>
      <p:sp>
        <p:nvSpPr>
          <p:cNvPr id="27" name="矩形: 圆角 26">
            <a:extLst>
              <a:ext uri="{FF2B5EF4-FFF2-40B4-BE49-F238E27FC236}">
                <a16:creationId xmlns:a16="http://schemas.microsoft.com/office/drawing/2014/main" id="{3604C7EB-3CA6-4B48-9A60-B46667115541}"/>
              </a:ext>
            </a:extLst>
          </p:cNvPr>
          <p:cNvSpPr/>
          <p:nvPr/>
        </p:nvSpPr>
        <p:spPr>
          <a:xfrm>
            <a:off x="8775481" y="2420888"/>
            <a:ext cx="2013308" cy="48712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tx1"/>
                </a:solidFill>
                <a:latin typeface="黑体" panose="02010609060101010101" pitchFamily="49" charset="-122"/>
                <a:ea typeface="黑体" panose="02010609060101010101" pitchFamily="49" charset="-122"/>
              </a:rPr>
              <a:t>分布式级别</a:t>
            </a:r>
          </a:p>
        </p:txBody>
      </p:sp>
      <p:sp>
        <p:nvSpPr>
          <p:cNvPr id="20" name="灯片编号占位符 1">
            <a:extLst>
              <a:ext uri="{FF2B5EF4-FFF2-40B4-BE49-F238E27FC236}">
                <a16:creationId xmlns:a16="http://schemas.microsoft.com/office/drawing/2014/main" id="{A27660CD-AFA7-4068-8418-4789774B870E}"/>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7</a:t>
            </a:fld>
            <a:endParaRPr lang="en-US" altLang="zh-CN" dirty="0"/>
          </a:p>
        </p:txBody>
      </p:sp>
      <p:sp>
        <p:nvSpPr>
          <p:cNvPr id="21" name="文本框 20">
            <a:extLst>
              <a:ext uri="{FF2B5EF4-FFF2-40B4-BE49-F238E27FC236}">
                <a16:creationId xmlns:a16="http://schemas.microsoft.com/office/drawing/2014/main" id="{9FE56D4D-71DA-4F4C-AEA8-943423170531}"/>
              </a:ext>
            </a:extLst>
          </p:cNvPr>
          <p:cNvSpPr txBox="1"/>
          <p:nvPr/>
        </p:nvSpPr>
        <p:spPr>
          <a:xfrm>
            <a:off x="551711" y="1769112"/>
            <a:ext cx="11555272" cy="403957"/>
          </a:xfrm>
          <a:prstGeom prst="rect">
            <a:avLst/>
          </a:prstGeom>
          <a:noFill/>
        </p:spPr>
        <p:txBody>
          <a:bodyPr wrap="square">
            <a:spAutoFit/>
          </a:bodyPr>
          <a:lstStyle/>
          <a:p>
            <a:pPr>
              <a:lnSpc>
                <a:spcPct val="150000"/>
              </a:lnSpc>
              <a:defRPr sz="1050" b="0">
                <a:solidFill>
                  <a:srgbClr val="203549"/>
                </a:solidFill>
                <a:latin typeface="Microsoft YaHei"/>
              </a:defRPr>
            </a:pPr>
            <a:r>
              <a:rPr lang="zh-CN" altLang="en-US" sz="1600" b="1" dirty="0">
                <a:solidFill>
                  <a:srgbClr val="262626"/>
                </a:solidFill>
                <a:latin typeface="黑体" panose="02010609060101010101" pitchFamily="49" charset="-122"/>
              </a:rPr>
              <a:t>内存图索引解决低延迟 → 外存</a:t>
            </a:r>
            <a:r>
              <a:rPr lang="en-US" altLang="zh-CN" sz="1600" b="1" dirty="0">
                <a:solidFill>
                  <a:srgbClr val="262626"/>
                </a:solidFill>
                <a:latin typeface="黑体" panose="02010609060101010101" pitchFamily="49" charset="-122"/>
              </a:rPr>
              <a:t>/</a:t>
            </a:r>
            <a:r>
              <a:rPr lang="zh-CN" altLang="en-US" sz="1600" b="1" dirty="0">
                <a:solidFill>
                  <a:srgbClr val="262626"/>
                </a:solidFill>
                <a:latin typeface="黑体" panose="02010609060101010101" pitchFamily="49" charset="-122"/>
              </a:rPr>
              <a:t>混合索引突破容量 → 分布式系统支撑在线服务，但更新路径仍会放大网络与一致性开销</a:t>
            </a:r>
          </a:p>
        </p:txBody>
      </p:sp>
      <p:sp>
        <p:nvSpPr>
          <p:cNvPr id="25" name="文本框 24">
            <a:extLst>
              <a:ext uri="{FF2B5EF4-FFF2-40B4-BE49-F238E27FC236}">
                <a16:creationId xmlns:a16="http://schemas.microsoft.com/office/drawing/2014/main" id="{8275B8D2-728E-4D54-8929-D6543068013E}"/>
              </a:ext>
            </a:extLst>
          </p:cNvPr>
          <p:cNvSpPr txBox="1"/>
          <p:nvPr/>
        </p:nvSpPr>
        <p:spPr>
          <a:xfrm>
            <a:off x="191344" y="5902697"/>
            <a:ext cx="10859678" cy="338554"/>
          </a:xfrm>
          <a:prstGeom prst="rect">
            <a:avLst/>
          </a:prstGeom>
          <a:noFill/>
        </p:spPr>
        <p:txBody>
          <a:bodyPr wrap="square">
            <a:spAutoFit/>
          </a:bodyPr>
          <a:lstStyle/>
          <a:p>
            <a:pPr algn="ctr">
              <a:defRPr sz="1100" b="1">
                <a:solidFill>
                  <a:srgbClr val="203549"/>
                </a:solidFill>
                <a:latin typeface="Microsoft YaHei"/>
              </a:defRPr>
            </a:pPr>
            <a:r>
              <a:rPr lang="zh-CN" altLang="en-US" sz="1600" dirty="0">
                <a:solidFill>
                  <a:srgbClr val="262626"/>
                </a:solidFill>
                <a:latin typeface="黑体" panose="02010609060101010101" pitchFamily="49" charset="-122"/>
                <a:ea typeface="黑体" panose="02010609060101010101" pitchFamily="49" charset="-122"/>
              </a:rPr>
              <a:t>总结：现有系统已覆盖“快查、扩容、服务化”，但对分布式对象存储内的更新协同和数据搬移问题覆盖不足。</a:t>
            </a:r>
          </a:p>
        </p:txBody>
      </p:sp>
    </p:spTree>
    <p:extLst>
      <p:ext uri="{BB962C8B-B14F-4D97-AF65-F5344CB8AC3E}">
        <p14:creationId xmlns:p14="http://schemas.microsoft.com/office/powerpoint/2010/main" val="363867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551B7-C400-DEB6-E98D-762AAD50A537}"/>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E0E4F47F-D65E-FDC9-3E76-581E8FD0D38A}"/>
              </a:ext>
            </a:extLst>
          </p:cNvPr>
          <p:cNvSpPr>
            <a:spLocks noGrp="1"/>
          </p:cNvSpPr>
          <p:nvPr>
            <p:ph type="title"/>
          </p:nvPr>
        </p:nvSpPr>
        <p:spPr>
          <a:xfrm>
            <a:off x="551384" y="980728"/>
            <a:ext cx="730424" cy="648072"/>
          </a:xfrm>
          <a:solidFill>
            <a:srgbClr val="1588C7"/>
          </a:solidFill>
        </p:spPr>
        <p:txBody>
          <a:bodyPr/>
          <a:lstStyle/>
          <a:p>
            <a:pPr algn="ctr"/>
            <a:r>
              <a:rPr lang="en-US" altLang="zh-CN" sz="3200" b="1">
                <a:solidFill>
                  <a:schemeClr val="bg1"/>
                </a:solidFill>
                <a:effectLst/>
                <a:latin typeface="微软雅黑" panose="020B0503020204020204" charset="-122"/>
                <a:ea typeface="微软雅黑" panose="020B0503020204020204" charset="-122"/>
              </a:rPr>
              <a:t>02</a:t>
            </a:r>
            <a:endParaRPr lang="zh-CN" altLang="en-US" sz="3200" b="1">
              <a:solidFill>
                <a:schemeClr val="bg1"/>
              </a:solidFill>
              <a:effectLst/>
              <a:latin typeface="微软雅黑" panose="020B0503020204020204" charset="-122"/>
              <a:ea typeface="微软雅黑" panose="020B0503020204020204" charset="-122"/>
            </a:endParaRPr>
          </a:p>
        </p:txBody>
      </p:sp>
      <p:sp>
        <p:nvSpPr>
          <p:cNvPr id="14" name="文本框 13">
            <a:extLst>
              <a:ext uri="{FF2B5EF4-FFF2-40B4-BE49-F238E27FC236}">
                <a16:creationId xmlns:a16="http://schemas.microsoft.com/office/drawing/2014/main" id="{EA63D338-9690-A8C6-AFB6-45DDA6408362}"/>
              </a:ext>
            </a:extLst>
          </p:cNvPr>
          <p:cNvSpPr txBox="1"/>
          <p:nvPr/>
        </p:nvSpPr>
        <p:spPr>
          <a:xfrm>
            <a:off x="1353816" y="1052736"/>
            <a:ext cx="9566720" cy="523220"/>
          </a:xfrm>
          <a:prstGeom prst="rect">
            <a:avLst/>
          </a:prstGeom>
          <a:noFill/>
        </p:spPr>
        <p:txBody>
          <a:bodyPr wrap="square">
            <a:spAutoFit/>
          </a:bodyPr>
          <a:lstStyle/>
          <a:p>
            <a:r>
              <a:rPr lang="zh-CN" altLang="en-US" sz="2800" dirty="0">
                <a:solidFill>
                  <a:schemeClr val="tx1">
                    <a:lumMod val="75000"/>
                    <a:lumOff val="25000"/>
                  </a:schemeClr>
                </a:solidFill>
              </a:rPr>
              <a:t>研究现状 </a:t>
            </a:r>
            <a:r>
              <a:rPr lang="en-US" altLang="zh-CN" sz="2800" dirty="0">
                <a:solidFill>
                  <a:schemeClr val="tx1">
                    <a:lumMod val="75000"/>
                    <a:lumOff val="25000"/>
                  </a:schemeClr>
                </a:solidFill>
              </a:rPr>
              <a:t>– </a:t>
            </a:r>
            <a:r>
              <a:rPr lang="zh-CN" altLang="en-US" sz="2800" dirty="0">
                <a:solidFill>
                  <a:schemeClr val="tx1">
                    <a:lumMod val="75000"/>
                    <a:lumOff val="25000"/>
                  </a:schemeClr>
                </a:solidFill>
              </a:rPr>
              <a:t>动态更新索引演进</a:t>
            </a:r>
          </a:p>
        </p:txBody>
      </p:sp>
      <p:sp>
        <p:nvSpPr>
          <p:cNvPr id="15" name="Rectangle 2">
            <a:extLst>
              <a:ext uri="{FF2B5EF4-FFF2-40B4-BE49-F238E27FC236}">
                <a16:creationId xmlns:a16="http://schemas.microsoft.com/office/drawing/2014/main" id="{74C1E53F-D8FD-D9D6-CD62-25B6F150BB7B}"/>
              </a:ext>
            </a:extLst>
          </p:cNvPr>
          <p:cNvSpPr>
            <a:spLocks noChangeArrowheads="1"/>
          </p:cNvSpPr>
          <p:nvPr/>
        </p:nvSpPr>
        <p:spPr bwMode="auto">
          <a:xfrm>
            <a:off x="6240016" y="27089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Text 6">
            <a:extLst>
              <a:ext uri="{FF2B5EF4-FFF2-40B4-BE49-F238E27FC236}">
                <a16:creationId xmlns:a16="http://schemas.microsoft.com/office/drawing/2014/main" id="{105232F1-FE58-431E-95ED-C34968ACF51D}"/>
              </a:ext>
            </a:extLst>
          </p:cNvPr>
          <p:cNvSpPr/>
          <p:nvPr/>
        </p:nvSpPr>
        <p:spPr>
          <a:xfrm>
            <a:off x="407368" y="2475760"/>
            <a:ext cx="2693715" cy="2969464"/>
          </a:xfrm>
          <a:prstGeom prst="rect">
            <a:avLst/>
          </a:prstGeom>
          <a:solidFill>
            <a:srgbClr val="FFFFFF"/>
          </a:solidFill>
          <a:ln w="25400">
            <a:solidFill>
              <a:srgbClr val="006DB2"/>
            </a:solidFill>
          </a:ln>
        </p:spPr>
        <p:txBody>
          <a:bodyPr wrap="square" lIns="1524" tIns="1524" rIns="1524" bIns="1524"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buNone/>
            </a:pPr>
            <a:endParaRPr lang="en-US" dirty="0">
              <a:latin typeface="微软雅黑" panose="020B0503020204020204" pitchFamily="34" charset="-122"/>
              <a:ea typeface="微软雅黑" panose="020B0503020204020204" pitchFamily="34" charset="-122"/>
            </a:endParaRPr>
          </a:p>
        </p:txBody>
      </p:sp>
      <p:sp>
        <p:nvSpPr>
          <p:cNvPr id="46" name="Shape 7">
            <a:extLst>
              <a:ext uri="{FF2B5EF4-FFF2-40B4-BE49-F238E27FC236}">
                <a16:creationId xmlns:a16="http://schemas.microsoft.com/office/drawing/2014/main" id="{B53C9441-30C5-4FFB-9E39-E16B6E367307}"/>
              </a:ext>
            </a:extLst>
          </p:cNvPr>
          <p:cNvSpPr/>
          <p:nvPr/>
        </p:nvSpPr>
        <p:spPr>
          <a:xfrm>
            <a:off x="3169663" y="3820556"/>
            <a:ext cx="164592" cy="292608"/>
          </a:xfrm>
          <a:prstGeom prst="rightArrow">
            <a:avLst/>
          </a:prstGeom>
          <a:solidFill>
            <a:srgbClr val="AFC7E8"/>
          </a:solidFill>
          <a:ln w="12700">
            <a:solidFill>
              <a:srgbClr val="AFC7E8"/>
            </a:solidFill>
            <a:prstDash val="solid"/>
          </a:ln>
        </p:spPr>
        <p:txBody>
          <a:bodyPr/>
          <a:lstStyle/>
          <a:p>
            <a:endParaRPr lang="zh-CN" altLang="en-US"/>
          </a:p>
        </p:txBody>
      </p:sp>
      <p:sp>
        <p:nvSpPr>
          <p:cNvPr id="47" name="Text 8">
            <a:extLst>
              <a:ext uri="{FF2B5EF4-FFF2-40B4-BE49-F238E27FC236}">
                <a16:creationId xmlns:a16="http://schemas.microsoft.com/office/drawing/2014/main" id="{3B742EA2-8F37-489B-997A-C306AC911F3A}"/>
              </a:ext>
            </a:extLst>
          </p:cNvPr>
          <p:cNvSpPr/>
          <p:nvPr/>
        </p:nvSpPr>
        <p:spPr>
          <a:xfrm>
            <a:off x="3357115" y="2475760"/>
            <a:ext cx="2514600" cy="2969464"/>
          </a:xfrm>
          <a:prstGeom prst="rect">
            <a:avLst/>
          </a:prstGeom>
          <a:solidFill>
            <a:srgbClr val="FFFFFF"/>
          </a:solidFill>
          <a:ln w="25400">
            <a:solidFill>
              <a:srgbClr val="006DB2"/>
            </a:solidFill>
          </a:ln>
        </p:spPr>
        <p:txBody>
          <a:bodyPr wrap="square" lIns="1524" tIns="1524" rIns="1524" bIns="1524"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400" dirty="0">
              <a:solidFill>
                <a:srgbClr val="1F1F1F"/>
              </a:solidFill>
              <a:latin typeface="微软雅黑" panose="020B0503020204020204" pitchFamily="34" charset="-122"/>
              <a:ea typeface="微软雅黑" panose="020B0503020204020204" pitchFamily="34" charset="-122"/>
            </a:endParaRPr>
          </a:p>
        </p:txBody>
      </p:sp>
      <p:sp>
        <p:nvSpPr>
          <p:cNvPr id="48" name="Shape 9">
            <a:extLst>
              <a:ext uri="{FF2B5EF4-FFF2-40B4-BE49-F238E27FC236}">
                <a16:creationId xmlns:a16="http://schemas.microsoft.com/office/drawing/2014/main" id="{DA0B8F39-FB6C-497F-A2A6-ECB5E934DC11}"/>
              </a:ext>
            </a:extLst>
          </p:cNvPr>
          <p:cNvSpPr/>
          <p:nvPr/>
        </p:nvSpPr>
        <p:spPr>
          <a:xfrm>
            <a:off x="5923014" y="3820556"/>
            <a:ext cx="164592" cy="292608"/>
          </a:xfrm>
          <a:prstGeom prst="rightArrow">
            <a:avLst/>
          </a:prstGeom>
          <a:solidFill>
            <a:srgbClr val="AFC7E8"/>
          </a:solidFill>
          <a:ln w="12700">
            <a:solidFill>
              <a:srgbClr val="AFC7E8"/>
            </a:solidFill>
            <a:prstDash val="solid"/>
          </a:ln>
        </p:spPr>
        <p:txBody>
          <a:bodyPr/>
          <a:lstStyle/>
          <a:p>
            <a:endParaRPr lang="zh-CN" altLang="en-US"/>
          </a:p>
        </p:txBody>
      </p:sp>
      <p:sp>
        <p:nvSpPr>
          <p:cNvPr id="49" name="Text 10">
            <a:extLst>
              <a:ext uri="{FF2B5EF4-FFF2-40B4-BE49-F238E27FC236}">
                <a16:creationId xmlns:a16="http://schemas.microsoft.com/office/drawing/2014/main" id="{76A5B8A0-00A4-499F-86A5-C115EE68ADCA}"/>
              </a:ext>
            </a:extLst>
          </p:cNvPr>
          <p:cNvSpPr/>
          <p:nvPr/>
        </p:nvSpPr>
        <p:spPr>
          <a:xfrm>
            <a:off x="6127747" y="2475760"/>
            <a:ext cx="2514600" cy="2969464"/>
          </a:xfrm>
          <a:prstGeom prst="rect">
            <a:avLst/>
          </a:prstGeom>
          <a:solidFill>
            <a:srgbClr val="FFFFFF"/>
          </a:solidFill>
          <a:ln w="25400">
            <a:solidFill>
              <a:srgbClr val="006DB2"/>
            </a:solidFill>
          </a:ln>
        </p:spPr>
        <p:txBody>
          <a:bodyPr wrap="square" lIns="1524" tIns="1524" rIns="1524" bIns="1524"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dirty="0">
              <a:solidFill>
                <a:srgbClr val="1F1F1F"/>
              </a:solidFill>
              <a:latin typeface="微软雅黑" panose="020B0503020204020204" pitchFamily="34" charset="-122"/>
              <a:ea typeface="微软雅黑" panose="020B0503020204020204" pitchFamily="34" charset="-122"/>
            </a:endParaRPr>
          </a:p>
        </p:txBody>
      </p:sp>
      <p:sp>
        <p:nvSpPr>
          <p:cNvPr id="50" name="Shape 11">
            <a:extLst>
              <a:ext uri="{FF2B5EF4-FFF2-40B4-BE49-F238E27FC236}">
                <a16:creationId xmlns:a16="http://schemas.microsoft.com/office/drawing/2014/main" id="{D84F8A98-F768-4099-B9D7-C2C3FF692097}"/>
              </a:ext>
            </a:extLst>
          </p:cNvPr>
          <p:cNvSpPr/>
          <p:nvPr/>
        </p:nvSpPr>
        <p:spPr>
          <a:xfrm>
            <a:off x="8685048" y="3856472"/>
            <a:ext cx="164592" cy="292608"/>
          </a:xfrm>
          <a:prstGeom prst="rightArrow">
            <a:avLst/>
          </a:prstGeom>
          <a:solidFill>
            <a:srgbClr val="AFC7E8"/>
          </a:solidFill>
          <a:ln w="12700">
            <a:solidFill>
              <a:srgbClr val="AFC7E8"/>
            </a:solidFill>
            <a:prstDash val="solid"/>
          </a:ln>
        </p:spPr>
        <p:txBody>
          <a:bodyPr/>
          <a:lstStyle/>
          <a:p>
            <a:endParaRPr lang="zh-CN" altLang="en-US"/>
          </a:p>
        </p:txBody>
      </p:sp>
      <p:sp>
        <p:nvSpPr>
          <p:cNvPr id="51" name="Text 12">
            <a:extLst>
              <a:ext uri="{FF2B5EF4-FFF2-40B4-BE49-F238E27FC236}">
                <a16:creationId xmlns:a16="http://schemas.microsoft.com/office/drawing/2014/main" id="{3EFC82B8-20B4-45E5-BA89-D1778D45B91E}"/>
              </a:ext>
            </a:extLst>
          </p:cNvPr>
          <p:cNvSpPr/>
          <p:nvPr/>
        </p:nvSpPr>
        <p:spPr>
          <a:xfrm>
            <a:off x="8898379" y="2475759"/>
            <a:ext cx="2514600" cy="2969463"/>
          </a:xfrm>
          <a:prstGeom prst="rect">
            <a:avLst/>
          </a:prstGeom>
          <a:solidFill>
            <a:srgbClr val="FFFFFF"/>
          </a:solidFill>
          <a:ln w="25400">
            <a:solidFill>
              <a:srgbClr val="006DB2"/>
            </a:solidFill>
          </a:ln>
        </p:spPr>
        <p:txBody>
          <a:bodyPr wrap="square" lIns="1524" tIns="1524" rIns="1524" bIns="1524"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dirty="0">
              <a:solidFill>
                <a:srgbClr val="1F1F1F"/>
              </a:solidFill>
              <a:latin typeface="微软雅黑" panose="020B0503020204020204" pitchFamily="34" charset="-122"/>
              <a:ea typeface="微软雅黑" panose="020B0503020204020204" pitchFamily="34" charset="-122"/>
            </a:endParaRPr>
          </a:p>
        </p:txBody>
      </p:sp>
      <p:sp>
        <p:nvSpPr>
          <p:cNvPr id="17" name="Rounded Rectangle 10">
            <a:extLst>
              <a:ext uri="{FF2B5EF4-FFF2-40B4-BE49-F238E27FC236}">
                <a16:creationId xmlns:a16="http://schemas.microsoft.com/office/drawing/2014/main" id="{D3416CC3-BF7D-4E44-9802-1CA8583799D9}"/>
              </a:ext>
            </a:extLst>
          </p:cNvPr>
          <p:cNvSpPr/>
          <p:nvPr/>
        </p:nvSpPr>
        <p:spPr>
          <a:xfrm>
            <a:off x="676656" y="2633472"/>
            <a:ext cx="2295144"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Microsoft YaHei"/>
              </a:defRPr>
            </a:pPr>
            <a:r>
              <a:rPr sz="1600" dirty="0">
                <a:solidFill>
                  <a:schemeClr val="tx1"/>
                </a:solidFill>
                <a:latin typeface="黑体" panose="02010609060101010101" pitchFamily="49" charset="-122"/>
                <a:ea typeface="黑体" panose="02010609060101010101" pitchFamily="49" charset="-122"/>
              </a:rPr>
              <a:t>1</a:t>
            </a:r>
            <a:r>
              <a:rPr lang="en-US" sz="1600" dirty="0">
                <a:solidFill>
                  <a:schemeClr val="tx1"/>
                </a:solidFill>
                <a:latin typeface="黑体" panose="02010609060101010101" pitchFamily="49" charset="-122"/>
                <a:ea typeface="黑体" panose="02010609060101010101" pitchFamily="49" charset="-122"/>
              </a:rPr>
              <a:t> </a:t>
            </a:r>
            <a:r>
              <a:rPr sz="1600" dirty="0" err="1">
                <a:solidFill>
                  <a:schemeClr val="tx1"/>
                </a:solidFill>
                <a:latin typeface="黑体" panose="02010609060101010101" pitchFamily="49" charset="-122"/>
                <a:ea typeface="黑体" panose="02010609060101010101" pitchFamily="49" charset="-122"/>
              </a:rPr>
              <a:t>需求侧</a:t>
            </a:r>
            <a:endParaRPr sz="1600" dirty="0">
              <a:solidFill>
                <a:schemeClr val="tx1"/>
              </a:solidFill>
              <a:latin typeface="黑体" panose="02010609060101010101" pitchFamily="49" charset="-122"/>
              <a:ea typeface="黑体" panose="02010609060101010101" pitchFamily="49" charset="-122"/>
            </a:endParaRPr>
          </a:p>
        </p:txBody>
      </p:sp>
      <p:sp>
        <p:nvSpPr>
          <p:cNvPr id="18" name="Rounded Rectangle 15">
            <a:extLst>
              <a:ext uri="{FF2B5EF4-FFF2-40B4-BE49-F238E27FC236}">
                <a16:creationId xmlns:a16="http://schemas.microsoft.com/office/drawing/2014/main" id="{22FC6860-2E85-48C4-B2AF-569BA5608FFB}"/>
              </a:ext>
            </a:extLst>
          </p:cNvPr>
          <p:cNvSpPr/>
          <p:nvPr/>
        </p:nvSpPr>
        <p:spPr>
          <a:xfrm>
            <a:off x="3511296" y="2633472"/>
            <a:ext cx="2221991"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Microsoft YaHei"/>
              </a:defRPr>
            </a:pPr>
            <a:r>
              <a:rPr sz="1600" b="1" dirty="0">
                <a:solidFill>
                  <a:schemeClr val="tx1"/>
                </a:solidFill>
                <a:latin typeface="黑体" panose="02010609060101010101" pitchFamily="49" charset="-122"/>
                <a:ea typeface="黑体" panose="02010609060101010101" pitchFamily="49" charset="-122"/>
              </a:rPr>
              <a:t>2 </a:t>
            </a:r>
            <a:r>
              <a:rPr sz="1600" b="1" dirty="0" err="1">
                <a:solidFill>
                  <a:schemeClr val="tx1"/>
                </a:solidFill>
                <a:latin typeface="黑体" panose="02010609060101010101" pitchFamily="49" charset="-122"/>
                <a:ea typeface="黑体" panose="02010609060101010101" pitchFamily="49" charset="-122"/>
              </a:rPr>
              <a:t>内存图索引侧</a:t>
            </a:r>
            <a:endParaRPr sz="1600" b="1" dirty="0">
              <a:solidFill>
                <a:schemeClr val="tx1"/>
              </a:solidFill>
              <a:latin typeface="黑体" panose="02010609060101010101" pitchFamily="49" charset="-122"/>
              <a:ea typeface="黑体" panose="02010609060101010101" pitchFamily="49" charset="-122"/>
            </a:endParaRPr>
          </a:p>
        </p:txBody>
      </p:sp>
      <p:sp>
        <p:nvSpPr>
          <p:cNvPr id="19" name="Rounded Rectangle 20">
            <a:extLst>
              <a:ext uri="{FF2B5EF4-FFF2-40B4-BE49-F238E27FC236}">
                <a16:creationId xmlns:a16="http://schemas.microsoft.com/office/drawing/2014/main" id="{AB6F0A59-ECD7-4EF5-B8FB-90C234304595}"/>
              </a:ext>
            </a:extLst>
          </p:cNvPr>
          <p:cNvSpPr/>
          <p:nvPr/>
        </p:nvSpPr>
        <p:spPr>
          <a:xfrm>
            <a:off x="6272784" y="2633472"/>
            <a:ext cx="2221991"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Microsoft YaHei"/>
              </a:defRPr>
            </a:pPr>
            <a:r>
              <a:rPr sz="1600" b="1" dirty="0">
                <a:solidFill>
                  <a:schemeClr val="tx1"/>
                </a:solidFill>
                <a:latin typeface="黑体" panose="02010609060101010101" pitchFamily="49" charset="-122"/>
                <a:ea typeface="黑体" panose="02010609060101010101" pitchFamily="49" charset="-122"/>
              </a:rPr>
              <a:t>3 </a:t>
            </a:r>
            <a:r>
              <a:rPr sz="1600" b="1" dirty="0" err="1">
                <a:solidFill>
                  <a:schemeClr val="tx1"/>
                </a:solidFill>
                <a:latin typeface="黑体" panose="02010609060101010101" pitchFamily="49" charset="-122"/>
                <a:ea typeface="黑体" panose="02010609060101010101" pitchFamily="49" charset="-122"/>
              </a:rPr>
              <a:t>外存索引侧</a:t>
            </a:r>
            <a:endParaRPr sz="1600" b="1" dirty="0">
              <a:solidFill>
                <a:schemeClr val="tx1"/>
              </a:solidFill>
              <a:latin typeface="黑体" panose="02010609060101010101" pitchFamily="49" charset="-122"/>
              <a:ea typeface="黑体" panose="02010609060101010101" pitchFamily="49" charset="-122"/>
            </a:endParaRPr>
          </a:p>
        </p:txBody>
      </p:sp>
      <p:sp>
        <p:nvSpPr>
          <p:cNvPr id="20" name="Rounded Rectangle 25">
            <a:extLst>
              <a:ext uri="{FF2B5EF4-FFF2-40B4-BE49-F238E27FC236}">
                <a16:creationId xmlns:a16="http://schemas.microsoft.com/office/drawing/2014/main" id="{AD64ED27-8710-4919-8B01-DD0EE963CCFE}"/>
              </a:ext>
            </a:extLst>
          </p:cNvPr>
          <p:cNvSpPr/>
          <p:nvPr/>
        </p:nvSpPr>
        <p:spPr>
          <a:xfrm>
            <a:off x="9034272" y="2633472"/>
            <a:ext cx="2313432"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Microsoft YaHei"/>
              </a:defRPr>
            </a:pPr>
            <a:r>
              <a:rPr lang="en-US" altLang="zh-CN" sz="1600" b="1" dirty="0">
                <a:solidFill>
                  <a:schemeClr val="tx1"/>
                </a:solidFill>
                <a:latin typeface="黑体" panose="02010609060101010101" pitchFamily="49" charset="-122"/>
                <a:ea typeface="黑体" panose="02010609060101010101" pitchFamily="49" charset="-122"/>
              </a:rPr>
              <a:t>4 </a:t>
            </a:r>
            <a:r>
              <a:rPr lang="zh-CN" altLang="en-US" sz="1600" b="1" dirty="0">
                <a:solidFill>
                  <a:schemeClr val="tx1"/>
                </a:solidFill>
                <a:latin typeface="黑体" panose="02010609060101010101" pitchFamily="49" charset="-122"/>
                <a:ea typeface="黑体" panose="02010609060101010101" pitchFamily="49" charset="-122"/>
              </a:rPr>
              <a:t>本课题缺口</a:t>
            </a:r>
            <a:endParaRPr sz="1600" b="1" dirty="0">
              <a:solidFill>
                <a:schemeClr val="tx1"/>
              </a:solidFill>
              <a:latin typeface="黑体" panose="02010609060101010101" pitchFamily="49" charset="-122"/>
              <a:ea typeface="黑体" panose="02010609060101010101" pitchFamily="49" charset="-122"/>
            </a:endParaRPr>
          </a:p>
        </p:txBody>
      </p:sp>
      <p:sp>
        <p:nvSpPr>
          <p:cNvPr id="21" name="TextBox 11">
            <a:extLst>
              <a:ext uri="{FF2B5EF4-FFF2-40B4-BE49-F238E27FC236}">
                <a16:creationId xmlns:a16="http://schemas.microsoft.com/office/drawing/2014/main" id="{075896A6-195B-41DC-8B6B-7458A9B4E5A3}"/>
              </a:ext>
            </a:extLst>
          </p:cNvPr>
          <p:cNvSpPr txBox="1"/>
          <p:nvPr/>
        </p:nvSpPr>
        <p:spPr>
          <a:xfrm>
            <a:off x="855533" y="3127248"/>
            <a:ext cx="1937390" cy="307777"/>
          </a:xfrm>
          <a:prstGeom prst="rect">
            <a:avLst/>
          </a:prstGeom>
          <a:noFill/>
        </p:spPr>
        <p:txBody>
          <a:bodyPr wrap="none" lIns="73152" rIns="73152">
            <a:spAutoFit/>
          </a:bodyPr>
          <a:lstStyle/>
          <a:p>
            <a:pPr algn="ctr">
              <a:defRPr sz="1000" b="1">
                <a:solidFill>
                  <a:srgbClr val="CC0000"/>
                </a:solidFill>
                <a:latin typeface="Microsoft YaHei"/>
              </a:defRPr>
            </a:pPr>
            <a:r>
              <a:rPr sz="1400" dirty="0"/>
              <a:t>Freshness / </a:t>
            </a:r>
            <a:r>
              <a:rPr sz="1400" dirty="0" err="1"/>
              <a:t>写后可查</a:t>
            </a:r>
            <a:endParaRPr sz="1400" dirty="0"/>
          </a:p>
        </p:txBody>
      </p:sp>
      <p:sp>
        <p:nvSpPr>
          <p:cNvPr id="22" name="TextBox 16">
            <a:extLst>
              <a:ext uri="{FF2B5EF4-FFF2-40B4-BE49-F238E27FC236}">
                <a16:creationId xmlns:a16="http://schemas.microsoft.com/office/drawing/2014/main" id="{DDDFF166-3B44-48A3-9F95-8E61B33C2157}"/>
              </a:ext>
            </a:extLst>
          </p:cNvPr>
          <p:cNvSpPr txBox="1"/>
          <p:nvPr/>
        </p:nvSpPr>
        <p:spPr>
          <a:xfrm>
            <a:off x="3639523" y="3127248"/>
            <a:ext cx="1965538" cy="307777"/>
          </a:xfrm>
          <a:prstGeom prst="rect">
            <a:avLst/>
          </a:prstGeom>
          <a:noFill/>
        </p:spPr>
        <p:txBody>
          <a:bodyPr wrap="none" lIns="73152" rIns="73152">
            <a:spAutoFit/>
          </a:bodyPr>
          <a:lstStyle/>
          <a:p>
            <a:pPr algn="ctr">
              <a:defRPr sz="1000" b="1">
                <a:solidFill>
                  <a:srgbClr val="CC0000"/>
                </a:solidFill>
                <a:latin typeface="Microsoft YaHei"/>
              </a:defRPr>
            </a:pPr>
            <a:r>
              <a:rPr sz="1400" dirty="0" err="1"/>
              <a:t>并发插入</a:t>
            </a:r>
            <a:r>
              <a:rPr sz="1400" dirty="0"/>
              <a:t> / </a:t>
            </a:r>
            <a:r>
              <a:rPr sz="1400" dirty="0" err="1"/>
              <a:t>删除</a:t>
            </a:r>
            <a:r>
              <a:rPr sz="1400" dirty="0"/>
              <a:t> / </a:t>
            </a:r>
            <a:r>
              <a:rPr sz="1400" dirty="0" err="1"/>
              <a:t>查询</a:t>
            </a:r>
            <a:endParaRPr sz="1400" dirty="0"/>
          </a:p>
        </p:txBody>
      </p:sp>
      <p:sp>
        <p:nvSpPr>
          <p:cNvPr id="23" name="TextBox 21">
            <a:extLst>
              <a:ext uri="{FF2B5EF4-FFF2-40B4-BE49-F238E27FC236}">
                <a16:creationId xmlns:a16="http://schemas.microsoft.com/office/drawing/2014/main" id="{B1D39BF9-5DD7-448F-A8C4-356AB8AD6D89}"/>
              </a:ext>
            </a:extLst>
          </p:cNvPr>
          <p:cNvSpPr txBox="1"/>
          <p:nvPr/>
        </p:nvSpPr>
        <p:spPr>
          <a:xfrm>
            <a:off x="6316853" y="3127248"/>
            <a:ext cx="2133854" cy="307777"/>
          </a:xfrm>
          <a:prstGeom prst="rect">
            <a:avLst/>
          </a:prstGeom>
          <a:noFill/>
        </p:spPr>
        <p:txBody>
          <a:bodyPr wrap="none" lIns="73152" rIns="73152">
            <a:spAutoFit/>
          </a:bodyPr>
          <a:lstStyle/>
          <a:p>
            <a:pPr algn="ctr">
              <a:defRPr sz="1000" b="1">
                <a:solidFill>
                  <a:srgbClr val="CC0000"/>
                </a:solidFill>
                <a:latin typeface="Microsoft YaHei"/>
              </a:defRPr>
            </a:pPr>
            <a:r>
              <a:rPr sz="1400" dirty="0" err="1"/>
              <a:t>减少合并抖动</a:t>
            </a:r>
            <a:r>
              <a:rPr sz="1400" dirty="0"/>
              <a:t> / </a:t>
            </a:r>
            <a:r>
              <a:rPr sz="1400" dirty="0" err="1"/>
              <a:t>局部更新</a:t>
            </a:r>
            <a:endParaRPr sz="1400" dirty="0"/>
          </a:p>
        </p:txBody>
      </p:sp>
      <p:sp>
        <p:nvSpPr>
          <p:cNvPr id="24" name="TextBox 26">
            <a:extLst>
              <a:ext uri="{FF2B5EF4-FFF2-40B4-BE49-F238E27FC236}">
                <a16:creationId xmlns:a16="http://schemas.microsoft.com/office/drawing/2014/main" id="{33EC093C-6615-4D76-9E95-F52204D10C81}"/>
              </a:ext>
            </a:extLst>
          </p:cNvPr>
          <p:cNvSpPr txBox="1"/>
          <p:nvPr/>
        </p:nvSpPr>
        <p:spPr>
          <a:xfrm>
            <a:off x="9039903" y="3127248"/>
            <a:ext cx="2302170" cy="307777"/>
          </a:xfrm>
          <a:prstGeom prst="rect">
            <a:avLst/>
          </a:prstGeom>
          <a:noFill/>
        </p:spPr>
        <p:txBody>
          <a:bodyPr wrap="none" lIns="73152" rIns="73152">
            <a:spAutoFit/>
          </a:bodyPr>
          <a:lstStyle/>
          <a:p>
            <a:pPr algn="ctr">
              <a:defRPr sz="1000" b="1">
                <a:solidFill>
                  <a:srgbClr val="CC0000"/>
                </a:solidFill>
                <a:latin typeface="Microsoft YaHei"/>
              </a:defRPr>
            </a:pPr>
            <a:r>
              <a:rPr sz="1400" dirty="0" err="1"/>
              <a:t>分布式对象存储内更新协同</a:t>
            </a:r>
            <a:endParaRPr sz="1400" dirty="0"/>
          </a:p>
        </p:txBody>
      </p:sp>
      <p:sp>
        <p:nvSpPr>
          <p:cNvPr id="25" name="TextBox 12">
            <a:extLst>
              <a:ext uri="{FF2B5EF4-FFF2-40B4-BE49-F238E27FC236}">
                <a16:creationId xmlns:a16="http://schemas.microsoft.com/office/drawing/2014/main" id="{0EC808F1-1C08-4AFD-888E-88AFEDA6846B}"/>
              </a:ext>
            </a:extLst>
          </p:cNvPr>
          <p:cNvSpPr txBox="1"/>
          <p:nvPr/>
        </p:nvSpPr>
        <p:spPr>
          <a:xfrm>
            <a:off x="768730" y="3376613"/>
            <a:ext cx="2150107" cy="1200329"/>
          </a:xfrm>
          <a:prstGeom prst="rect">
            <a:avLst/>
          </a:prstGeom>
          <a:noFill/>
        </p:spPr>
        <p:txBody>
          <a:bodyPr wrap="square" lIns="73152" rIns="73152">
            <a:spAutoFit/>
          </a:bodyPr>
          <a:lstStyle/>
          <a:p>
            <a:pPr algn="l">
              <a:defRPr sz="819" b="0">
                <a:solidFill>
                  <a:srgbClr val="203549"/>
                </a:solidFill>
                <a:latin typeface="Microsoft YaHei"/>
              </a:defRPr>
            </a:pPr>
            <a:r>
              <a:rPr sz="1200" dirty="0"/>
              <a:t>Pinecone（2021 public </a:t>
            </a:r>
            <a:r>
              <a:rPr sz="1200" dirty="0" err="1"/>
              <a:t>beta；官方文档称写入数秒内可查</a:t>
            </a:r>
            <a:r>
              <a:rPr sz="1200" dirty="0"/>
              <a:t>）</a:t>
            </a:r>
          </a:p>
          <a:p>
            <a:pPr algn="l">
              <a:defRPr sz="819" b="0">
                <a:solidFill>
                  <a:srgbClr val="203549"/>
                </a:solidFill>
                <a:latin typeface="Microsoft YaHei"/>
              </a:defRPr>
            </a:pPr>
            <a:r>
              <a:rPr sz="1200" dirty="0" err="1"/>
              <a:t>VDBBench（Zilliz</a:t>
            </a:r>
            <a:r>
              <a:rPr sz="1200" dirty="0"/>
              <a:t>/Milvus，2025 v1.0；面向流式写入、并发查询、P99/Recall）</a:t>
            </a:r>
          </a:p>
        </p:txBody>
      </p:sp>
      <p:sp>
        <p:nvSpPr>
          <p:cNvPr id="26" name="TextBox 17">
            <a:extLst>
              <a:ext uri="{FF2B5EF4-FFF2-40B4-BE49-F238E27FC236}">
                <a16:creationId xmlns:a16="http://schemas.microsoft.com/office/drawing/2014/main" id="{64BFB86E-9E85-4D6E-B6B8-E2EE37353741}"/>
              </a:ext>
            </a:extLst>
          </p:cNvPr>
          <p:cNvSpPr txBox="1"/>
          <p:nvPr/>
        </p:nvSpPr>
        <p:spPr>
          <a:xfrm>
            <a:off x="3596289" y="3557016"/>
            <a:ext cx="2267723" cy="830997"/>
          </a:xfrm>
          <a:prstGeom prst="rect">
            <a:avLst/>
          </a:prstGeom>
          <a:noFill/>
        </p:spPr>
        <p:txBody>
          <a:bodyPr wrap="square" lIns="73152" rIns="73152">
            <a:spAutoFit/>
          </a:bodyPr>
          <a:lstStyle/>
          <a:p>
            <a:pPr algn="l">
              <a:defRPr sz="819" b="0">
                <a:solidFill>
                  <a:srgbClr val="203549"/>
                </a:solidFill>
                <a:latin typeface="Microsoft YaHei"/>
              </a:defRPr>
            </a:pPr>
            <a:r>
              <a:rPr sz="1200" dirty="0" err="1"/>
              <a:t>FreshDiskANN（</a:t>
            </a:r>
            <a:r>
              <a:rPr lang="en-US" altLang="zh-CN" sz="1200" dirty="0" err="1">
                <a:solidFill>
                  <a:srgbClr val="203549"/>
                </a:solidFill>
                <a:latin typeface="Microsoft YaHei"/>
              </a:rPr>
              <a:t>SIGMOD</a:t>
            </a:r>
            <a:r>
              <a:rPr lang="en-US" altLang="zh-CN" sz="1200" dirty="0">
                <a:solidFill>
                  <a:srgbClr val="203549"/>
                </a:solidFill>
                <a:latin typeface="Microsoft YaHei"/>
              </a:rPr>
              <a:t> 2022 </a:t>
            </a:r>
            <a:r>
              <a:rPr sz="1200" dirty="0">
                <a:solidFill>
                  <a:srgbClr val="203549"/>
                </a:solidFill>
                <a:latin typeface="Microsoft YaHei"/>
              </a:rPr>
              <a:t>）</a:t>
            </a:r>
          </a:p>
          <a:p>
            <a:pPr algn="l">
              <a:defRPr sz="819" b="0">
                <a:solidFill>
                  <a:srgbClr val="203549"/>
                </a:solidFill>
                <a:latin typeface="Microsoft YaHei"/>
              </a:defRPr>
            </a:pPr>
            <a:r>
              <a:rPr sz="1200" dirty="0" err="1">
                <a:solidFill>
                  <a:srgbClr val="203549"/>
                </a:solidFill>
                <a:latin typeface="Microsoft YaHei"/>
              </a:rPr>
              <a:t>CleANN（SIGMOD</a:t>
            </a:r>
            <a:r>
              <a:rPr sz="1200" dirty="0">
                <a:solidFill>
                  <a:srgbClr val="203549"/>
                </a:solidFill>
                <a:latin typeface="Microsoft YaHei"/>
              </a:rPr>
              <a:t>/PODS 2026</a:t>
            </a:r>
            <a:r>
              <a:rPr sz="1200" dirty="0"/>
              <a:t>）</a:t>
            </a:r>
          </a:p>
        </p:txBody>
      </p:sp>
      <p:sp>
        <p:nvSpPr>
          <p:cNvPr id="27" name="TextBox 22">
            <a:extLst>
              <a:ext uri="{FF2B5EF4-FFF2-40B4-BE49-F238E27FC236}">
                <a16:creationId xmlns:a16="http://schemas.microsoft.com/office/drawing/2014/main" id="{BE53EBE2-C510-40E4-B780-8BAE9E6A8410}"/>
              </a:ext>
            </a:extLst>
          </p:cNvPr>
          <p:cNvSpPr txBox="1"/>
          <p:nvPr/>
        </p:nvSpPr>
        <p:spPr>
          <a:xfrm>
            <a:off x="6309360" y="3557016"/>
            <a:ext cx="2133854" cy="461665"/>
          </a:xfrm>
          <a:prstGeom prst="rect">
            <a:avLst/>
          </a:prstGeom>
          <a:noFill/>
        </p:spPr>
        <p:txBody>
          <a:bodyPr wrap="square" lIns="73152" rIns="73152">
            <a:spAutoFit/>
          </a:bodyPr>
          <a:lstStyle/>
          <a:p>
            <a:pPr algn="l">
              <a:defRPr sz="819" b="0">
                <a:solidFill>
                  <a:srgbClr val="203549"/>
                </a:solidFill>
                <a:latin typeface="Microsoft YaHei"/>
              </a:defRPr>
            </a:pPr>
            <a:r>
              <a:rPr sz="1200" dirty="0" err="1"/>
              <a:t>SPFresh（SOSP</a:t>
            </a:r>
            <a:r>
              <a:rPr sz="1200" dirty="0"/>
              <a:t> 2023）</a:t>
            </a:r>
          </a:p>
          <a:p>
            <a:pPr algn="l">
              <a:defRPr sz="819" b="0">
                <a:solidFill>
                  <a:srgbClr val="203549"/>
                </a:solidFill>
                <a:latin typeface="Microsoft YaHei"/>
              </a:defRPr>
            </a:pPr>
            <a:r>
              <a:rPr sz="1200" dirty="0" err="1"/>
              <a:t>OdinANN（FAST</a:t>
            </a:r>
            <a:r>
              <a:rPr sz="1200" dirty="0"/>
              <a:t> 2026）</a:t>
            </a:r>
          </a:p>
        </p:txBody>
      </p:sp>
      <p:sp>
        <p:nvSpPr>
          <p:cNvPr id="28" name="TextBox 27">
            <a:extLst>
              <a:ext uri="{FF2B5EF4-FFF2-40B4-BE49-F238E27FC236}">
                <a16:creationId xmlns:a16="http://schemas.microsoft.com/office/drawing/2014/main" id="{03527A56-98C9-432E-BC27-45525245CFA2}"/>
              </a:ext>
            </a:extLst>
          </p:cNvPr>
          <p:cNvSpPr txBox="1"/>
          <p:nvPr/>
        </p:nvSpPr>
        <p:spPr>
          <a:xfrm>
            <a:off x="9070848" y="3557016"/>
            <a:ext cx="2029979" cy="646331"/>
          </a:xfrm>
          <a:prstGeom prst="rect">
            <a:avLst/>
          </a:prstGeom>
          <a:noFill/>
        </p:spPr>
        <p:txBody>
          <a:bodyPr wrap="none" lIns="73152" rIns="73152">
            <a:spAutoFit/>
          </a:bodyPr>
          <a:lstStyle/>
          <a:p>
            <a:pPr algn="l">
              <a:defRPr sz="819" b="0">
                <a:solidFill>
                  <a:srgbClr val="203549"/>
                </a:solidFill>
                <a:latin typeface="Microsoft YaHei"/>
              </a:defRPr>
            </a:pPr>
            <a:r>
              <a:rPr sz="1200" dirty="0" err="1"/>
              <a:t>候选向量跨OSD搬运</a:t>
            </a:r>
            <a:endParaRPr sz="1200" dirty="0"/>
          </a:p>
          <a:p>
            <a:pPr algn="l">
              <a:defRPr sz="819" b="0">
                <a:solidFill>
                  <a:srgbClr val="203549"/>
                </a:solidFill>
                <a:latin typeface="Microsoft YaHei"/>
              </a:defRPr>
            </a:pPr>
            <a:r>
              <a:rPr sz="1200" dirty="0" err="1"/>
              <a:t>频繁cls_exec导致往返</a:t>
            </a:r>
            <a:r>
              <a:rPr sz="1200" dirty="0"/>
              <a:t>/</a:t>
            </a:r>
            <a:r>
              <a:rPr sz="1200" dirty="0" err="1"/>
              <a:t>排队</a:t>
            </a:r>
            <a:endParaRPr sz="1200" dirty="0"/>
          </a:p>
          <a:p>
            <a:pPr algn="l">
              <a:defRPr sz="819" b="0">
                <a:solidFill>
                  <a:srgbClr val="203549"/>
                </a:solidFill>
                <a:latin typeface="Microsoft YaHei"/>
              </a:defRPr>
            </a:pPr>
            <a:r>
              <a:rPr sz="1200" dirty="0"/>
              <a:t>global </a:t>
            </a:r>
            <a:r>
              <a:rPr sz="1200" dirty="0" err="1"/>
              <a:t>meta成为写热点</a:t>
            </a:r>
            <a:endParaRPr sz="1200" dirty="0"/>
          </a:p>
        </p:txBody>
      </p:sp>
      <p:sp>
        <p:nvSpPr>
          <p:cNvPr id="29" name="Rounded Rectangle 13">
            <a:extLst>
              <a:ext uri="{FF2B5EF4-FFF2-40B4-BE49-F238E27FC236}">
                <a16:creationId xmlns:a16="http://schemas.microsoft.com/office/drawing/2014/main" id="{75E607AF-3927-4930-9945-B118BE3B87AF}"/>
              </a:ext>
            </a:extLst>
          </p:cNvPr>
          <p:cNvSpPr/>
          <p:nvPr/>
        </p:nvSpPr>
        <p:spPr>
          <a:xfrm>
            <a:off x="713232" y="4636008"/>
            <a:ext cx="2221992" cy="566928"/>
          </a:xfrm>
          <a:prstGeom prst="roundRect">
            <a:avLst/>
          </a:prstGeom>
          <a:solidFill>
            <a:srgbClr val="E2F0F9"/>
          </a:solidFill>
          <a:ln w="15240">
            <a:solidFill>
              <a:srgbClr val="BEDCEE"/>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defRPr sz="830" b="0">
                <a:solidFill>
                  <a:srgbClr val="203549"/>
                </a:solidFill>
                <a:latin typeface="Microsoft YaHei"/>
              </a:defRPr>
            </a:pPr>
            <a:r>
              <a:rPr sz="1200" dirty="0" err="1"/>
              <a:t>说明：动态更新不再是后台维护，而是在线服务指标</a:t>
            </a:r>
            <a:r>
              <a:rPr sz="1200" dirty="0"/>
              <a:t>。</a:t>
            </a:r>
          </a:p>
        </p:txBody>
      </p:sp>
      <p:sp>
        <p:nvSpPr>
          <p:cNvPr id="30" name="Rounded Rectangle 18">
            <a:extLst>
              <a:ext uri="{FF2B5EF4-FFF2-40B4-BE49-F238E27FC236}">
                <a16:creationId xmlns:a16="http://schemas.microsoft.com/office/drawing/2014/main" id="{C26ACC91-B2CD-4369-840D-69C10852C43C}"/>
              </a:ext>
            </a:extLst>
          </p:cNvPr>
          <p:cNvSpPr/>
          <p:nvPr/>
        </p:nvSpPr>
        <p:spPr>
          <a:xfrm>
            <a:off x="3470130" y="4526940"/>
            <a:ext cx="2267723" cy="675996"/>
          </a:xfrm>
          <a:prstGeom prst="roundRect">
            <a:avLst/>
          </a:prstGeom>
          <a:solidFill>
            <a:srgbClr val="E2F0F9"/>
          </a:solidFill>
          <a:ln w="15240">
            <a:solidFill>
              <a:srgbClr val="BEDCEE"/>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defRPr sz="830" b="0">
                <a:solidFill>
                  <a:srgbClr val="203549"/>
                </a:solidFill>
                <a:latin typeface="Microsoft YaHei"/>
              </a:defRPr>
            </a:pPr>
            <a:r>
              <a:rPr sz="1200" dirty="0" err="1"/>
              <a:t>优点：证明动态图维护可行</a:t>
            </a:r>
            <a:r>
              <a:rPr sz="1200" dirty="0"/>
              <a:t>；</a:t>
            </a:r>
          </a:p>
          <a:p>
            <a:pPr algn="l">
              <a:defRPr sz="830" b="0">
                <a:solidFill>
                  <a:srgbClr val="203549"/>
                </a:solidFill>
                <a:latin typeface="Microsoft YaHei"/>
              </a:defRPr>
            </a:pPr>
            <a:r>
              <a:rPr sz="1200" dirty="0" err="1"/>
              <a:t>不足：主要关注算法与内存</a:t>
            </a:r>
            <a:r>
              <a:rPr sz="1200" dirty="0"/>
              <a:t>/</a:t>
            </a:r>
            <a:r>
              <a:rPr sz="1200" dirty="0" err="1"/>
              <a:t>单机并发</a:t>
            </a:r>
            <a:r>
              <a:rPr sz="1200" dirty="0"/>
              <a:t>。</a:t>
            </a:r>
          </a:p>
        </p:txBody>
      </p:sp>
      <p:sp>
        <p:nvSpPr>
          <p:cNvPr id="31" name="Rounded Rectangle 23">
            <a:extLst>
              <a:ext uri="{FF2B5EF4-FFF2-40B4-BE49-F238E27FC236}">
                <a16:creationId xmlns:a16="http://schemas.microsoft.com/office/drawing/2014/main" id="{50CC6E3C-F589-4914-907F-A0EBD508A46C}"/>
              </a:ext>
            </a:extLst>
          </p:cNvPr>
          <p:cNvSpPr/>
          <p:nvPr/>
        </p:nvSpPr>
        <p:spPr>
          <a:xfrm>
            <a:off x="6217380" y="4510607"/>
            <a:ext cx="2347986" cy="765823"/>
          </a:xfrm>
          <a:prstGeom prst="roundRect">
            <a:avLst/>
          </a:prstGeom>
          <a:solidFill>
            <a:srgbClr val="E2F0F9"/>
          </a:solidFill>
          <a:ln w="15240">
            <a:solidFill>
              <a:srgbClr val="BEDCEE"/>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defRPr sz="830" b="0">
                <a:solidFill>
                  <a:srgbClr val="203549"/>
                </a:solidFill>
                <a:latin typeface="Microsoft YaHei"/>
              </a:defRPr>
            </a:pPr>
            <a:r>
              <a:rPr sz="1200" dirty="0" err="1"/>
              <a:t>优点：面向SSD十亿级和持续更新</a:t>
            </a:r>
            <a:r>
              <a:rPr sz="1200" dirty="0"/>
              <a:t>；</a:t>
            </a:r>
          </a:p>
          <a:p>
            <a:pPr algn="l">
              <a:defRPr sz="830" b="0">
                <a:solidFill>
                  <a:srgbClr val="203549"/>
                </a:solidFill>
                <a:latin typeface="Microsoft YaHei"/>
              </a:defRPr>
            </a:pPr>
            <a:r>
              <a:rPr sz="1200" dirty="0" err="1"/>
              <a:t>不足：仍以单机</a:t>
            </a:r>
            <a:r>
              <a:rPr sz="1200" dirty="0"/>
              <a:t>/</a:t>
            </a:r>
            <a:r>
              <a:rPr sz="1200" dirty="0" err="1"/>
              <a:t>磁盘图为主</a:t>
            </a:r>
            <a:r>
              <a:rPr sz="1200" dirty="0"/>
              <a:t>。</a:t>
            </a:r>
          </a:p>
        </p:txBody>
      </p:sp>
      <p:sp>
        <p:nvSpPr>
          <p:cNvPr id="32" name="Rounded Rectangle 28">
            <a:extLst>
              <a:ext uri="{FF2B5EF4-FFF2-40B4-BE49-F238E27FC236}">
                <a16:creationId xmlns:a16="http://schemas.microsoft.com/office/drawing/2014/main" id="{F26F571E-11A1-4719-8358-C4CFCCC293A3}"/>
              </a:ext>
            </a:extLst>
          </p:cNvPr>
          <p:cNvSpPr/>
          <p:nvPr/>
        </p:nvSpPr>
        <p:spPr>
          <a:xfrm>
            <a:off x="9070848" y="4526940"/>
            <a:ext cx="2240280" cy="675996"/>
          </a:xfrm>
          <a:prstGeom prst="roundRect">
            <a:avLst/>
          </a:prstGeom>
          <a:solidFill>
            <a:srgbClr val="E2F0F9"/>
          </a:solidFill>
          <a:ln w="15240">
            <a:solidFill>
              <a:srgbClr val="BEDCEE"/>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defRPr sz="830" b="0">
                <a:solidFill>
                  <a:srgbClr val="203549"/>
                </a:solidFill>
                <a:latin typeface="Microsoft YaHei"/>
              </a:defRPr>
            </a:pPr>
            <a:r>
              <a:rPr sz="1200" dirty="0" err="1"/>
              <a:t>问题：还缺少把距离计算、邻接patch和元数据协议协同下沉到对象存储侧的机制</a:t>
            </a:r>
            <a:r>
              <a:rPr sz="1200" dirty="0"/>
              <a:t>。</a:t>
            </a:r>
          </a:p>
        </p:txBody>
      </p:sp>
      <p:sp>
        <p:nvSpPr>
          <p:cNvPr id="33" name="灯片编号占位符 1">
            <a:extLst>
              <a:ext uri="{FF2B5EF4-FFF2-40B4-BE49-F238E27FC236}">
                <a16:creationId xmlns:a16="http://schemas.microsoft.com/office/drawing/2014/main" id="{610B9574-70B7-4897-A811-AE030D7DD4A0}"/>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8</a:t>
            </a:fld>
            <a:endParaRPr lang="en-US" altLang="zh-CN" dirty="0"/>
          </a:p>
        </p:txBody>
      </p:sp>
      <p:sp>
        <p:nvSpPr>
          <p:cNvPr id="34" name="文本框 33">
            <a:extLst>
              <a:ext uri="{FF2B5EF4-FFF2-40B4-BE49-F238E27FC236}">
                <a16:creationId xmlns:a16="http://schemas.microsoft.com/office/drawing/2014/main" id="{E58421E3-6F0B-47B1-842A-4D8DD9C2174C}"/>
              </a:ext>
            </a:extLst>
          </p:cNvPr>
          <p:cNvSpPr txBox="1"/>
          <p:nvPr/>
        </p:nvSpPr>
        <p:spPr>
          <a:xfrm>
            <a:off x="2777970" y="1851482"/>
            <a:ext cx="7920880" cy="369332"/>
          </a:xfrm>
          <a:prstGeom prst="rect">
            <a:avLst/>
          </a:prstGeom>
          <a:noFill/>
        </p:spPr>
        <p:txBody>
          <a:bodyPr wrap="square">
            <a:spAutoFit/>
          </a:bodyPr>
          <a:lstStyle/>
          <a:p>
            <a:r>
              <a:rPr lang="en-US" altLang="zh-CN" sz="1800" b="1" dirty="0" err="1">
                <a:solidFill>
                  <a:schemeClr val="tx1"/>
                </a:solidFill>
                <a:latin typeface="黑体" panose="02010609060101010101" pitchFamily="49" charset="-122"/>
                <a:cs typeface="Microsoft YaHei" pitchFamily="34" charset="-120"/>
              </a:rPr>
              <a:t>需求</a:t>
            </a:r>
            <a:r>
              <a:rPr lang="zh-CN" altLang="en-US" sz="1800" b="1" dirty="0">
                <a:solidFill>
                  <a:schemeClr val="tx1"/>
                </a:solidFill>
                <a:latin typeface="黑体" panose="02010609060101010101" pitchFamily="49" charset="-122"/>
                <a:cs typeface="Microsoft YaHei" pitchFamily="34" charset="-120"/>
              </a:rPr>
              <a:t>推动</a:t>
            </a:r>
            <a:r>
              <a:rPr lang="en-US" altLang="zh-CN" sz="1800" b="1" dirty="0">
                <a:solidFill>
                  <a:schemeClr val="tx1"/>
                </a:solidFill>
                <a:latin typeface="黑体" panose="02010609060101010101" pitchFamily="49" charset="-122"/>
                <a:cs typeface="Microsoft YaHei" pitchFamily="34" charset="-120"/>
              </a:rPr>
              <a:t> → </a:t>
            </a:r>
            <a:r>
              <a:rPr lang="en-US" altLang="zh-CN" sz="1800" b="1" dirty="0" err="1">
                <a:solidFill>
                  <a:schemeClr val="tx1"/>
                </a:solidFill>
                <a:latin typeface="黑体" panose="02010609060101010101" pitchFamily="49" charset="-122"/>
                <a:cs typeface="Microsoft YaHei" pitchFamily="34" charset="-120"/>
              </a:rPr>
              <a:t>索引</a:t>
            </a:r>
            <a:r>
              <a:rPr lang="zh-CN" altLang="en-US" sz="1800" b="1" dirty="0">
                <a:solidFill>
                  <a:schemeClr val="tx1"/>
                </a:solidFill>
                <a:latin typeface="黑体" panose="02010609060101010101" pitchFamily="49" charset="-122"/>
                <a:cs typeface="Microsoft YaHei" pitchFamily="34" charset="-120"/>
              </a:rPr>
              <a:t>维护</a:t>
            </a:r>
            <a:r>
              <a:rPr lang="en-US" altLang="zh-CN" sz="1800" b="1" dirty="0">
                <a:solidFill>
                  <a:schemeClr val="tx1"/>
                </a:solidFill>
                <a:latin typeface="黑体" panose="02010609060101010101" pitchFamily="49" charset="-122"/>
                <a:cs typeface="Microsoft YaHei" pitchFamily="34" charset="-120"/>
              </a:rPr>
              <a:t> → </a:t>
            </a:r>
            <a:r>
              <a:rPr lang="en-US" altLang="zh-CN" sz="1800" b="1" dirty="0" err="1">
                <a:solidFill>
                  <a:schemeClr val="tx1"/>
                </a:solidFill>
                <a:latin typeface="黑体" panose="02010609060101010101" pitchFamily="49" charset="-122"/>
                <a:cs typeface="Microsoft YaHei" pitchFamily="34" charset="-120"/>
              </a:rPr>
              <a:t>外存</a:t>
            </a:r>
            <a:r>
              <a:rPr lang="zh-CN" altLang="en-US" sz="1800" b="1" dirty="0">
                <a:solidFill>
                  <a:schemeClr val="tx1"/>
                </a:solidFill>
                <a:latin typeface="黑体" panose="02010609060101010101" pitchFamily="49" charset="-122"/>
                <a:cs typeface="Microsoft YaHei" pitchFamily="34" charset="-120"/>
              </a:rPr>
              <a:t>稳定更新</a:t>
            </a:r>
            <a:r>
              <a:rPr lang="en-US" altLang="zh-CN" sz="1800" b="1" dirty="0">
                <a:solidFill>
                  <a:schemeClr val="tx1"/>
                </a:solidFill>
                <a:latin typeface="黑体" panose="02010609060101010101" pitchFamily="49" charset="-122"/>
                <a:cs typeface="Microsoft YaHei" pitchFamily="34" charset="-120"/>
              </a:rPr>
              <a:t> → </a:t>
            </a:r>
            <a:r>
              <a:rPr lang="zh-CN" altLang="en-US" sz="1800" b="1" dirty="0">
                <a:solidFill>
                  <a:schemeClr val="tx1"/>
                </a:solidFill>
                <a:latin typeface="黑体" panose="02010609060101010101" pitchFamily="49" charset="-122"/>
                <a:cs typeface="Microsoft YaHei" pitchFamily="34" charset="-120"/>
              </a:rPr>
              <a:t>分布式存储缺口</a:t>
            </a:r>
            <a:endParaRPr lang="zh-CN" altLang="en-US" sz="1800" dirty="0">
              <a:solidFill>
                <a:schemeClr val="tx1"/>
              </a:solidFill>
              <a:latin typeface="黑体" panose="02010609060101010101" pitchFamily="49" charset="-122"/>
            </a:endParaRPr>
          </a:p>
        </p:txBody>
      </p:sp>
      <p:sp>
        <p:nvSpPr>
          <p:cNvPr id="35" name="文本框 34">
            <a:extLst>
              <a:ext uri="{FF2B5EF4-FFF2-40B4-BE49-F238E27FC236}">
                <a16:creationId xmlns:a16="http://schemas.microsoft.com/office/drawing/2014/main" id="{409B8326-AF76-4B79-BD56-3106C68C5639}"/>
              </a:ext>
            </a:extLst>
          </p:cNvPr>
          <p:cNvSpPr txBox="1"/>
          <p:nvPr/>
        </p:nvSpPr>
        <p:spPr>
          <a:xfrm>
            <a:off x="768730" y="5712906"/>
            <a:ext cx="10699747" cy="369332"/>
          </a:xfrm>
          <a:prstGeom prst="rect">
            <a:avLst/>
          </a:prstGeom>
          <a:noFill/>
        </p:spPr>
        <p:txBody>
          <a:bodyPr wrap="square">
            <a:spAutoFit/>
          </a:bodyPr>
          <a:lstStyle/>
          <a:p>
            <a:pPr marL="0" indent="0" algn="ctr">
              <a:buNone/>
            </a:pPr>
            <a:r>
              <a:rPr lang="zh-CN" altLang="en-US" sz="1800" b="1" dirty="0">
                <a:solidFill>
                  <a:schemeClr val="tx1"/>
                </a:solidFill>
                <a:latin typeface="Microsoft YaHei" pitchFamily="34" charset="0"/>
                <a:ea typeface="Microsoft YaHei" pitchFamily="34" charset="-122"/>
                <a:cs typeface="Microsoft YaHei" pitchFamily="34" charset="-120"/>
              </a:rPr>
              <a:t>总结</a:t>
            </a:r>
            <a:r>
              <a:rPr lang="en-US" altLang="zh-CN" sz="1800" b="1" dirty="0">
                <a:solidFill>
                  <a:schemeClr val="tx1"/>
                </a:solidFill>
                <a:latin typeface="Microsoft YaHei" pitchFamily="34" charset="0"/>
                <a:ea typeface="Microsoft YaHei" pitchFamily="34" charset="-122"/>
                <a:cs typeface="Microsoft YaHei" pitchFamily="34" charset="-120"/>
              </a:rPr>
              <a:t>：</a:t>
            </a:r>
            <a:r>
              <a:rPr lang="en-US" altLang="zh-CN" sz="1800" b="1" dirty="0" err="1">
                <a:solidFill>
                  <a:schemeClr val="tx1"/>
                </a:solidFill>
                <a:latin typeface="Microsoft YaHei" pitchFamily="34" charset="0"/>
                <a:ea typeface="Microsoft YaHei" pitchFamily="34" charset="-122"/>
                <a:cs typeface="Microsoft YaHei" pitchFamily="34" charset="-120"/>
              </a:rPr>
              <a:t>已有工作证明动态更新已成核心问题；但分布式对象存储内的</a:t>
            </a:r>
            <a:r>
              <a:rPr lang="zh-CN" altLang="en-US" sz="1800" b="1" dirty="0">
                <a:solidFill>
                  <a:schemeClr val="tx1"/>
                </a:solidFill>
                <a:latin typeface="Microsoft YaHei" pitchFamily="34" charset="0"/>
                <a:ea typeface="Microsoft YaHei" pitchFamily="34" charset="-122"/>
                <a:cs typeface="Microsoft YaHei" pitchFamily="34" charset="-120"/>
              </a:rPr>
              <a:t>近存储</a:t>
            </a:r>
            <a:r>
              <a:rPr lang="en-US" altLang="zh-CN" sz="1800" b="1" dirty="0" err="1">
                <a:solidFill>
                  <a:schemeClr val="tx1"/>
                </a:solidFill>
                <a:latin typeface="Microsoft YaHei" pitchFamily="34" charset="0"/>
                <a:ea typeface="Microsoft YaHei" pitchFamily="34" charset="-122"/>
                <a:cs typeface="Microsoft YaHei" pitchFamily="34" charset="-120"/>
              </a:rPr>
              <a:t>执行机制仍不足</a:t>
            </a:r>
            <a:r>
              <a:rPr lang="en-US" altLang="zh-CN" sz="1800" b="1" dirty="0">
                <a:solidFill>
                  <a:schemeClr val="tx1"/>
                </a:solidFill>
                <a:latin typeface="Microsoft YaHei" pitchFamily="34" charset="0"/>
                <a:ea typeface="Microsoft YaHei" pitchFamily="34" charset="-122"/>
                <a:cs typeface="Microsoft YaHei" pitchFamily="34" charset="-120"/>
              </a:rPr>
              <a:t>。</a:t>
            </a:r>
            <a:endParaRPr lang="en-US" altLang="zh-CN" sz="1800" dirty="0">
              <a:solidFill>
                <a:schemeClr val="tx1"/>
              </a:solidFill>
            </a:endParaRPr>
          </a:p>
        </p:txBody>
      </p:sp>
    </p:spTree>
    <p:extLst>
      <p:ext uri="{BB962C8B-B14F-4D97-AF65-F5344CB8AC3E}">
        <p14:creationId xmlns:p14="http://schemas.microsoft.com/office/powerpoint/2010/main" val="3014471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551B7-C400-DEB6-E98D-762AAD50A537}"/>
            </a:ext>
          </a:extLst>
        </p:cNvPr>
        <p:cNvGrpSpPr/>
        <p:nvPr/>
      </p:nvGrpSpPr>
      <p:grpSpPr>
        <a:xfrm>
          <a:off x="0" y="0"/>
          <a:ext cx="0" cy="0"/>
          <a:chOff x="0" y="0"/>
          <a:chExt cx="0" cy="0"/>
        </a:xfrm>
      </p:grpSpPr>
      <p:sp>
        <p:nvSpPr>
          <p:cNvPr id="3" name="TextBox 2"/>
          <p:cNvSpPr txBox="1"/>
          <p:nvPr/>
        </p:nvSpPr>
        <p:spPr>
          <a:xfrm>
            <a:off x="1508760" y="1004834"/>
            <a:ext cx="9987840" cy="523220"/>
          </a:xfrm>
          <a:prstGeom prst="rect">
            <a:avLst/>
          </a:prstGeom>
          <a:noFill/>
        </p:spPr>
        <p:txBody>
          <a:bodyPr wrap="square" anchor="ctr">
            <a:spAutoFit/>
          </a:bodyPr>
          <a:lstStyle/>
          <a:p>
            <a:pPr>
              <a:defRPr sz="1800" b="0">
                <a:solidFill>
                  <a:srgbClr val="203549"/>
                </a:solidFill>
                <a:latin typeface="Microsoft YaHei"/>
              </a:defRPr>
            </a:pPr>
            <a:r>
              <a:rPr sz="2800" dirty="0" err="1">
                <a:solidFill>
                  <a:schemeClr val="tx1">
                    <a:lumMod val="75000"/>
                    <a:lumOff val="25000"/>
                  </a:schemeClr>
                </a:solidFill>
              </a:rPr>
              <a:t>研究现状</a:t>
            </a:r>
            <a:r>
              <a:rPr sz="2800" dirty="0">
                <a:solidFill>
                  <a:schemeClr val="tx1">
                    <a:lumMod val="75000"/>
                    <a:lumOff val="25000"/>
                  </a:schemeClr>
                </a:solidFill>
              </a:rPr>
              <a:t> – </a:t>
            </a:r>
            <a:r>
              <a:rPr sz="2800" dirty="0" err="1">
                <a:solidFill>
                  <a:schemeClr val="tx1">
                    <a:lumMod val="75000"/>
                    <a:lumOff val="25000"/>
                  </a:schemeClr>
                </a:solidFill>
              </a:rPr>
              <a:t>近数据处理相关框架对比：Ceph</a:t>
            </a:r>
            <a:r>
              <a:rPr sz="2800" dirty="0">
                <a:solidFill>
                  <a:schemeClr val="tx1">
                    <a:lumMod val="75000"/>
                    <a:lumOff val="25000"/>
                  </a:schemeClr>
                </a:solidFill>
              </a:rPr>
              <a:t> CLS </a:t>
            </a:r>
            <a:r>
              <a:rPr sz="2800" dirty="0" err="1">
                <a:solidFill>
                  <a:schemeClr val="tx1">
                    <a:lumMod val="75000"/>
                    <a:lumOff val="25000"/>
                  </a:schemeClr>
                </a:solidFill>
              </a:rPr>
              <a:t>与类似系统</a:t>
            </a:r>
            <a:endParaRPr sz="2800" dirty="0">
              <a:solidFill>
                <a:schemeClr val="tx1">
                  <a:lumMod val="75000"/>
                  <a:lumOff val="25000"/>
                </a:schemeClr>
              </a:solidFill>
            </a:endParaRPr>
          </a:p>
        </p:txBody>
      </p:sp>
      <p:sp>
        <p:nvSpPr>
          <p:cNvPr id="4" name="Rectangle 3"/>
          <p:cNvSpPr/>
          <p:nvPr/>
        </p:nvSpPr>
        <p:spPr>
          <a:xfrm>
            <a:off x="548640" y="1673352"/>
            <a:ext cx="10881360" cy="18288"/>
          </a:xfrm>
          <a:prstGeom prst="rect">
            <a:avLst/>
          </a:prstGeom>
          <a:solidFill>
            <a:srgbClr val="C6D7E6"/>
          </a:solidFill>
          <a:ln>
            <a:solidFill>
              <a:srgbClr val="C6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98728" y="1857400"/>
            <a:ext cx="1417320"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FFFFF"/>
                </a:solidFill>
                <a:latin typeface="Microsoft YaHei"/>
              </a:defRPr>
            </a:pPr>
            <a:r>
              <a:rPr sz="1600" b="1" dirty="0" err="1">
                <a:solidFill>
                  <a:schemeClr val="tx1"/>
                </a:solidFill>
                <a:latin typeface="Microsoft YaHei"/>
              </a:rPr>
              <a:t>方案</a:t>
            </a:r>
            <a:endParaRPr sz="1600" b="1" dirty="0">
              <a:solidFill>
                <a:schemeClr val="tx1"/>
              </a:solidFill>
              <a:latin typeface="Microsoft YaHei"/>
            </a:endParaRPr>
          </a:p>
        </p:txBody>
      </p:sp>
      <p:sp>
        <p:nvSpPr>
          <p:cNvPr id="8" name="Rounded Rectangle 7"/>
          <p:cNvSpPr/>
          <p:nvPr/>
        </p:nvSpPr>
        <p:spPr>
          <a:xfrm>
            <a:off x="1853208" y="1857400"/>
            <a:ext cx="2377440"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FFFFF"/>
                </a:solidFill>
                <a:latin typeface="Microsoft YaHei"/>
              </a:defRPr>
            </a:pPr>
            <a:r>
              <a:rPr sz="1600" b="1" dirty="0" err="1">
                <a:solidFill>
                  <a:schemeClr val="tx1"/>
                </a:solidFill>
                <a:latin typeface="Microsoft YaHei"/>
              </a:rPr>
              <a:t>代表系统</a:t>
            </a:r>
            <a:r>
              <a:rPr sz="1600" b="1" dirty="0">
                <a:solidFill>
                  <a:schemeClr val="tx1"/>
                </a:solidFill>
                <a:latin typeface="Microsoft YaHei"/>
              </a:rPr>
              <a:t> / </a:t>
            </a:r>
            <a:r>
              <a:rPr sz="1600" b="1" dirty="0" err="1">
                <a:solidFill>
                  <a:schemeClr val="tx1"/>
                </a:solidFill>
                <a:latin typeface="Microsoft YaHei"/>
              </a:rPr>
              <a:t>出处</a:t>
            </a:r>
            <a:endParaRPr sz="1600" b="1" dirty="0">
              <a:solidFill>
                <a:schemeClr val="tx1"/>
              </a:solidFill>
              <a:latin typeface="Microsoft YaHei"/>
            </a:endParaRPr>
          </a:p>
        </p:txBody>
      </p:sp>
      <p:sp>
        <p:nvSpPr>
          <p:cNvPr id="9" name="Rounded Rectangle 8"/>
          <p:cNvSpPr/>
          <p:nvPr/>
        </p:nvSpPr>
        <p:spPr>
          <a:xfrm>
            <a:off x="4367808" y="1857400"/>
            <a:ext cx="2423160"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FFFFF"/>
                </a:solidFill>
                <a:latin typeface="Microsoft YaHei"/>
              </a:defRPr>
            </a:pPr>
            <a:r>
              <a:rPr sz="1600" b="1" dirty="0" err="1">
                <a:solidFill>
                  <a:schemeClr val="tx1"/>
                </a:solidFill>
                <a:latin typeface="Microsoft YaHei"/>
              </a:rPr>
              <a:t>优点</a:t>
            </a:r>
            <a:endParaRPr sz="1600" b="1" dirty="0">
              <a:solidFill>
                <a:schemeClr val="tx1"/>
              </a:solidFill>
              <a:latin typeface="Microsoft YaHei"/>
            </a:endParaRPr>
          </a:p>
        </p:txBody>
      </p:sp>
      <p:sp>
        <p:nvSpPr>
          <p:cNvPr id="10" name="Rounded Rectangle 9"/>
          <p:cNvSpPr/>
          <p:nvPr/>
        </p:nvSpPr>
        <p:spPr>
          <a:xfrm>
            <a:off x="6928128" y="1857400"/>
            <a:ext cx="2423160"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FFFFF"/>
                </a:solidFill>
                <a:latin typeface="Microsoft YaHei"/>
              </a:defRPr>
            </a:pPr>
            <a:r>
              <a:rPr sz="1600" b="1" dirty="0" err="1">
                <a:solidFill>
                  <a:schemeClr val="tx1"/>
                </a:solidFill>
                <a:latin typeface="Microsoft YaHei"/>
              </a:rPr>
              <a:t>局限</a:t>
            </a:r>
            <a:endParaRPr sz="1600" b="1" dirty="0">
              <a:solidFill>
                <a:schemeClr val="tx1"/>
              </a:solidFill>
              <a:latin typeface="Microsoft YaHei"/>
            </a:endParaRPr>
          </a:p>
        </p:txBody>
      </p:sp>
      <p:sp>
        <p:nvSpPr>
          <p:cNvPr id="11" name="Rounded Rectangle 10"/>
          <p:cNvSpPr/>
          <p:nvPr/>
        </p:nvSpPr>
        <p:spPr>
          <a:xfrm>
            <a:off x="9488448" y="1857400"/>
            <a:ext cx="2423160" cy="347472"/>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FFFFF"/>
                </a:solidFill>
                <a:latin typeface="Microsoft YaHei"/>
              </a:defRPr>
            </a:pPr>
            <a:r>
              <a:rPr sz="1600" b="1" dirty="0" err="1">
                <a:solidFill>
                  <a:schemeClr val="tx1"/>
                </a:solidFill>
                <a:latin typeface="Microsoft YaHei"/>
              </a:rPr>
              <a:t>对本课题的启示</a:t>
            </a:r>
            <a:endParaRPr sz="1600" b="1" dirty="0">
              <a:solidFill>
                <a:schemeClr val="tx1"/>
              </a:solidFill>
              <a:latin typeface="Microsoft YaHei"/>
            </a:endParaRPr>
          </a:p>
        </p:txBody>
      </p:sp>
      <p:sp>
        <p:nvSpPr>
          <p:cNvPr id="12" name="Rectangle 11"/>
          <p:cNvSpPr/>
          <p:nvPr/>
        </p:nvSpPr>
        <p:spPr>
          <a:xfrm>
            <a:off x="298728" y="2268880"/>
            <a:ext cx="141732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defRPr sz="755" b="1">
                <a:solidFill>
                  <a:srgbClr val="004E7E"/>
                </a:solidFill>
                <a:latin typeface="Microsoft YaHei"/>
              </a:defRPr>
            </a:pPr>
            <a:r>
              <a:rPr sz="1600" b="1" dirty="0" err="1">
                <a:solidFill>
                  <a:schemeClr val="tx1"/>
                </a:solidFill>
                <a:latin typeface="Microsoft YaHei"/>
              </a:rPr>
              <a:t>对象存储内计算</a:t>
            </a:r>
            <a:endParaRPr sz="1600" b="1" dirty="0">
              <a:solidFill>
                <a:schemeClr val="tx1"/>
              </a:solidFill>
              <a:latin typeface="Microsoft YaHei"/>
            </a:endParaRPr>
          </a:p>
        </p:txBody>
      </p:sp>
      <p:sp>
        <p:nvSpPr>
          <p:cNvPr id="13" name="Rectangle 12"/>
          <p:cNvSpPr/>
          <p:nvPr/>
        </p:nvSpPr>
        <p:spPr>
          <a:xfrm>
            <a:off x="1853208" y="2268880"/>
            <a:ext cx="237744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170" b="0">
                <a:solidFill>
                  <a:srgbClr val="222222"/>
                </a:solidFill>
                <a:latin typeface="Microsoft YaHei"/>
              </a:rPr>
              <a:t>Swift Storlets（OpenStack Docs, 2024）</a:t>
            </a:r>
          </a:p>
          <a:p>
            <a:r>
              <a:rPr sz="1170" b="0">
                <a:solidFill>
                  <a:srgbClr val="222222"/>
                </a:solidFill>
                <a:latin typeface="Microsoft YaHei"/>
              </a:rPr>
              <a:t>SkyhookDM（USENIX VAULT 2020）</a:t>
            </a:r>
          </a:p>
        </p:txBody>
      </p:sp>
      <p:sp>
        <p:nvSpPr>
          <p:cNvPr id="14" name="Rectangle 13"/>
          <p:cNvSpPr/>
          <p:nvPr/>
        </p:nvSpPr>
        <p:spPr>
          <a:xfrm>
            <a:off x="4367808" y="2268880"/>
            <a:ext cx="242316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20" b="0">
                <a:solidFill>
                  <a:srgbClr val="222222"/>
                </a:solidFill>
                <a:latin typeface="Microsoft YaHei"/>
              </a:rPr>
              <a:t>在对象/OSD侧运行用户逻辑，适合过滤、投影和对象级处理，能减少返回数据量。</a:t>
            </a:r>
          </a:p>
        </p:txBody>
      </p:sp>
      <p:sp>
        <p:nvSpPr>
          <p:cNvPr id="15" name="Rectangle 14"/>
          <p:cNvSpPr/>
          <p:nvPr/>
        </p:nvSpPr>
        <p:spPr>
          <a:xfrm>
            <a:off x="6928128" y="2268880"/>
            <a:ext cx="242316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Storlets更偏对象变换，SkyhookDM更偏SQL/批处理；都不直接面向图索引持续更新。</a:t>
            </a:r>
          </a:p>
        </p:txBody>
      </p:sp>
      <p:sp>
        <p:nvSpPr>
          <p:cNvPr id="16" name="Rectangle 15"/>
          <p:cNvSpPr/>
          <p:nvPr/>
        </p:nvSpPr>
        <p:spPr>
          <a:xfrm>
            <a:off x="9488448" y="2268880"/>
            <a:ext cx="242316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说明“对象存储侧执行用户代码”是可行路线，是 Ceph CLS 的同类参照。</a:t>
            </a:r>
          </a:p>
        </p:txBody>
      </p:sp>
      <p:sp>
        <p:nvSpPr>
          <p:cNvPr id="17" name="Rectangle 16"/>
          <p:cNvSpPr/>
          <p:nvPr/>
        </p:nvSpPr>
        <p:spPr>
          <a:xfrm>
            <a:off x="298728" y="3046120"/>
            <a:ext cx="141732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defRPr sz="755" b="1">
                <a:solidFill>
                  <a:srgbClr val="004E7E"/>
                </a:solidFill>
                <a:latin typeface="Microsoft YaHei"/>
              </a:defRPr>
            </a:pPr>
            <a:r>
              <a:rPr sz="1600" b="1" dirty="0" err="1">
                <a:solidFill>
                  <a:schemeClr val="tx1"/>
                </a:solidFill>
                <a:latin typeface="Microsoft YaHei"/>
              </a:rPr>
              <a:t>计算存储</a:t>
            </a:r>
            <a:endParaRPr lang="en-US" sz="1600" b="1" dirty="0">
              <a:solidFill>
                <a:schemeClr val="tx1"/>
              </a:solidFill>
              <a:latin typeface="Microsoft YaHei"/>
            </a:endParaRPr>
          </a:p>
          <a:p>
            <a:pPr algn="ctr">
              <a:defRPr sz="755" b="1">
                <a:solidFill>
                  <a:srgbClr val="004E7E"/>
                </a:solidFill>
                <a:latin typeface="Microsoft YaHei"/>
              </a:defRPr>
            </a:pPr>
            <a:r>
              <a:rPr sz="1600" b="1" dirty="0" err="1">
                <a:solidFill>
                  <a:schemeClr val="tx1"/>
                </a:solidFill>
                <a:latin typeface="Microsoft YaHei"/>
              </a:rPr>
              <a:t>设备</a:t>
            </a:r>
            <a:endParaRPr sz="1600" b="1" dirty="0">
              <a:solidFill>
                <a:schemeClr val="tx1"/>
              </a:solidFill>
              <a:latin typeface="Microsoft YaHei"/>
            </a:endParaRPr>
          </a:p>
        </p:txBody>
      </p:sp>
      <p:sp>
        <p:nvSpPr>
          <p:cNvPr id="18" name="Rectangle 17"/>
          <p:cNvSpPr/>
          <p:nvPr/>
        </p:nvSpPr>
        <p:spPr>
          <a:xfrm>
            <a:off x="1853208" y="3046120"/>
            <a:ext cx="237744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140" b="0">
                <a:solidFill>
                  <a:srgbClr val="222222"/>
                </a:solidFill>
                <a:latin typeface="Microsoft YaHei"/>
              </a:rPr>
              <a:t>Samsung SmartSSD CSD</a:t>
            </a:r>
          </a:p>
          <a:p>
            <a:r>
              <a:rPr sz="1140" b="0">
                <a:solidFill>
                  <a:srgbClr val="222222"/>
                </a:solidFill>
                <a:latin typeface="Microsoft YaHei"/>
              </a:rPr>
              <a:t>（AMD/Xilinx Product Brief；SNIA）</a:t>
            </a:r>
          </a:p>
        </p:txBody>
      </p:sp>
      <p:sp>
        <p:nvSpPr>
          <p:cNvPr id="19" name="Rectangle 18"/>
          <p:cNvSpPr/>
          <p:nvPr/>
        </p:nvSpPr>
        <p:spPr>
          <a:xfrm>
            <a:off x="4367808" y="3046120"/>
            <a:ext cx="242316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20" b="0">
                <a:solidFill>
                  <a:srgbClr val="222222"/>
                </a:solidFill>
                <a:latin typeface="Microsoft YaHei"/>
              </a:rPr>
              <a:t>把计算推到 SSD 附近，显著减少 Host-SSD 数据搬移。</a:t>
            </a:r>
          </a:p>
        </p:txBody>
      </p:sp>
      <p:sp>
        <p:nvSpPr>
          <p:cNvPr id="20" name="Rectangle 19"/>
          <p:cNvSpPr/>
          <p:nvPr/>
        </p:nvSpPr>
        <p:spPr>
          <a:xfrm>
            <a:off x="6928128" y="3046120"/>
            <a:ext cx="242316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依赖专用硬件；算子灵活性和状态管理受限；难直接落到 Ceph 通用集群。</a:t>
            </a:r>
          </a:p>
        </p:txBody>
      </p:sp>
      <p:sp>
        <p:nvSpPr>
          <p:cNvPr id="21" name="Rectangle 20"/>
          <p:cNvSpPr/>
          <p:nvPr/>
        </p:nvSpPr>
        <p:spPr>
          <a:xfrm>
            <a:off x="9488448" y="3046120"/>
            <a:ext cx="242316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证明“靠近数据计算”有价值，但不适合作为本课题的通用基线。</a:t>
            </a:r>
          </a:p>
        </p:txBody>
      </p:sp>
      <p:sp>
        <p:nvSpPr>
          <p:cNvPr id="22" name="Rectangle 21"/>
          <p:cNvSpPr/>
          <p:nvPr/>
        </p:nvSpPr>
        <p:spPr>
          <a:xfrm>
            <a:off x="298728" y="3823360"/>
            <a:ext cx="141732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defRPr sz="755" b="1">
                <a:solidFill>
                  <a:srgbClr val="004E7E"/>
                </a:solidFill>
                <a:latin typeface="Microsoft YaHei"/>
              </a:defRPr>
            </a:pPr>
            <a:r>
              <a:rPr sz="1600" b="1" dirty="0" err="1">
                <a:solidFill>
                  <a:schemeClr val="tx1"/>
                </a:solidFill>
                <a:latin typeface="Microsoft YaHei"/>
              </a:rPr>
              <a:t>ANN近数据处理</a:t>
            </a:r>
            <a:endParaRPr sz="1600" b="1" dirty="0">
              <a:solidFill>
                <a:schemeClr val="tx1"/>
              </a:solidFill>
              <a:latin typeface="Microsoft YaHei"/>
            </a:endParaRPr>
          </a:p>
        </p:txBody>
      </p:sp>
      <p:sp>
        <p:nvSpPr>
          <p:cNvPr id="23" name="Rectangle 22"/>
          <p:cNvSpPr/>
          <p:nvPr/>
        </p:nvSpPr>
        <p:spPr>
          <a:xfrm>
            <a:off x="1853208" y="3823360"/>
            <a:ext cx="237744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190" b="0">
                <a:solidFill>
                  <a:srgbClr val="222222"/>
                </a:solidFill>
                <a:latin typeface="Microsoft YaHei"/>
              </a:rPr>
              <a:t>NDSearch（ISCA 2024；arXiv 2023）</a:t>
            </a:r>
          </a:p>
        </p:txBody>
      </p:sp>
      <p:sp>
        <p:nvSpPr>
          <p:cNvPr id="24" name="Rectangle 23"/>
          <p:cNvSpPr/>
          <p:nvPr/>
        </p:nvSpPr>
        <p:spPr>
          <a:xfrm>
            <a:off x="4367808" y="3823360"/>
            <a:ext cx="242316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20" b="0">
                <a:solidFill>
                  <a:srgbClr val="222222"/>
                </a:solidFill>
                <a:latin typeface="Microsoft YaHei"/>
              </a:rPr>
              <a:t>将图遍历、候选访问和距离计算下沉，验证 ANNS 近数据处理收益。</a:t>
            </a:r>
          </a:p>
        </p:txBody>
      </p:sp>
      <p:sp>
        <p:nvSpPr>
          <p:cNvPr id="25" name="Rectangle 24"/>
          <p:cNvSpPr/>
          <p:nvPr/>
        </p:nvSpPr>
        <p:spPr>
          <a:xfrm>
            <a:off x="6928128" y="3823360"/>
            <a:ext cx="242316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主要优化查询；依赖定制 SEARSSD；未覆盖插入/删除/邻接 patch 等更新协议。</a:t>
            </a:r>
          </a:p>
        </p:txBody>
      </p:sp>
      <p:sp>
        <p:nvSpPr>
          <p:cNvPr id="26" name="Rectangle 25"/>
          <p:cNvSpPr/>
          <p:nvPr/>
        </p:nvSpPr>
        <p:spPr>
          <a:xfrm>
            <a:off x="9488448" y="3823360"/>
            <a:ext cx="2423160" cy="694944"/>
          </a:xfrm>
          <a:prstGeom prst="rect">
            <a:avLst/>
          </a:prstGeom>
          <a:solidFill>
            <a:srgbClr val="F8FAFD"/>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说明距离与遍历下沉有效，但向量在线更新仍缺系统级方案。</a:t>
            </a:r>
          </a:p>
        </p:txBody>
      </p:sp>
      <p:sp>
        <p:nvSpPr>
          <p:cNvPr id="27" name="Rectangle 26"/>
          <p:cNvSpPr/>
          <p:nvPr/>
        </p:nvSpPr>
        <p:spPr>
          <a:xfrm>
            <a:off x="298728" y="4600600"/>
            <a:ext cx="141732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defRPr sz="755" b="1">
                <a:solidFill>
                  <a:srgbClr val="004E7E"/>
                </a:solidFill>
                <a:latin typeface="Microsoft YaHei"/>
              </a:defRPr>
            </a:pPr>
            <a:r>
              <a:rPr sz="1600" b="1" dirty="0" err="1">
                <a:solidFill>
                  <a:schemeClr val="tx1"/>
                </a:solidFill>
                <a:latin typeface="Microsoft YaHei"/>
              </a:rPr>
              <a:t>可编程对象存储</a:t>
            </a:r>
            <a:endParaRPr sz="1600" b="1" dirty="0">
              <a:solidFill>
                <a:schemeClr val="tx1"/>
              </a:solidFill>
              <a:latin typeface="Microsoft YaHei"/>
            </a:endParaRPr>
          </a:p>
        </p:txBody>
      </p:sp>
      <p:sp>
        <p:nvSpPr>
          <p:cNvPr id="28" name="Rectangle 27"/>
          <p:cNvSpPr/>
          <p:nvPr/>
        </p:nvSpPr>
        <p:spPr>
          <a:xfrm>
            <a:off x="1853208" y="4600600"/>
            <a:ext cx="237744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160" b="0">
                <a:solidFill>
                  <a:srgbClr val="222222"/>
                </a:solidFill>
                <a:latin typeface="Microsoft YaHei"/>
              </a:rPr>
              <a:t>Ceph CLS / RADOS Object Class</a:t>
            </a:r>
          </a:p>
          <a:p>
            <a:r>
              <a:rPr sz="1160" b="0">
                <a:solidFill>
                  <a:srgbClr val="222222"/>
                </a:solidFill>
                <a:latin typeface="Microsoft YaHei"/>
              </a:rPr>
              <a:t>（Ceph ObjClass SDK Docs）</a:t>
            </a:r>
          </a:p>
        </p:txBody>
      </p:sp>
      <p:sp>
        <p:nvSpPr>
          <p:cNvPr id="29" name="Rectangle 28"/>
          <p:cNvSpPr/>
          <p:nvPr/>
        </p:nvSpPr>
        <p:spPr>
          <a:xfrm>
            <a:off x="4367808" y="4600600"/>
            <a:ext cx="242316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可在对象侧执行自定义逻辑，并直接结合 payload、OMAP 和版本元数据。</a:t>
            </a:r>
          </a:p>
        </p:txBody>
      </p:sp>
      <p:sp>
        <p:nvSpPr>
          <p:cNvPr id="30" name="Rectangle 29"/>
          <p:cNvSpPr/>
          <p:nvPr/>
        </p:nvSpPr>
        <p:spPr>
          <a:xfrm>
            <a:off x="6928128" y="4600600"/>
            <a:ext cx="242316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0">
                <a:solidFill>
                  <a:srgbClr val="203549"/>
                </a:solidFill>
                <a:latin typeface="Microsoft YaHei"/>
              </a:defRPr>
            </a:pPr>
            <a:r>
              <a:rPr sz="1300" b="0">
                <a:solidFill>
                  <a:srgbClr val="222222"/>
                </a:solidFill>
                <a:latin typeface="Microsoft YaHei"/>
              </a:rPr>
              <a:t>需要继续处理 OSD 排队、CLS 执行边界和元数据热点。</a:t>
            </a:r>
          </a:p>
        </p:txBody>
      </p:sp>
      <p:sp>
        <p:nvSpPr>
          <p:cNvPr id="31" name="Rectangle 30"/>
          <p:cNvSpPr/>
          <p:nvPr/>
        </p:nvSpPr>
        <p:spPr>
          <a:xfrm>
            <a:off x="9488448" y="4600600"/>
            <a:ext cx="2423160" cy="694944"/>
          </a:xfrm>
          <a:prstGeom prst="rect">
            <a:avLst/>
          </a:prstGeom>
          <a:solidFill>
            <a:srgbClr val="FFFFFF"/>
          </a:solidFill>
          <a:ln w="15240">
            <a:solidFill>
              <a:srgbClr val="CDDCE8"/>
            </a:solidFill>
          </a:ln>
        </p:spPr>
        <p:style>
          <a:lnRef idx="1">
            <a:schemeClr val="accent1"/>
          </a:lnRef>
          <a:fillRef idx="3">
            <a:schemeClr val="accent1"/>
          </a:fillRef>
          <a:effectRef idx="2">
            <a:schemeClr val="accent1"/>
          </a:effectRef>
          <a:fontRef idx="minor">
            <a:schemeClr val="lt1"/>
          </a:fontRef>
        </p:style>
        <p:txBody>
          <a:bodyPr wrap="square" lIns="50800" tIns="50800" rIns="50800" bIns="25400" rtlCol="0" anchor="t"/>
          <a:lstStyle/>
          <a:p>
            <a:pPr algn="l">
              <a:defRPr sz="755" b="1">
                <a:solidFill>
                  <a:srgbClr val="CC0000"/>
                </a:solidFill>
                <a:latin typeface="Microsoft YaHei"/>
              </a:defRPr>
            </a:pPr>
            <a:r>
              <a:rPr sz="1240" b="1">
                <a:solidFill>
                  <a:srgbClr val="D60000"/>
                </a:solidFill>
                <a:latin typeface="Microsoft YaHei"/>
              </a:rPr>
              <a:t>最适合实现“距离计算 +</a:t>
            </a:r>
          </a:p>
          <a:p>
            <a:r>
              <a:rPr sz="1240" b="1">
                <a:solidFill>
                  <a:srgbClr val="D60000"/>
                </a:solidFill>
                <a:latin typeface="Microsoft YaHei"/>
              </a:rPr>
              <a:t>邻接 patch + meta 协议”</a:t>
            </a:r>
          </a:p>
          <a:p>
            <a:r>
              <a:rPr sz="1240" b="1">
                <a:solidFill>
                  <a:srgbClr val="D60000"/>
                </a:solidFill>
                <a:latin typeface="Microsoft YaHei"/>
              </a:rPr>
              <a:t>一体化卸载。</a:t>
            </a:r>
          </a:p>
        </p:txBody>
      </p:sp>
      <p:sp>
        <p:nvSpPr>
          <p:cNvPr id="35" name="标题 3">
            <a:extLst>
              <a:ext uri="{FF2B5EF4-FFF2-40B4-BE49-F238E27FC236}">
                <a16:creationId xmlns:a16="http://schemas.microsoft.com/office/drawing/2014/main" id="{AA02D1FB-DD54-466C-AAF9-10DD33B6B425}"/>
              </a:ext>
            </a:extLst>
          </p:cNvPr>
          <p:cNvSpPr>
            <a:spLocks noGrp="1"/>
          </p:cNvSpPr>
          <p:nvPr>
            <p:ph type="title"/>
          </p:nvPr>
        </p:nvSpPr>
        <p:spPr>
          <a:xfrm>
            <a:off x="551384" y="980728"/>
            <a:ext cx="730424" cy="648072"/>
          </a:xfrm>
          <a:solidFill>
            <a:srgbClr val="1588C7"/>
          </a:solidFill>
        </p:spPr>
        <p:txBody>
          <a:bodyPr/>
          <a:lstStyle/>
          <a:p>
            <a:pPr algn="ctr"/>
            <a:r>
              <a:rPr lang="en-US" altLang="zh-CN" sz="3200" b="1" dirty="0">
                <a:solidFill>
                  <a:schemeClr val="bg1"/>
                </a:solidFill>
                <a:effectLst/>
                <a:latin typeface="微软雅黑" panose="020B0503020204020204" charset="-122"/>
                <a:ea typeface="微软雅黑" panose="020B0503020204020204" charset="-122"/>
              </a:rPr>
              <a:t>02</a:t>
            </a:r>
            <a:endParaRPr lang="zh-CN" altLang="en-US" sz="3200" b="1" dirty="0">
              <a:solidFill>
                <a:schemeClr val="bg1"/>
              </a:solidFill>
              <a:effectLst/>
              <a:latin typeface="微软雅黑" panose="020B0503020204020204" charset="-122"/>
              <a:ea typeface="微软雅黑" panose="020B0503020204020204" charset="-122"/>
            </a:endParaRPr>
          </a:p>
        </p:txBody>
      </p:sp>
      <p:sp>
        <p:nvSpPr>
          <p:cNvPr id="36" name="灯片编号占位符 1">
            <a:extLst>
              <a:ext uri="{FF2B5EF4-FFF2-40B4-BE49-F238E27FC236}">
                <a16:creationId xmlns:a16="http://schemas.microsoft.com/office/drawing/2014/main" id="{704B8A8D-B979-4B07-8C2C-CF9A0FCB7482}"/>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9</a:t>
            </a:fld>
            <a:endParaRPr lang="en-US" altLang="zh-CN" dirty="0"/>
          </a:p>
        </p:txBody>
      </p:sp>
      <p:sp>
        <p:nvSpPr>
          <p:cNvPr id="34" name="文本框 33">
            <a:extLst>
              <a:ext uri="{FF2B5EF4-FFF2-40B4-BE49-F238E27FC236}">
                <a16:creationId xmlns:a16="http://schemas.microsoft.com/office/drawing/2014/main" id="{560A5CF4-1CA9-4CBE-96A1-9261BAF11BD5}"/>
              </a:ext>
            </a:extLst>
          </p:cNvPr>
          <p:cNvSpPr txBox="1"/>
          <p:nvPr/>
        </p:nvSpPr>
        <p:spPr>
          <a:xfrm>
            <a:off x="307836" y="5512868"/>
            <a:ext cx="11362968" cy="584775"/>
          </a:xfrm>
          <a:prstGeom prst="rect">
            <a:avLst/>
          </a:prstGeom>
          <a:noFill/>
        </p:spPr>
        <p:txBody>
          <a:bodyPr wrap="square">
            <a:spAutoFit/>
          </a:bodyPr>
          <a:lstStyle/>
          <a:p>
            <a:pPr>
              <a:defRPr sz="1030" b="1">
                <a:solidFill>
                  <a:srgbClr val="203549"/>
                </a:solidFill>
                <a:latin typeface="Microsoft YaHei"/>
              </a:defRPr>
            </a:pPr>
            <a:r>
              <a:rPr lang="zh-CN" altLang="en-US" sz="1600" b="1" dirty="0">
                <a:solidFill>
                  <a:srgbClr val="222222"/>
                </a:solidFill>
                <a:latin typeface="Times New Roman" panose="02020603050405020304" pitchFamily="18" charset="0"/>
                <a:cs typeface="Times New Roman" panose="02020603050405020304" pitchFamily="18" charset="0"/>
              </a:rPr>
              <a:t>选 </a:t>
            </a:r>
            <a:r>
              <a:rPr lang="en-US" altLang="zh-CN" sz="1600" b="1" dirty="0" err="1">
                <a:solidFill>
                  <a:srgbClr val="222222"/>
                </a:solidFill>
                <a:latin typeface="Times New Roman" panose="02020603050405020304" pitchFamily="18" charset="0"/>
                <a:cs typeface="Times New Roman" panose="02020603050405020304" pitchFamily="18" charset="0"/>
              </a:rPr>
              <a:t>Ceph</a:t>
            </a:r>
            <a:r>
              <a:rPr lang="zh-CN" altLang="en-US" sz="1600" b="1" dirty="0">
                <a:solidFill>
                  <a:srgbClr val="222222"/>
                </a:solidFill>
                <a:latin typeface="Times New Roman" panose="02020603050405020304" pitchFamily="18" charset="0"/>
                <a:cs typeface="Times New Roman" panose="02020603050405020304" pitchFamily="18" charset="0"/>
              </a:rPr>
              <a:t> </a:t>
            </a:r>
            <a:r>
              <a:rPr lang="en-US" altLang="zh-CN" sz="1600" b="1" dirty="0">
                <a:solidFill>
                  <a:srgbClr val="222222"/>
                </a:solidFill>
                <a:latin typeface="Times New Roman" panose="02020603050405020304" pitchFamily="18" charset="0"/>
                <a:cs typeface="Times New Roman" panose="02020603050405020304" pitchFamily="18" charset="0"/>
              </a:rPr>
              <a:t>CLS</a:t>
            </a:r>
            <a:r>
              <a:rPr lang="zh-CN" altLang="en-US" sz="1600" b="1" dirty="0">
                <a:solidFill>
                  <a:srgbClr val="222222"/>
                </a:solidFill>
                <a:latin typeface="Times New Roman" panose="02020603050405020304" pitchFamily="18" charset="0"/>
                <a:cs typeface="Times New Roman" panose="02020603050405020304" pitchFamily="18" charset="0"/>
              </a:rPr>
              <a:t>的原因：无需定制硬件；</a:t>
            </a:r>
            <a:r>
              <a:rPr lang="en-US" altLang="zh-CN" sz="1600" dirty="0">
                <a:solidFill>
                  <a:srgbClr val="2E3033"/>
                </a:solidFill>
                <a:latin typeface="Times New Roman" panose="02020603050405020304" pitchFamily="18" charset="0"/>
                <a:cs typeface="Times New Roman" panose="02020603050405020304" pitchFamily="18" charset="0"/>
              </a:rPr>
              <a:t>CLS</a:t>
            </a:r>
            <a:r>
              <a:rPr lang="zh-CN" altLang="en-US" sz="1600" dirty="0">
                <a:solidFill>
                  <a:srgbClr val="2E3033"/>
                </a:solidFill>
                <a:latin typeface="Times New Roman" panose="02020603050405020304" pitchFamily="18" charset="0"/>
                <a:cs typeface="Times New Roman" panose="02020603050405020304" pitchFamily="18" charset="0"/>
              </a:rPr>
              <a:t>（</a:t>
            </a:r>
            <a:r>
              <a:rPr lang="en-US" altLang="zh-CN" sz="1600" dirty="0">
                <a:solidFill>
                  <a:srgbClr val="2E3033"/>
                </a:solidFill>
                <a:latin typeface="Times New Roman" panose="02020603050405020304" pitchFamily="18" charset="0"/>
                <a:cs typeface="Times New Roman" panose="02020603050405020304" pitchFamily="18" charset="0"/>
              </a:rPr>
              <a:t>Class</a:t>
            </a:r>
            <a:r>
              <a:rPr lang="zh-CN" altLang="en-US" sz="1600" dirty="0">
                <a:solidFill>
                  <a:srgbClr val="2E3033"/>
                </a:solidFill>
                <a:latin typeface="Times New Roman" panose="02020603050405020304" pitchFamily="18" charset="0"/>
                <a:cs typeface="Times New Roman" panose="02020603050405020304" pitchFamily="18" charset="0"/>
              </a:rPr>
              <a:t>）机制支持存储内计算；</a:t>
            </a:r>
            <a:r>
              <a:rPr lang="en-US" altLang="zh-CN" sz="1600" dirty="0">
                <a:solidFill>
                  <a:srgbClr val="2E3033"/>
                </a:solidFill>
                <a:latin typeface="Times New Roman" panose="02020603050405020304" pitchFamily="18" charset="0"/>
                <a:cs typeface="Times New Roman" panose="02020603050405020304" pitchFamily="18" charset="0"/>
              </a:rPr>
              <a:t>OMAP </a:t>
            </a:r>
            <a:r>
              <a:rPr lang="zh-CN" altLang="en-US" sz="1600" dirty="0">
                <a:solidFill>
                  <a:srgbClr val="2E3033"/>
                </a:solidFill>
                <a:latin typeface="Times New Roman" panose="02020603050405020304" pitchFamily="18" charset="0"/>
                <a:cs typeface="Times New Roman" panose="02020603050405020304" pitchFamily="18" charset="0"/>
              </a:rPr>
              <a:t>支持细粒度 </a:t>
            </a:r>
            <a:r>
              <a:rPr lang="en-US" altLang="zh-CN" sz="1600" dirty="0">
                <a:solidFill>
                  <a:srgbClr val="2E3033"/>
                </a:solidFill>
                <a:latin typeface="Times New Roman" panose="02020603050405020304" pitchFamily="18" charset="0"/>
                <a:cs typeface="Times New Roman" panose="02020603050405020304" pitchFamily="18" charset="0"/>
              </a:rPr>
              <a:t>KV </a:t>
            </a:r>
            <a:r>
              <a:rPr lang="zh-CN" altLang="en-US" sz="1600" dirty="0">
                <a:solidFill>
                  <a:srgbClr val="2E3033"/>
                </a:solidFill>
                <a:latin typeface="Times New Roman" panose="02020603050405020304" pitchFamily="18" charset="0"/>
                <a:cs typeface="Times New Roman" panose="02020603050405020304" pitchFamily="18" charset="0"/>
              </a:rPr>
              <a:t>元数据管理；已有相关实践</a:t>
            </a:r>
            <a:r>
              <a:rPr lang="en-US" altLang="zh-CN" sz="1600" dirty="0" err="1">
                <a:solidFill>
                  <a:srgbClr val="2E3033"/>
                </a:solidFill>
                <a:latin typeface="Times New Roman" panose="02020603050405020304" pitchFamily="18" charset="0"/>
                <a:cs typeface="Times New Roman" panose="02020603050405020304" pitchFamily="18" charset="0"/>
              </a:rPr>
              <a:t>SkyhookDM</a:t>
            </a:r>
            <a:endParaRPr lang="zh-CN" altLang="en-US" sz="1600" dirty="0">
              <a:solidFill>
                <a:srgbClr val="2E30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803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A490-0D86-AB34-D709-F9114FB80901}"/>
            </a:ext>
          </a:extLst>
        </p:cNvPr>
        <p:cNvGrpSpPr/>
        <p:nvPr/>
      </p:nvGrpSpPr>
      <p:grpSpPr>
        <a:xfrm>
          <a:off x="0" y="0"/>
          <a:ext cx="0" cy="0"/>
          <a:chOff x="0" y="0"/>
          <a:chExt cx="0" cy="0"/>
        </a:xfrm>
      </p:grpSpPr>
      <p:sp>
        <p:nvSpPr>
          <p:cNvPr id="14" name="文本框 13">
            <a:extLst>
              <a:ext uri="{FF2B5EF4-FFF2-40B4-BE49-F238E27FC236}">
                <a16:creationId xmlns:a16="http://schemas.microsoft.com/office/drawing/2014/main" id="{31CD0E41-F1D6-DF42-0F66-D02CB51703AF}"/>
              </a:ext>
            </a:extLst>
          </p:cNvPr>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p>
        </p:txBody>
      </p:sp>
      <p:sp>
        <p:nvSpPr>
          <p:cNvPr id="10" name="文本框 9">
            <a:extLst>
              <a:ext uri="{FF2B5EF4-FFF2-40B4-BE49-F238E27FC236}">
                <a16:creationId xmlns:a16="http://schemas.microsoft.com/office/drawing/2014/main" id="{31B48A76-9C01-D5CA-DD42-98A16A52B75C}"/>
              </a:ext>
            </a:extLst>
          </p:cNvPr>
          <p:cNvSpPr txBox="1"/>
          <p:nvPr/>
        </p:nvSpPr>
        <p:spPr>
          <a:xfrm>
            <a:off x="916596" y="2204864"/>
            <a:ext cx="7915708" cy="1884618"/>
          </a:xfrm>
          <a:prstGeom prst="rect">
            <a:avLst/>
          </a:prstGeom>
          <a:noFill/>
        </p:spPr>
        <p:txBody>
          <a:bodyPr wrap="square" rtlCol="0">
            <a:spAutoFit/>
          </a:bodyPr>
          <a:lstStyle/>
          <a:p>
            <a:pPr marL="34290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01 </a:t>
            </a:r>
            <a:r>
              <a:rPr lang="zh-CN" altLang="en-US" dirty="0">
                <a:solidFill>
                  <a:schemeClr val="tx1">
                    <a:lumMod val="50000"/>
                    <a:lumOff val="50000"/>
                  </a:schemeClr>
                </a:solidFill>
                <a:latin typeface="微软雅黑" panose="020B0503020204020204" charset="-122"/>
                <a:ea typeface="微软雅黑" panose="020B0503020204020204" charset="-122"/>
              </a:rPr>
              <a:t>研究背景</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02 </a:t>
            </a:r>
            <a:r>
              <a:rPr lang="zh-CN" altLang="en-US" dirty="0">
                <a:solidFill>
                  <a:schemeClr val="tx1">
                    <a:lumMod val="50000"/>
                    <a:lumOff val="50000"/>
                  </a:schemeClr>
                </a:solidFill>
                <a:latin typeface="微软雅黑" panose="020B0503020204020204" charset="-122"/>
                <a:ea typeface="微软雅黑" panose="020B0503020204020204" charset="-122"/>
              </a:rPr>
              <a:t>研究现状</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en-US" altLang="zh-CN" sz="20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03 </a:t>
            </a:r>
            <a:r>
              <a:rPr lang="en-US" altLang="zh-CN" b="1" dirty="0">
                <a:solidFill>
                  <a:schemeClr val="tx1"/>
                </a:solidFill>
                <a:latin typeface="微软雅黑" panose="020B0503020204020204" charset="-122"/>
                <a:ea typeface="微软雅黑" panose="020B0503020204020204" charset="-122"/>
              </a:rPr>
              <a:t>B</a:t>
            </a:r>
            <a:r>
              <a:rPr kumimoji="0" lang="en-US" altLang="zh-CN" sz="2000" b="1" i="0" u="none" strike="noStrike" kern="1200" cap="none" spc="0" normalizeH="0" baseline="0" noProof="0" dirty="0" err="1">
                <a:ln>
                  <a:noFill/>
                </a:ln>
                <a:solidFill>
                  <a:schemeClr val="tx1"/>
                </a:solidFill>
                <a:effectLst/>
                <a:uLnTx/>
                <a:uFillTx/>
                <a:latin typeface="微软雅黑" panose="020B0503020204020204" charset="-122"/>
                <a:ea typeface="微软雅黑" panose="020B0503020204020204" charset="-122"/>
                <a:cs typeface="+mn-cs"/>
              </a:rPr>
              <a:t>aseline</a:t>
            </a:r>
            <a:r>
              <a:rPr kumimoji="0" lang="zh-CN" altLang="en-US" sz="20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构建与瓶颈分析</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04 </a:t>
            </a:r>
            <a:r>
              <a:rPr lang="zh-CN" altLang="en-US" dirty="0">
                <a:solidFill>
                  <a:schemeClr val="tx1">
                    <a:lumMod val="50000"/>
                    <a:lumOff val="50000"/>
                  </a:schemeClr>
                </a:solidFill>
                <a:latin typeface="微软雅黑" panose="020B0503020204020204" charset="-122"/>
                <a:ea typeface="微软雅黑" panose="020B0503020204020204" charset="-122"/>
              </a:rPr>
              <a:t>研究方案和技术路线</a:t>
            </a:r>
            <a:endParaRPr lang="en-US" altLang="zh-CN" dirty="0">
              <a:solidFill>
                <a:schemeClr val="tx1">
                  <a:lumMod val="50000"/>
                  <a:lumOff val="50000"/>
                </a:schemeClr>
              </a:solidFill>
              <a:latin typeface="微软雅黑" panose="020B0503020204020204" charset="-122"/>
              <a:ea typeface="微软雅黑" panose="020B0503020204020204" charset="-122"/>
            </a:endParaRPr>
          </a:p>
        </p:txBody>
      </p:sp>
      <p:sp>
        <p:nvSpPr>
          <p:cNvPr id="5" name="灯片编号占位符 1">
            <a:extLst>
              <a:ext uri="{FF2B5EF4-FFF2-40B4-BE49-F238E27FC236}">
                <a16:creationId xmlns:a16="http://schemas.microsoft.com/office/drawing/2014/main" id="{15CF2504-5C6F-494E-A514-EC98EDCEFF2D}"/>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10</a:t>
            </a:fld>
            <a:endParaRPr lang="en-US" altLang="zh-CN" dirty="0"/>
          </a:p>
        </p:txBody>
      </p:sp>
    </p:spTree>
    <p:extLst>
      <p:ext uri="{BB962C8B-B14F-4D97-AF65-F5344CB8AC3E}">
        <p14:creationId xmlns:p14="http://schemas.microsoft.com/office/powerpoint/2010/main" val="3653776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D87DB71-634A-05EF-DE1C-4618BA824B69}"/>
              </a:ext>
            </a:extLst>
          </p:cNvPr>
          <p:cNvSpPr/>
          <p:nvPr/>
        </p:nvSpPr>
        <p:spPr>
          <a:xfrm>
            <a:off x="8976320" y="2261289"/>
            <a:ext cx="2032344" cy="31839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88F0F26E-D7D4-810B-3AA1-B18E8BF696F4}"/>
              </a:ext>
            </a:extLst>
          </p:cNvPr>
          <p:cNvSpPr/>
          <p:nvPr/>
        </p:nvSpPr>
        <p:spPr>
          <a:xfrm>
            <a:off x="911424" y="2261289"/>
            <a:ext cx="7901209" cy="31839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1508760" y="1031764"/>
            <a:ext cx="9692640" cy="469359"/>
          </a:xfrm>
          <a:prstGeom prst="rect">
            <a:avLst/>
          </a:prstGeom>
          <a:noFill/>
        </p:spPr>
        <p:txBody>
          <a:bodyPr wrap="square" lIns="38100" tIns="38100" rIns="38100" bIns="38100" anchor="ctr">
            <a:spAutoFit/>
          </a:bodyPr>
          <a:lstStyle/>
          <a:p>
            <a:pPr algn="l">
              <a:defRPr sz="1800" b="0">
                <a:solidFill>
                  <a:srgbClr val="203549"/>
                </a:solidFill>
                <a:latin typeface="Microsoft YaHei"/>
              </a:defRPr>
            </a:pPr>
            <a:r>
              <a:rPr sz="2550" dirty="0" err="1">
                <a:solidFill>
                  <a:srgbClr val="414141"/>
                </a:solidFill>
                <a:latin typeface="Microsoft YaHei"/>
              </a:rPr>
              <a:t>Baseline构建与瓶颈分析</a:t>
            </a:r>
            <a:r>
              <a:rPr sz="2550" dirty="0">
                <a:solidFill>
                  <a:srgbClr val="414141"/>
                </a:solidFill>
                <a:latin typeface="Microsoft YaHei"/>
              </a:rPr>
              <a:t> – </a:t>
            </a:r>
            <a:r>
              <a:rPr sz="2550" dirty="0" err="1">
                <a:solidFill>
                  <a:srgbClr val="414141"/>
                </a:solidFill>
                <a:latin typeface="Microsoft YaHei"/>
              </a:rPr>
              <a:t>距离计算卸载后的</a:t>
            </a:r>
            <a:r>
              <a:rPr sz="2550" dirty="0">
                <a:solidFill>
                  <a:srgbClr val="414141"/>
                </a:solidFill>
                <a:latin typeface="Microsoft YaHei"/>
              </a:rPr>
              <a:t> HNSW </a:t>
            </a:r>
            <a:r>
              <a:rPr sz="2550" dirty="0" err="1">
                <a:solidFill>
                  <a:srgbClr val="414141"/>
                </a:solidFill>
                <a:latin typeface="Microsoft YaHei"/>
              </a:rPr>
              <a:t>更新链路</a:t>
            </a:r>
            <a:endParaRPr sz="2550" dirty="0">
              <a:solidFill>
                <a:srgbClr val="414141"/>
              </a:solidFill>
              <a:latin typeface="Microsoft YaHei"/>
            </a:endParaRPr>
          </a:p>
        </p:txBody>
      </p:sp>
      <p:sp>
        <p:nvSpPr>
          <p:cNvPr id="4" name="Rectangle 3"/>
          <p:cNvSpPr/>
          <p:nvPr/>
        </p:nvSpPr>
        <p:spPr>
          <a:xfrm>
            <a:off x="548640" y="1673352"/>
            <a:ext cx="10881360" cy="18288"/>
          </a:xfrm>
          <a:prstGeom prst="rect">
            <a:avLst/>
          </a:prstGeom>
          <a:solidFill>
            <a:srgbClr val="C6D7E6"/>
          </a:solidFill>
          <a:ln>
            <a:solidFill>
              <a:srgbClr val="C6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317976" y="2864793"/>
            <a:ext cx="1353312" cy="384048"/>
          </a:xfrm>
          <a:prstGeom prst="roundRect">
            <a:avLst/>
          </a:prstGeom>
          <a:solidFill>
            <a:srgbClr val="FFFFFF"/>
          </a:solidFill>
          <a:ln w="1270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120" b="1">
                <a:solidFill>
                  <a:srgbClr val="273746"/>
                </a:solidFill>
                <a:latin typeface="Microsoft YaHei"/>
              </a:rPr>
              <a:t>① update 请求解析</a:t>
            </a:r>
          </a:p>
        </p:txBody>
      </p:sp>
      <p:sp>
        <p:nvSpPr>
          <p:cNvPr id="12" name="TextBox 11"/>
          <p:cNvSpPr txBox="1"/>
          <p:nvPr/>
        </p:nvSpPr>
        <p:spPr>
          <a:xfrm>
            <a:off x="1865081" y="3294561"/>
            <a:ext cx="220991" cy="210312"/>
          </a:xfrm>
          <a:prstGeom prst="rect">
            <a:avLst/>
          </a:prstGeom>
          <a:noFill/>
        </p:spPr>
        <p:txBody>
          <a:bodyPr wrap="square" lIns="12700" tIns="12700" rIns="12700" bIns="12700" anchor="t">
            <a:spAutoFit/>
          </a:bodyPr>
          <a:lstStyle/>
          <a:p>
            <a:pPr algn="ctr"/>
            <a:r>
              <a:rPr sz="1200" b="0" dirty="0">
                <a:solidFill>
                  <a:srgbClr val="276AA8"/>
                </a:solidFill>
                <a:latin typeface="Microsoft YaHei"/>
              </a:rPr>
              <a:t>↓</a:t>
            </a:r>
          </a:p>
        </p:txBody>
      </p:sp>
      <p:sp>
        <p:nvSpPr>
          <p:cNvPr id="13" name="Rounded Rectangle 12"/>
          <p:cNvSpPr/>
          <p:nvPr/>
        </p:nvSpPr>
        <p:spPr>
          <a:xfrm>
            <a:off x="1317976" y="3504873"/>
            <a:ext cx="1353312" cy="420624"/>
          </a:xfrm>
          <a:prstGeom prst="roundRect">
            <a:avLst/>
          </a:prstGeom>
          <a:solidFill>
            <a:srgbClr val="FFFFFF"/>
          </a:solidFill>
          <a:ln w="1270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080" b="1">
                <a:solidFill>
                  <a:srgbClr val="273746"/>
                </a:solidFill>
                <a:latin typeface="Microsoft YaHei"/>
              </a:rPr>
              <a:t>② 写新 payload</a:t>
            </a:r>
          </a:p>
          <a:p>
            <a:pPr algn="ctr"/>
            <a:r>
              <a:rPr sz="1080" b="1">
                <a:solidFill>
                  <a:srgbClr val="273746"/>
                </a:solidFill>
                <a:latin typeface="Microsoft YaHei"/>
              </a:rPr>
              <a:t>或标记 stale</a:t>
            </a:r>
          </a:p>
        </p:txBody>
      </p:sp>
      <p:sp>
        <p:nvSpPr>
          <p:cNvPr id="15" name="TextBox 14"/>
          <p:cNvSpPr txBox="1"/>
          <p:nvPr/>
        </p:nvSpPr>
        <p:spPr>
          <a:xfrm>
            <a:off x="1903192" y="3994077"/>
            <a:ext cx="182880" cy="155448"/>
          </a:xfrm>
          <a:prstGeom prst="rect">
            <a:avLst/>
          </a:prstGeom>
          <a:noFill/>
        </p:spPr>
        <p:txBody>
          <a:bodyPr wrap="square" lIns="12700" tIns="12700" rIns="12700" bIns="12700" anchor="t">
            <a:spAutoFit/>
          </a:bodyPr>
          <a:lstStyle/>
          <a:p>
            <a:pPr algn="ctr"/>
            <a:r>
              <a:rPr sz="1200" b="0" dirty="0">
                <a:solidFill>
                  <a:srgbClr val="276AA8"/>
                </a:solidFill>
                <a:latin typeface="Microsoft YaHei"/>
              </a:rPr>
              <a:t>↓</a:t>
            </a:r>
          </a:p>
        </p:txBody>
      </p:sp>
      <p:sp>
        <p:nvSpPr>
          <p:cNvPr id="16" name="Rounded Rectangle 15"/>
          <p:cNvSpPr/>
          <p:nvPr/>
        </p:nvSpPr>
        <p:spPr>
          <a:xfrm>
            <a:off x="1317976" y="4199817"/>
            <a:ext cx="1353312" cy="420624"/>
          </a:xfrm>
          <a:prstGeom prst="roundRect">
            <a:avLst/>
          </a:prstGeom>
          <a:solidFill>
            <a:srgbClr val="FFFFFF"/>
          </a:solidFill>
          <a:ln w="1270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080" b="1">
                <a:solidFill>
                  <a:srgbClr val="273746"/>
                </a:solidFill>
                <a:latin typeface="Microsoft YaHei"/>
              </a:rPr>
              <a:t>③ 读取 global meta</a:t>
            </a:r>
          </a:p>
        </p:txBody>
      </p:sp>
      <p:sp>
        <p:nvSpPr>
          <p:cNvPr id="18" name="Rounded Rectangle 17"/>
          <p:cNvSpPr/>
          <p:nvPr/>
        </p:nvSpPr>
        <p:spPr>
          <a:xfrm>
            <a:off x="3000472" y="2773353"/>
            <a:ext cx="5303520" cy="1600200"/>
          </a:xfrm>
          <a:prstGeom prst="roundRect">
            <a:avLst/>
          </a:prstGeom>
          <a:solidFill>
            <a:srgbClr val="FFFFFF"/>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endParaRPr/>
          </a:p>
        </p:txBody>
      </p:sp>
      <p:sp>
        <p:nvSpPr>
          <p:cNvPr id="19" name="TextBox 18"/>
          <p:cNvSpPr txBox="1"/>
          <p:nvPr/>
        </p:nvSpPr>
        <p:spPr>
          <a:xfrm>
            <a:off x="3128488" y="2872999"/>
            <a:ext cx="1920240" cy="193899"/>
          </a:xfrm>
          <a:prstGeom prst="rect">
            <a:avLst/>
          </a:prstGeom>
          <a:noFill/>
        </p:spPr>
        <p:txBody>
          <a:bodyPr wrap="square" lIns="0" tIns="0" rIns="0" bIns="0" anchor="ctr">
            <a:spAutoFit/>
          </a:bodyPr>
          <a:lstStyle/>
          <a:p>
            <a:pPr algn="l"/>
            <a:r>
              <a:rPr sz="1260" b="1" dirty="0">
                <a:solidFill>
                  <a:srgbClr val="273746"/>
                </a:solidFill>
                <a:latin typeface="Microsoft YaHei"/>
              </a:rPr>
              <a:t>④ HNSW </a:t>
            </a:r>
            <a:r>
              <a:rPr sz="1260" b="1" dirty="0" err="1">
                <a:solidFill>
                  <a:srgbClr val="273746"/>
                </a:solidFill>
                <a:latin typeface="Microsoft YaHei"/>
              </a:rPr>
              <a:t>搜索循环</a:t>
            </a:r>
            <a:endParaRPr sz="1260" b="1" dirty="0">
              <a:solidFill>
                <a:srgbClr val="273746"/>
              </a:solidFill>
              <a:latin typeface="Microsoft YaHei"/>
            </a:endParaRPr>
          </a:p>
        </p:txBody>
      </p:sp>
      <p:sp>
        <p:nvSpPr>
          <p:cNvPr id="20" name="Rounded Rectangle 19"/>
          <p:cNvSpPr/>
          <p:nvPr/>
        </p:nvSpPr>
        <p:spPr>
          <a:xfrm>
            <a:off x="3165064" y="3230553"/>
            <a:ext cx="1298448" cy="457200"/>
          </a:xfrm>
          <a:prstGeom prst="roundRect">
            <a:avLst/>
          </a:prstGeom>
          <a:solidFill>
            <a:srgbClr val="F6FAFF"/>
          </a:solidFill>
          <a:ln w="1270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980" b="1">
                <a:solidFill>
                  <a:srgbClr val="273746"/>
                </a:solidFill>
                <a:latin typeface="Microsoft YaHei"/>
              </a:rPr>
              <a:t>Coordinator</a:t>
            </a:r>
          </a:p>
          <a:p>
            <a:pPr algn="ctr"/>
            <a:r>
              <a:rPr sz="980" b="1">
                <a:solidFill>
                  <a:srgbClr val="273746"/>
                </a:solidFill>
                <a:latin typeface="Microsoft YaHei"/>
              </a:rPr>
              <a:t>维护 frontier</a:t>
            </a:r>
          </a:p>
        </p:txBody>
      </p:sp>
      <p:sp>
        <p:nvSpPr>
          <p:cNvPr id="21" name="Rounded Rectangle 20"/>
          <p:cNvSpPr/>
          <p:nvPr/>
        </p:nvSpPr>
        <p:spPr>
          <a:xfrm>
            <a:off x="4756120" y="3230553"/>
            <a:ext cx="1353312" cy="457200"/>
          </a:xfrm>
          <a:prstGeom prst="roundRect">
            <a:avLst/>
          </a:prstGeom>
          <a:solidFill>
            <a:srgbClr val="F6FAFF"/>
          </a:solidFill>
          <a:ln w="1270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980" b="1">
                <a:solidFill>
                  <a:srgbClr val="273746"/>
                </a:solidFill>
                <a:latin typeface="Microsoft YaHei"/>
              </a:rPr>
              <a:t>候选 ids</a:t>
            </a:r>
          </a:p>
          <a:p>
            <a:pPr algn="ctr"/>
            <a:r>
              <a:rPr sz="980" b="1">
                <a:solidFill>
                  <a:srgbClr val="273746"/>
                </a:solidFill>
                <a:latin typeface="Microsoft YaHei"/>
              </a:rPr>
              <a:t>按 OSD 分组</a:t>
            </a:r>
          </a:p>
        </p:txBody>
      </p:sp>
      <p:sp>
        <p:nvSpPr>
          <p:cNvPr id="22" name="Rounded Rectangle 21"/>
          <p:cNvSpPr/>
          <p:nvPr/>
        </p:nvSpPr>
        <p:spPr>
          <a:xfrm>
            <a:off x="6365464" y="3230553"/>
            <a:ext cx="1554480" cy="457200"/>
          </a:xfrm>
          <a:prstGeom prst="roundRect">
            <a:avLst/>
          </a:prstGeom>
          <a:solidFill>
            <a:srgbClr val="F6FAFF"/>
          </a:solidFill>
          <a:ln w="19050">
            <a:solidFill>
              <a:srgbClr val="FF0000"/>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880" b="1">
                <a:solidFill>
                  <a:srgbClr val="273746"/>
                </a:solidFill>
                <a:latin typeface="Microsoft YaHei"/>
              </a:rPr>
              <a:t>distance_to_local_batch</a:t>
            </a:r>
          </a:p>
          <a:p>
            <a:pPr algn="ctr"/>
            <a:r>
              <a:rPr sz="880" b="1">
                <a:solidFill>
                  <a:srgbClr val="273746"/>
                </a:solidFill>
                <a:latin typeface="Microsoft YaHei"/>
              </a:rPr>
              <a:t>读取本地 payload</a:t>
            </a:r>
          </a:p>
        </p:txBody>
      </p:sp>
      <p:sp>
        <p:nvSpPr>
          <p:cNvPr id="23" name="Rounded Rectangle 22"/>
          <p:cNvSpPr/>
          <p:nvPr/>
        </p:nvSpPr>
        <p:spPr>
          <a:xfrm>
            <a:off x="4664679" y="3852344"/>
            <a:ext cx="1737360" cy="329184"/>
          </a:xfrm>
          <a:prstGeom prst="roundRect">
            <a:avLst/>
          </a:prstGeom>
          <a:solidFill>
            <a:srgbClr val="FAFCFF"/>
          </a:solidFill>
          <a:ln w="12700">
            <a:solidFill>
              <a:srgbClr val="ADC7E0"/>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940" b="1">
                <a:solidFill>
                  <a:srgbClr val="273746"/>
                </a:solidFill>
                <a:latin typeface="Microsoft YaHei"/>
              </a:rPr>
              <a:t>返回 candidate_id + distance</a:t>
            </a:r>
          </a:p>
        </p:txBody>
      </p:sp>
      <p:cxnSp>
        <p:nvCxnSpPr>
          <p:cNvPr id="24" name="Connector 23"/>
          <p:cNvCxnSpPr/>
          <p:nvPr/>
        </p:nvCxnSpPr>
        <p:spPr>
          <a:xfrm>
            <a:off x="4463512" y="3459153"/>
            <a:ext cx="292608" cy="0"/>
          </a:xfrm>
          <a:prstGeom prst="line">
            <a:avLst/>
          </a:prstGeom>
          <a:ln w="15240">
            <a:solidFill>
              <a:srgbClr val="276AA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81800" y="3340281"/>
            <a:ext cx="228600" cy="164592"/>
          </a:xfrm>
          <a:prstGeom prst="rect">
            <a:avLst/>
          </a:prstGeom>
          <a:noFill/>
        </p:spPr>
        <p:txBody>
          <a:bodyPr wrap="square" lIns="12700" tIns="12700" rIns="12700" bIns="12700" anchor="t">
            <a:spAutoFit/>
          </a:bodyPr>
          <a:lstStyle/>
          <a:p>
            <a:pPr algn="ctr"/>
            <a:r>
              <a:rPr sz="1100" b="0">
                <a:solidFill>
                  <a:srgbClr val="276AA8"/>
                </a:solidFill>
                <a:latin typeface="Microsoft YaHei"/>
              </a:rPr>
              <a:t>→</a:t>
            </a:r>
          </a:p>
        </p:txBody>
      </p:sp>
      <p:cxnSp>
        <p:nvCxnSpPr>
          <p:cNvPr id="26" name="Connector 25"/>
          <p:cNvCxnSpPr/>
          <p:nvPr/>
        </p:nvCxnSpPr>
        <p:spPr>
          <a:xfrm>
            <a:off x="6109432" y="3459153"/>
            <a:ext cx="256032" cy="0"/>
          </a:xfrm>
          <a:prstGeom prst="line">
            <a:avLst/>
          </a:prstGeom>
          <a:ln w="15240">
            <a:solidFill>
              <a:srgbClr val="276AA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18576" y="3340281"/>
            <a:ext cx="228600" cy="164592"/>
          </a:xfrm>
          <a:prstGeom prst="rect">
            <a:avLst/>
          </a:prstGeom>
          <a:noFill/>
        </p:spPr>
        <p:txBody>
          <a:bodyPr wrap="square" lIns="12700" tIns="12700" rIns="12700" bIns="12700" anchor="t">
            <a:spAutoFit/>
          </a:bodyPr>
          <a:lstStyle/>
          <a:p>
            <a:pPr algn="ctr"/>
            <a:r>
              <a:rPr sz="1100" b="0">
                <a:solidFill>
                  <a:srgbClr val="276AA8"/>
                </a:solidFill>
                <a:latin typeface="Microsoft YaHei"/>
              </a:rPr>
              <a:t>→</a:t>
            </a:r>
          </a:p>
        </p:txBody>
      </p:sp>
      <p:cxnSp>
        <p:nvCxnSpPr>
          <p:cNvPr id="28" name="Connector 27"/>
          <p:cNvCxnSpPr>
            <a:cxnSpLocks/>
            <a:endCxn id="23" idx="3"/>
          </p:cNvCxnSpPr>
          <p:nvPr/>
        </p:nvCxnSpPr>
        <p:spPr>
          <a:xfrm flipH="1">
            <a:off x="6402039" y="3687753"/>
            <a:ext cx="758954" cy="329183"/>
          </a:xfrm>
          <a:prstGeom prst="line">
            <a:avLst/>
          </a:prstGeom>
          <a:ln w="15240">
            <a:solidFill>
              <a:srgbClr val="276AA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3823432" y="3687753"/>
            <a:ext cx="841247" cy="329184"/>
          </a:xfrm>
          <a:prstGeom prst="line">
            <a:avLst/>
          </a:prstGeom>
          <a:ln w="15240">
            <a:solidFill>
              <a:srgbClr val="276AA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74792" y="3989505"/>
            <a:ext cx="1097280" cy="201168"/>
          </a:xfrm>
          <a:prstGeom prst="rect">
            <a:avLst/>
          </a:prstGeom>
          <a:noFill/>
        </p:spPr>
        <p:txBody>
          <a:bodyPr wrap="square" lIns="12700" tIns="12700" rIns="12700" bIns="12700" anchor="t">
            <a:spAutoFit/>
          </a:bodyPr>
          <a:lstStyle/>
          <a:p>
            <a:pPr algn="ctr"/>
            <a:r>
              <a:rPr sz="860" b="0">
                <a:solidFill>
                  <a:srgbClr val="276AA8"/>
                </a:solidFill>
                <a:latin typeface="Microsoft YaHei"/>
              </a:rPr>
              <a:t>合并距离，继续扩展 ↺</a:t>
            </a:r>
          </a:p>
        </p:txBody>
      </p:sp>
      <p:sp>
        <p:nvSpPr>
          <p:cNvPr id="32" name="TextBox 31"/>
          <p:cNvSpPr txBox="1"/>
          <p:nvPr/>
        </p:nvSpPr>
        <p:spPr>
          <a:xfrm>
            <a:off x="2739868" y="4163241"/>
            <a:ext cx="228600" cy="182880"/>
          </a:xfrm>
          <a:prstGeom prst="rect">
            <a:avLst/>
          </a:prstGeom>
          <a:noFill/>
        </p:spPr>
        <p:txBody>
          <a:bodyPr wrap="square" lIns="12700" tIns="12700" rIns="12700" bIns="12700" anchor="t">
            <a:spAutoFit/>
          </a:bodyPr>
          <a:lstStyle/>
          <a:p>
            <a:pPr algn="ctr"/>
            <a:r>
              <a:rPr sz="1200" b="0" dirty="0">
                <a:solidFill>
                  <a:srgbClr val="276AA8"/>
                </a:solidFill>
                <a:latin typeface="Microsoft YaHei"/>
              </a:rPr>
              <a:t>→</a:t>
            </a:r>
          </a:p>
        </p:txBody>
      </p:sp>
      <p:sp>
        <p:nvSpPr>
          <p:cNvPr id="33" name="Rounded Rectangle 32"/>
          <p:cNvSpPr/>
          <p:nvPr/>
        </p:nvSpPr>
        <p:spPr>
          <a:xfrm>
            <a:off x="3018760" y="4638729"/>
            <a:ext cx="1280160" cy="420624"/>
          </a:xfrm>
          <a:prstGeom prst="roundRect">
            <a:avLst/>
          </a:prstGeom>
          <a:solidFill>
            <a:srgbClr val="FFFFFF"/>
          </a:solidFill>
          <a:ln w="1270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980" b="1">
                <a:solidFill>
                  <a:srgbClr val="273746"/>
                </a:solidFill>
                <a:latin typeface="Microsoft YaHei"/>
              </a:rPr>
              <a:t>⑤ 选邻居</a:t>
            </a:r>
          </a:p>
          <a:p>
            <a:pPr algn="ctr"/>
            <a:r>
              <a:rPr sz="980" b="1">
                <a:solidFill>
                  <a:srgbClr val="273746"/>
                </a:solidFill>
                <a:latin typeface="Microsoft YaHei"/>
              </a:rPr>
              <a:t>生成 edge patch</a:t>
            </a:r>
          </a:p>
        </p:txBody>
      </p:sp>
      <p:sp>
        <p:nvSpPr>
          <p:cNvPr id="34" name="Rounded Rectangle 33"/>
          <p:cNvSpPr/>
          <p:nvPr/>
        </p:nvSpPr>
        <p:spPr>
          <a:xfrm>
            <a:off x="4594504" y="4638729"/>
            <a:ext cx="1234440" cy="420624"/>
          </a:xfrm>
          <a:prstGeom prst="roundRect">
            <a:avLst/>
          </a:prstGeom>
          <a:solidFill>
            <a:srgbClr val="FFFFFF"/>
          </a:solidFill>
          <a:ln w="12700">
            <a:solidFill>
              <a:srgbClr val="276AA8"/>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980" b="1">
                <a:solidFill>
                  <a:srgbClr val="273746"/>
                </a:solidFill>
                <a:latin typeface="Microsoft YaHei"/>
              </a:rPr>
              <a:t>⑥ patch 按</a:t>
            </a:r>
          </a:p>
          <a:p>
            <a:pPr algn="ctr"/>
            <a:r>
              <a:rPr sz="980" b="1">
                <a:solidFill>
                  <a:srgbClr val="273746"/>
                </a:solidFill>
                <a:latin typeface="Microsoft YaHei"/>
              </a:rPr>
              <a:t>OSD/对象分组</a:t>
            </a:r>
          </a:p>
        </p:txBody>
      </p:sp>
      <p:sp>
        <p:nvSpPr>
          <p:cNvPr id="35" name="Rounded Rectangle 34"/>
          <p:cNvSpPr/>
          <p:nvPr/>
        </p:nvSpPr>
        <p:spPr>
          <a:xfrm>
            <a:off x="6091144" y="4645533"/>
            <a:ext cx="1444752" cy="420624"/>
          </a:xfrm>
          <a:prstGeom prst="roundRect">
            <a:avLst/>
          </a:prstGeom>
          <a:solidFill>
            <a:srgbClr val="FFFFFF"/>
          </a:solidFill>
          <a:ln w="19050">
            <a:solidFill>
              <a:srgbClr val="FF0000"/>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980" b="1">
                <a:solidFill>
                  <a:srgbClr val="273746"/>
                </a:solidFill>
                <a:latin typeface="Microsoft YaHei"/>
              </a:rPr>
              <a:t>⑦ apply_edge</a:t>
            </a:r>
          </a:p>
          <a:p>
            <a:pPr algn="ctr"/>
            <a:r>
              <a:rPr sz="980" b="1">
                <a:solidFill>
                  <a:srgbClr val="273746"/>
                </a:solidFill>
                <a:latin typeface="Microsoft YaHei"/>
              </a:rPr>
              <a:t>_patch_batch</a:t>
            </a:r>
          </a:p>
        </p:txBody>
      </p:sp>
      <p:sp>
        <p:nvSpPr>
          <p:cNvPr id="36" name="Rounded Rectangle 35"/>
          <p:cNvSpPr/>
          <p:nvPr/>
        </p:nvSpPr>
        <p:spPr>
          <a:xfrm>
            <a:off x="7835735" y="4645533"/>
            <a:ext cx="841248" cy="420624"/>
          </a:xfrm>
          <a:prstGeom prst="roundRect">
            <a:avLst/>
          </a:prstGeom>
          <a:solidFill>
            <a:srgbClr val="FFFFFF"/>
          </a:solidFill>
          <a:ln w="12700">
            <a:solidFill>
              <a:srgbClr val="208FC9"/>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940" b="1">
                <a:solidFill>
                  <a:srgbClr val="273746"/>
                </a:solidFill>
                <a:latin typeface="Microsoft YaHei"/>
              </a:rPr>
              <a:t>⑧ 更新</a:t>
            </a:r>
          </a:p>
          <a:p>
            <a:pPr algn="ctr"/>
            <a:r>
              <a:rPr sz="940" b="1">
                <a:solidFill>
                  <a:srgbClr val="273746"/>
                </a:solidFill>
                <a:latin typeface="Microsoft YaHei"/>
              </a:rPr>
              <a:t>global meta</a:t>
            </a:r>
          </a:p>
        </p:txBody>
      </p:sp>
      <p:cxnSp>
        <p:nvCxnSpPr>
          <p:cNvPr id="37" name="Connector 36"/>
          <p:cNvCxnSpPr/>
          <p:nvPr/>
        </p:nvCxnSpPr>
        <p:spPr>
          <a:xfrm>
            <a:off x="4298920" y="4849041"/>
            <a:ext cx="256032" cy="0"/>
          </a:xfrm>
          <a:prstGeom prst="line">
            <a:avLst/>
          </a:prstGeom>
          <a:ln w="15240">
            <a:solidFill>
              <a:srgbClr val="276AA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335496" y="4721025"/>
            <a:ext cx="272796" cy="179536"/>
          </a:xfrm>
          <a:prstGeom prst="rect">
            <a:avLst/>
          </a:prstGeom>
          <a:noFill/>
        </p:spPr>
        <p:txBody>
          <a:bodyPr wrap="square" lIns="12700" tIns="12700" rIns="12700" bIns="12700" anchor="t">
            <a:spAutoFit/>
          </a:bodyPr>
          <a:lstStyle/>
          <a:p>
            <a:pPr algn="ctr"/>
            <a:r>
              <a:rPr sz="1000" b="0" dirty="0">
                <a:solidFill>
                  <a:srgbClr val="276AA8"/>
                </a:solidFill>
                <a:latin typeface="Microsoft YaHei"/>
              </a:rPr>
              <a:t>→</a:t>
            </a:r>
          </a:p>
        </p:txBody>
      </p:sp>
      <p:cxnSp>
        <p:nvCxnSpPr>
          <p:cNvPr id="39" name="Connector 38"/>
          <p:cNvCxnSpPr/>
          <p:nvPr/>
        </p:nvCxnSpPr>
        <p:spPr>
          <a:xfrm>
            <a:off x="5825968" y="4849041"/>
            <a:ext cx="256032" cy="0"/>
          </a:xfrm>
          <a:prstGeom prst="line">
            <a:avLst/>
          </a:prstGeom>
          <a:ln w="15240">
            <a:solidFill>
              <a:srgbClr val="276AA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62544" y="4721025"/>
            <a:ext cx="182880" cy="146304"/>
          </a:xfrm>
          <a:prstGeom prst="rect">
            <a:avLst/>
          </a:prstGeom>
          <a:noFill/>
        </p:spPr>
        <p:txBody>
          <a:bodyPr wrap="square" lIns="12700" tIns="12700" rIns="12700" bIns="12700" anchor="t">
            <a:spAutoFit/>
          </a:bodyPr>
          <a:lstStyle/>
          <a:p>
            <a:pPr algn="ctr"/>
            <a:r>
              <a:rPr sz="1000" b="0">
                <a:solidFill>
                  <a:srgbClr val="276AA8"/>
                </a:solidFill>
                <a:latin typeface="Microsoft YaHei"/>
              </a:rPr>
              <a:t>→</a:t>
            </a:r>
          </a:p>
        </p:txBody>
      </p:sp>
      <p:cxnSp>
        <p:nvCxnSpPr>
          <p:cNvPr id="41" name="Connector 40"/>
          <p:cNvCxnSpPr/>
          <p:nvPr/>
        </p:nvCxnSpPr>
        <p:spPr>
          <a:xfrm>
            <a:off x="7572472" y="4849041"/>
            <a:ext cx="256032" cy="0"/>
          </a:xfrm>
          <a:prstGeom prst="line">
            <a:avLst/>
          </a:prstGeom>
          <a:ln w="15240">
            <a:solidFill>
              <a:srgbClr val="276AA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609048" y="4721025"/>
            <a:ext cx="182880" cy="146304"/>
          </a:xfrm>
          <a:prstGeom prst="rect">
            <a:avLst/>
          </a:prstGeom>
          <a:noFill/>
        </p:spPr>
        <p:txBody>
          <a:bodyPr wrap="square" lIns="12700" tIns="12700" rIns="12700" bIns="12700" anchor="t">
            <a:spAutoFit/>
          </a:bodyPr>
          <a:lstStyle/>
          <a:p>
            <a:pPr algn="ctr"/>
            <a:r>
              <a:rPr sz="1000" b="0">
                <a:solidFill>
                  <a:srgbClr val="276AA8"/>
                </a:solidFill>
                <a:latin typeface="Microsoft YaHei"/>
              </a:rPr>
              <a:t>→</a:t>
            </a:r>
          </a:p>
        </p:txBody>
      </p:sp>
      <p:sp>
        <p:nvSpPr>
          <p:cNvPr id="44" name="TextBox 43"/>
          <p:cNvSpPr txBox="1"/>
          <p:nvPr/>
        </p:nvSpPr>
        <p:spPr>
          <a:xfrm>
            <a:off x="3567400" y="4404686"/>
            <a:ext cx="182880" cy="137160"/>
          </a:xfrm>
          <a:prstGeom prst="rect">
            <a:avLst/>
          </a:prstGeom>
          <a:noFill/>
        </p:spPr>
        <p:txBody>
          <a:bodyPr wrap="square" lIns="12700" tIns="12700" rIns="12700" bIns="12700" anchor="t">
            <a:spAutoFit/>
          </a:bodyPr>
          <a:lstStyle/>
          <a:p>
            <a:pPr algn="ctr"/>
            <a:r>
              <a:rPr sz="1000" b="0" dirty="0">
                <a:solidFill>
                  <a:srgbClr val="276AA8"/>
                </a:solidFill>
                <a:latin typeface="Microsoft YaHei"/>
              </a:rPr>
              <a:t>↓</a:t>
            </a:r>
          </a:p>
        </p:txBody>
      </p:sp>
      <p:sp>
        <p:nvSpPr>
          <p:cNvPr id="45" name="Rounded Rectangle 44"/>
          <p:cNvSpPr/>
          <p:nvPr/>
        </p:nvSpPr>
        <p:spPr>
          <a:xfrm>
            <a:off x="9145240" y="2864793"/>
            <a:ext cx="1719072" cy="457200"/>
          </a:xfrm>
          <a:prstGeom prst="roundRect">
            <a:avLst/>
          </a:prstGeom>
          <a:solidFill>
            <a:srgbClr val="FFFFFF"/>
          </a:solidFill>
          <a:ln w="12700">
            <a:solidFill>
              <a:srgbClr val="208FC9"/>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300" b="1" dirty="0">
                <a:solidFill>
                  <a:srgbClr val="273746"/>
                </a:solidFill>
                <a:latin typeface="Microsoft YaHei"/>
              </a:rPr>
              <a:t>payload</a:t>
            </a:r>
          </a:p>
        </p:txBody>
      </p:sp>
      <p:sp>
        <p:nvSpPr>
          <p:cNvPr id="46" name="TextBox 45"/>
          <p:cNvSpPr txBox="1"/>
          <p:nvPr/>
        </p:nvSpPr>
        <p:spPr>
          <a:xfrm>
            <a:off x="9163528" y="3332923"/>
            <a:ext cx="1664208" cy="164592"/>
          </a:xfrm>
          <a:prstGeom prst="rect">
            <a:avLst/>
          </a:prstGeom>
          <a:noFill/>
        </p:spPr>
        <p:txBody>
          <a:bodyPr wrap="square" lIns="12700" tIns="12700" rIns="12700" bIns="12700" anchor="t">
            <a:spAutoFit/>
          </a:bodyPr>
          <a:lstStyle/>
          <a:p>
            <a:pPr algn="ctr"/>
            <a:r>
              <a:rPr sz="880" b="0" dirty="0" err="1">
                <a:solidFill>
                  <a:srgbClr val="686868"/>
                </a:solidFill>
                <a:latin typeface="Microsoft YaHei"/>
              </a:rPr>
              <a:t>向量</a:t>
            </a:r>
            <a:r>
              <a:rPr lang="zh-CN" altLang="en-US" sz="880" dirty="0">
                <a:solidFill>
                  <a:srgbClr val="686868"/>
                </a:solidFill>
                <a:latin typeface="Microsoft YaHei"/>
              </a:rPr>
              <a:t>数据</a:t>
            </a:r>
            <a:endParaRPr sz="880" b="0" dirty="0">
              <a:solidFill>
                <a:srgbClr val="686868"/>
              </a:solidFill>
              <a:latin typeface="Microsoft YaHei"/>
            </a:endParaRPr>
          </a:p>
        </p:txBody>
      </p:sp>
      <p:sp>
        <p:nvSpPr>
          <p:cNvPr id="47" name="Rounded Rectangle 46"/>
          <p:cNvSpPr/>
          <p:nvPr/>
        </p:nvSpPr>
        <p:spPr>
          <a:xfrm>
            <a:off x="9145240" y="3559737"/>
            <a:ext cx="1719072" cy="457200"/>
          </a:xfrm>
          <a:prstGeom prst="roundRect">
            <a:avLst/>
          </a:prstGeom>
          <a:solidFill>
            <a:srgbClr val="FFFFFF"/>
          </a:solidFill>
          <a:ln w="12700">
            <a:solidFill>
              <a:srgbClr val="208FC9"/>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300" b="1">
                <a:solidFill>
                  <a:srgbClr val="273746"/>
                </a:solidFill>
                <a:latin typeface="Microsoft YaHei"/>
              </a:rPr>
              <a:t>OMAP</a:t>
            </a:r>
          </a:p>
        </p:txBody>
      </p:sp>
      <p:sp>
        <p:nvSpPr>
          <p:cNvPr id="48" name="TextBox 47"/>
          <p:cNvSpPr txBox="1"/>
          <p:nvPr/>
        </p:nvSpPr>
        <p:spPr>
          <a:xfrm>
            <a:off x="9172672" y="4090089"/>
            <a:ext cx="1664208" cy="157992"/>
          </a:xfrm>
          <a:prstGeom prst="rect">
            <a:avLst/>
          </a:prstGeom>
          <a:noFill/>
        </p:spPr>
        <p:txBody>
          <a:bodyPr wrap="square" lIns="12700" tIns="12700" rIns="12700" bIns="12700" anchor="t">
            <a:spAutoFit/>
          </a:bodyPr>
          <a:lstStyle/>
          <a:p>
            <a:pPr algn="ctr"/>
            <a:r>
              <a:rPr lang="en-US" sz="860" b="0" dirty="0">
                <a:solidFill>
                  <a:srgbClr val="686868"/>
                </a:solidFill>
                <a:latin typeface="Microsoft YaHei"/>
              </a:rPr>
              <a:t>A</a:t>
            </a:r>
            <a:r>
              <a:rPr sz="860" b="0" dirty="0">
                <a:solidFill>
                  <a:srgbClr val="686868"/>
                </a:solidFill>
                <a:latin typeface="Microsoft YaHei"/>
              </a:rPr>
              <a:t>djacency</a:t>
            </a:r>
            <a:r>
              <a:rPr lang="zh-CN" altLang="en-US" sz="860" b="0" dirty="0">
                <a:solidFill>
                  <a:srgbClr val="686868"/>
                </a:solidFill>
                <a:latin typeface="Microsoft YaHei"/>
              </a:rPr>
              <a:t>邻接表</a:t>
            </a:r>
            <a:endParaRPr sz="860" b="0" dirty="0">
              <a:solidFill>
                <a:srgbClr val="686868"/>
              </a:solidFill>
              <a:latin typeface="Microsoft YaHei"/>
            </a:endParaRPr>
          </a:p>
        </p:txBody>
      </p:sp>
      <p:sp>
        <p:nvSpPr>
          <p:cNvPr id="49" name="Rounded Rectangle 48"/>
          <p:cNvSpPr/>
          <p:nvPr/>
        </p:nvSpPr>
        <p:spPr>
          <a:xfrm>
            <a:off x="9145240" y="4346121"/>
            <a:ext cx="1719072" cy="512064"/>
          </a:xfrm>
          <a:prstGeom prst="roundRect">
            <a:avLst/>
          </a:prstGeom>
          <a:solidFill>
            <a:srgbClr val="FFFFFF"/>
          </a:solidFill>
          <a:ln w="12700">
            <a:solidFill>
              <a:srgbClr val="208FC9"/>
            </a:solidFill>
          </a:ln>
        </p:spPr>
        <p:style>
          <a:lnRef idx="1">
            <a:schemeClr val="accent1"/>
          </a:lnRef>
          <a:fillRef idx="3">
            <a:schemeClr val="accent1"/>
          </a:fillRef>
          <a:effectRef idx="2">
            <a:schemeClr val="accent1"/>
          </a:effectRef>
          <a:fontRef idx="minor">
            <a:schemeClr val="lt1"/>
          </a:fontRef>
        </p:style>
        <p:txBody>
          <a:bodyPr wrap="square" lIns="38100" tIns="38100" rIns="38100" bIns="38100" rtlCol="0" anchor="ctr"/>
          <a:lstStyle/>
          <a:p>
            <a:pPr algn="ctr"/>
            <a:r>
              <a:rPr sz="1250" b="1">
                <a:solidFill>
                  <a:srgbClr val="273746"/>
                </a:solidFill>
                <a:latin typeface="Microsoft YaHei"/>
              </a:rPr>
              <a:t>global meta</a:t>
            </a:r>
          </a:p>
        </p:txBody>
      </p:sp>
      <p:sp>
        <p:nvSpPr>
          <p:cNvPr id="50" name="TextBox 49"/>
          <p:cNvSpPr txBox="1"/>
          <p:nvPr/>
        </p:nvSpPr>
        <p:spPr>
          <a:xfrm>
            <a:off x="9205825" y="4945393"/>
            <a:ext cx="1664208" cy="256032"/>
          </a:xfrm>
          <a:prstGeom prst="rect">
            <a:avLst/>
          </a:prstGeom>
          <a:noFill/>
        </p:spPr>
        <p:txBody>
          <a:bodyPr wrap="square" lIns="12700" tIns="12700" rIns="12700" bIns="12700" anchor="t">
            <a:spAutoFit/>
          </a:bodyPr>
          <a:lstStyle/>
          <a:p>
            <a:pPr algn="ctr"/>
            <a:r>
              <a:rPr sz="860" b="0" dirty="0">
                <a:solidFill>
                  <a:srgbClr val="686868"/>
                </a:solidFill>
                <a:latin typeface="Microsoft YaHei"/>
              </a:rPr>
              <a:t>entry point / epoch /</a:t>
            </a:r>
          </a:p>
          <a:p>
            <a:pPr algn="ctr"/>
            <a:r>
              <a:rPr sz="860" b="0" dirty="0">
                <a:solidFill>
                  <a:srgbClr val="686868"/>
                </a:solidFill>
                <a:latin typeface="Microsoft YaHei"/>
              </a:rPr>
              <a:t>version / state</a:t>
            </a:r>
          </a:p>
        </p:txBody>
      </p:sp>
      <p:sp>
        <p:nvSpPr>
          <p:cNvPr id="56" name="Rounded Rectangle 55"/>
          <p:cNvSpPr/>
          <p:nvPr/>
        </p:nvSpPr>
        <p:spPr>
          <a:xfrm>
            <a:off x="1098520" y="5626281"/>
            <a:ext cx="3063240" cy="658368"/>
          </a:xfrm>
          <a:prstGeom prst="roundRect">
            <a:avLst/>
          </a:prstGeom>
          <a:solidFill>
            <a:srgbClr val="F8FAFC"/>
          </a:solidFill>
          <a:ln w="12700">
            <a:solidFill>
              <a:srgbClr val="ADC7E0"/>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rtlCol="0" anchor="ctr"/>
          <a:lstStyle/>
          <a:p>
            <a:pPr algn="l"/>
            <a:r>
              <a:rPr sz="930" b="0">
                <a:solidFill>
                  <a:srgbClr val="273746"/>
                </a:solidFill>
                <a:latin typeface="Microsoft YaHei"/>
              </a:rPr>
              <a:t>观测点A：远端距离调用</a:t>
            </a:r>
          </a:p>
          <a:p>
            <a:pPr algn="l"/>
            <a:r>
              <a:rPr sz="930" b="0">
                <a:solidFill>
                  <a:srgbClr val="273746"/>
                </a:solidFill>
                <a:latin typeface="Microsoft YaHei"/>
              </a:rPr>
              <a:t>cls_exec RTT = 网络往返 + OSD排队 + payload读取/纯算距</a:t>
            </a:r>
          </a:p>
        </p:txBody>
      </p:sp>
      <p:sp>
        <p:nvSpPr>
          <p:cNvPr id="57" name="Rounded Rectangle 56"/>
          <p:cNvSpPr/>
          <p:nvPr/>
        </p:nvSpPr>
        <p:spPr>
          <a:xfrm>
            <a:off x="4408648" y="5639458"/>
            <a:ext cx="2834640" cy="658368"/>
          </a:xfrm>
          <a:prstGeom prst="roundRect">
            <a:avLst/>
          </a:prstGeom>
          <a:solidFill>
            <a:srgbClr val="F8FAFC"/>
          </a:solidFill>
          <a:ln w="12700">
            <a:solidFill>
              <a:srgbClr val="ADC7E0"/>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rtlCol="0" anchor="ctr"/>
          <a:lstStyle/>
          <a:p>
            <a:pPr algn="l"/>
            <a:r>
              <a:rPr sz="930" b="0">
                <a:solidFill>
                  <a:srgbClr val="273746"/>
                </a:solidFill>
                <a:latin typeface="Microsoft YaHei"/>
              </a:rPr>
              <a:t>观测点B：邻接 patch</a:t>
            </a:r>
          </a:p>
          <a:p>
            <a:pPr algn="l"/>
            <a:r>
              <a:rPr sz="930" b="0">
                <a:solidFill>
                  <a:srgbClr val="273746"/>
                </a:solidFill>
                <a:latin typeface="Microsoft YaHei"/>
              </a:rPr>
              <a:t>多对象写入、版本冲突、原子更新与OSD队列</a:t>
            </a:r>
          </a:p>
        </p:txBody>
      </p:sp>
      <p:sp>
        <p:nvSpPr>
          <p:cNvPr id="58" name="Rounded Rectangle 57"/>
          <p:cNvSpPr/>
          <p:nvPr/>
        </p:nvSpPr>
        <p:spPr>
          <a:xfrm>
            <a:off x="7554486" y="5626281"/>
            <a:ext cx="3611880" cy="658368"/>
          </a:xfrm>
          <a:prstGeom prst="roundRect">
            <a:avLst/>
          </a:prstGeom>
          <a:solidFill>
            <a:srgbClr val="F8FAFC"/>
          </a:solidFill>
          <a:ln w="12700">
            <a:solidFill>
              <a:srgbClr val="ADC7E0"/>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rtlCol="0" anchor="ctr"/>
          <a:lstStyle/>
          <a:p>
            <a:pPr algn="l"/>
            <a:r>
              <a:rPr sz="930" b="0">
                <a:solidFill>
                  <a:srgbClr val="273746"/>
                </a:solidFill>
                <a:latin typeface="Microsoft YaHei"/>
              </a:rPr>
              <a:t>观测点C：global meta</a:t>
            </a:r>
          </a:p>
          <a:p>
            <a:pPr algn="l"/>
            <a:r>
              <a:rPr sz="930" b="0">
                <a:solidFill>
                  <a:srgbClr val="273746"/>
                </a:solidFill>
                <a:latin typeface="Microsoft YaHei"/>
              </a:rPr>
              <a:t>entry point / epoch / version 集中维护，形成串行热点</a:t>
            </a:r>
          </a:p>
        </p:txBody>
      </p:sp>
      <p:sp>
        <p:nvSpPr>
          <p:cNvPr id="62" name="文本框 61">
            <a:extLst>
              <a:ext uri="{FF2B5EF4-FFF2-40B4-BE49-F238E27FC236}">
                <a16:creationId xmlns:a16="http://schemas.microsoft.com/office/drawing/2014/main" id="{9EF03B69-C9D4-43CE-9467-A1A5311E399F}"/>
              </a:ext>
            </a:extLst>
          </p:cNvPr>
          <p:cNvSpPr txBox="1"/>
          <p:nvPr/>
        </p:nvSpPr>
        <p:spPr>
          <a:xfrm>
            <a:off x="1789197" y="2323139"/>
            <a:ext cx="6412975" cy="307777"/>
          </a:xfrm>
          <a:prstGeom prst="rect">
            <a:avLst/>
          </a:prstGeom>
          <a:noFill/>
        </p:spPr>
        <p:txBody>
          <a:bodyPr wrap="square">
            <a:spAutoFit/>
          </a:bodyPr>
          <a:lstStyle/>
          <a:p>
            <a:pPr algn="ctr"/>
            <a:r>
              <a:rPr lang="zh-CN" altLang="en-US" sz="1400" b="1" dirty="0">
                <a:solidFill>
                  <a:schemeClr val="tx1"/>
                </a:solidFill>
                <a:latin typeface="Microsoft YaHei"/>
              </a:rPr>
              <a:t>计算节点</a:t>
            </a:r>
            <a:r>
              <a:rPr lang="en-US" altLang="zh-CN" sz="1400" b="1" dirty="0">
                <a:solidFill>
                  <a:schemeClr val="tx1"/>
                </a:solidFill>
                <a:latin typeface="Microsoft YaHei"/>
              </a:rPr>
              <a:t>Coordinator </a:t>
            </a:r>
            <a:r>
              <a:rPr lang="zh-CN" altLang="en-US" sz="1400" b="1" dirty="0">
                <a:solidFill>
                  <a:schemeClr val="tx1"/>
                </a:solidFill>
                <a:latin typeface="Microsoft YaHei"/>
              </a:rPr>
              <a:t>主控、存储节点</a:t>
            </a:r>
            <a:r>
              <a:rPr lang="en-US" altLang="zh-CN" sz="1400" b="1" dirty="0">
                <a:solidFill>
                  <a:schemeClr val="tx1"/>
                </a:solidFill>
                <a:latin typeface="Microsoft YaHei"/>
              </a:rPr>
              <a:t>OSD/CLS </a:t>
            </a:r>
            <a:r>
              <a:rPr lang="zh-CN" altLang="en-US" sz="1400" b="1" dirty="0">
                <a:solidFill>
                  <a:schemeClr val="tx1"/>
                </a:solidFill>
                <a:latin typeface="Microsoft YaHei"/>
              </a:rPr>
              <a:t>循环执行</a:t>
            </a:r>
          </a:p>
        </p:txBody>
      </p:sp>
      <p:sp>
        <p:nvSpPr>
          <p:cNvPr id="64" name="文本框 63">
            <a:extLst>
              <a:ext uri="{FF2B5EF4-FFF2-40B4-BE49-F238E27FC236}">
                <a16:creationId xmlns:a16="http://schemas.microsoft.com/office/drawing/2014/main" id="{3922472D-6625-4772-8944-4C92CDD68DF7}"/>
              </a:ext>
            </a:extLst>
          </p:cNvPr>
          <p:cNvSpPr txBox="1"/>
          <p:nvPr/>
        </p:nvSpPr>
        <p:spPr>
          <a:xfrm>
            <a:off x="8633275" y="2330869"/>
            <a:ext cx="2883777" cy="307777"/>
          </a:xfrm>
          <a:prstGeom prst="rect">
            <a:avLst/>
          </a:prstGeom>
          <a:noFill/>
        </p:spPr>
        <p:txBody>
          <a:bodyPr wrap="square">
            <a:spAutoFit/>
          </a:bodyPr>
          <a:lstStyle/>
          <a:p>
            <a:pPr algn="ctr"/>
            <a:r>
              <a:rPr lang="en-US" altLang="zh-CN" sz="1400" b="1" dirty="0">
                <a:solidFill>
                  <a:schemeClr val="tx1"/>
                </a:solidFill>
                <a:latin typeface="Microsoft YaHei"/>
              </a:rPr>
              <a:t>RADOS </a:t>
            </a:r>
            <a:r>
              <a:rPr lang="zh-CN" altLang="en-US" sz="1400" b="1" dirty="0">
                <a:solidFill>
                  <a:schemeClr val="tx1"/>
                </a:solidFill>
                <a:latin typeface="Microsoft YaHei"/>
              </a:rPr>
              <a:t>对象布局</a:t>
            </a:r>
          </a:p>
        </p:txBody>
      </p:sp>
      <p:sp>
        <p:nvSpPr>
          <p:cNvPr id="67" name="Rectangle 1">
            <a:extLst>
              <a:ext uri="{FF2B5EF4-FFF2-40B4-BE49-F238E27FC236}">
                <a16:creationId xmlns:a16="http://schemas.microsoft.com/office/drawing/2014/main" id="{09C19FCE-6F0C-4C98-80CE-2519B1413672}"/>
              </a:ext>
            </a:extLst>
          </p:cNvPr>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Microsoft YaHei"/>
              </a:defRPr>
            </a:pPr>
            <a:r>
              <a:rPr dirty="0"/>
              <a:t>03</a:t>
            </a:r>
          </a:p>
        </p:txBody>
      </p:sp>
      <p:sp>
        <p:nvSpPr>
          <p:cNvPr id="52" name="灯片编号占位符 1">
            <a:extLst>
              <a:ext uri="{FF2B5EF4-FFF2-40B4-BE49-F238E27FC236}">
                <a16:creationId xmlns:a16="http://schemas.microsoft.com/office/drawing/2014/main" id="{B08A1277-4C44-469E-8EAB-FC355E8DE419}"/>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mtClean="0"/>
              <a:t>11</a:t>
            </a:fld>
            <a:endParaRPr lang="en-US" altLang="zh-CN" dirty="0"/>
          </a:p>
        </p:txBody>
      </p:sp>
      <p:sp>
        <p:nvSpPr>
          <p:cNvPr id="53" name="文本框 52">
            <a:extLst>
              <a:ext uri="{FF2B5EF4-FFF2-40B4-BE49-F238E27FC236}">
                <a16:creationId xmlns:a16="http://schemas.microsoft.com/office/drawing/2014/main" id="{9CDD9110-C937-4579-96E4-1409528A5F0C}"/>
              </a:ext>
            </a:extLst>
          </p:cNvPr>
          <p:cNvSpPr txBox="1"/>
          <p:nvPr/>
        </p:nvSpPr>
        <p:spPr>
          <a:xfrm>
            <a:off x="339549" y="1772398"/>
            <a:ext cx="11558054" cy="338554"/>
          </a:xfrm>
          <a:prstGeom prst="rect">
            <a:avLst/>
          </a:prstGeom>
          <a:noFill/>
        </p:spPr>
        <p:txBody>
          <a:bodyPr wrap="square">
            <a:sp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Baseline</a:t>
            </a:r>
            <a:r>
              <a:rPr lang="zh-CN" altLang="en-US" sz="1600" b="1" dirty="0">
                <a:solidFill>
                  <a:schemeClr val="tx1"/>
                </a:solidFill>
                <a:latin typeface="Times New Roman" panose="02020603050405020304" pitchFamily="18" charset="0"/>
                <a:cs typeface="Times New Roman" panose="02020603050405020304" pitchFamily="18" charset="0"/>
              </a:rPr>
              <a:t>：</a:t>
            </a:r>
            <a:r>
              <a:rPr lang="en-US" altLang="zh-CN" sz="1600" b="1" dirty="0">
                <a:solidFill>
                  <a:schemeClr val="tx1"/>
                </a:solidFill>
                <a:latin typeface="Times New Roman" panose="02020603050405020304" pitchFamily="18" charset="0"/>
                <a:cs typeface="Times New Roman" panose="02020603050405020304" pitchFamily="18" charset="0"/>
              </a:rPr>
              <a:t>Coordinator </a:t>
            </a:r>
            <a:r>
              <a:rPr lang="zh-CN" altLang="en-US" sz="1600" b="1" dirty="0">
                <a:solidFill>
                  <a:schemeClr val="tx1"/>
                </a:solidFill>
                <a:latin typeface="Times New Roman" panose="02020603050405020304" pitchFamily="18" charset="0"/>
                <a:cs typeface="Times New Roman" panose="02020603050405020304" pitchFamily="18" charset="0"/>
              </a:rPr>
              <a:t>保留搜索控制；</a:t>
            </a:r>
            <a:r>
              <a:rPr lang="en-US" altLang="zh-CN" sz="1600" b="1" dirty="0">
                <a:solidFill>
                  <a:schemeClr val="tx1"/>
                </a:solidFill>
                <a:latin typeface="Times New Roman" panose="02020603050405020304" pitchFamily="18" charset="0"/>
                <a:cs typeface="Times New Roman" panose="02020603050405020304" pitchFamily="18" charset="0"/>
              </a:rPr>
              <a:t>OSD/CLS </a:t>
            </a:r>
            <a:r>
              <a:rPr lang="zh-CN" altLang="en-US" sz="1600" b="1" dirty="0">
                <a:solidFill>
                  <a:schemeClr val="tx1"/>
                </a:solidFill>
                <a:latin typeface="Times New Roman" panose="02020603050405020304" pitchFamily="18" charset="0"/>
                <a:cs typeface="Times New Roman" panose="02020603050405020304" pitchFamily="18" charset="0"/>
              </a:rPr>
              <a:t>执行批量算距与邻接 </a:t>
            </a:r>
            <a:r>
              <a:rPr lang="en-US" altLang="zh-CN" sz="1600" b="1" dirty="0">
                <a:solidFill>
                  <a:schemeClr val="tx1"/>
                </a:solidFill>
                <a:latin typeface="Times New Roman" panose="02020603050405020304" pitchFamily="18" charset="0"/>
                <a:cs typeface="Times New Roman" panose="02020603050405020304" pitchFamily="18" charset="0"/>
              </a:rPr>
              <a:t>patch</a:t>
            </a:r>
            <a:r>
              <a:rPr lang="zh-CN" altLang="en-US" sz="1600" b="1" dirty="0">
                <a:solidFill>
                  <a:schemeClr val="tx1"/>
                </a:solidFill>
                <a:latin typeface="Times New Roman" panose="02020603050405020304" pitchFamily="18" charset="0"/>
                <a:cs typeface="Times New Roman" panose="02020603050405020304" pitchFamily="18" charset="0"/>
              </a:rPr>
              <a:t>；</a:t>
            </a:r>
            <a:r>
              <a:rPr lang="en-US" altLang="zh-CN" sz="1600" b="1" dirty="0">
                <a:solidFill>
                  <a:schemeClr val="tx1"/>
                </a:solidFill>
                <a:latin typeface="Times New Roman" panose="02020603050405020304" pitchFamily="18" charset="0"/>
                <a:cs typeface="Times New Roman" panose="02020603050405020304" pitchFamily="18" charset="0"/>
              </a:rPr>
              <a:t>RADOS </a:t>
            </a:r>
            <a:r>
              <a:rPr lang="zh-CN" altLang="en-US" sz="1600" b="1" dirty="0">
                <a:solidFill>
                  <a:schemeClr val="tx1"/>
                </a:solidFill>
                <a:latin typeface="Times New Roman" panose="02020603050405020304" pitchFamily="18" charset="0"/>
                <a:cs typeface="Times New Roman" panose="02020603050405020304" pitchFamily="18" charset="0"/>
              </a:rPr>
              <a:t>维护 </a:t>
            </a:r>
            <a:r>
              <a:rPr lang="en-US" altLang="zh-CN" sz="1600" b="1" dirty="0">
                <a:solidFill>
                  <a:schemeClr val="tx1"/>
                </a:solidFill>
                <a:latin typeface="Times New Roman" panose="02020603050405020304" pitchFamily="18" charset="0"/>
                <a:cs typeface="Times New Roman" panose="02020603050405020304" pitchFamily="18" charset="0"/>
              </a:rPr>
              <a:t>payload / OMAP / global meta</a:t>
            </a:r>
            <a:r>
              <a:rPr lang="zh-CN" altLang="en-US" sz="1600" b="1" dirty="0">
                <a:solidFill>
                  <a:schemeClr val="tx1"/>
                </a:solidFill>
                <a:latin typeface="Times New Roman" panose="02020603050405020304" pitchFamily="18" charset="0"/>
                <a:cs typeface="Times New Roman" panose="02020603050405020304" pitchFamily="18" charset="0"/>
              </a:rPr>
              <a:t>。</a:t>
            </a:r>
          </a:p>
        </p:txBody>
      </p:sp>
      <p:sp>
        <p:nvSpPr>
          <p:cNvPr id="54" name="文本框 53">
            <a:extLst>
              <a:ext uri="{FF2B5EF4-FFF2-40B4-BE49-F238E27FC236}">
                <a16:creationId xmlns:a16="http://schemas.microsoft.com/office/drawing/2014/main" id="{BE15CE70-B3CD-485B-AFCE-5482C07EA970}"/>
              </a:ext>
            </a:extLst>
          </p:cNvPr>
          <p:cNvSpPr txBox="1"/>
          <p:nvPr/>
        </p:nvSpPr>
        <p:spPr>
          <a:xfrm>
            <a:off x="1042750" y="6353008"/>
            <a:ext cx="7426740" cy="338554"/>
          </a:xfrm>
          <a:prstGeom prst="rect">
            <a:avLst/>
          </a:prstGeom>
          <a:noFill/>
        </p:spPr>
        <p:txBody>
          <a:bodyPr wrap="square">
            <a:spAutoFit/>
          </a:bodyPr>
          <a:lstStyle/>
          <a:p>
            <a:pPr algn="ctr"/>
            <a:r>
              <a:rPr lang="zh-CN" altLang="en-US" sz="1600" b="1" dirty="0">
                <a:solidFill>
                  <a:schemeClr val="tx1"/>
                </a:solidFill>
                <a:latin typeface="Microsoft YaHei"/>
              </a:rPr>
              <a:t>实验目的：不是只看端到端吞吐，而是定位“距离计算已下沉后”的剩余瓶颈。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6A6BC181-ECE6-4D23-B772-EB6AD6D857F8}"/>
              </a:ext>
            </a:extLst>
          </p:cNvPr>
          <p:cNvSpPr/>
          <p:nvPr/>
        </p:nvSpPr>
        <p:spPr bwMode="auto">
          <a:xfrm>
            <a:off x="6343133" y="1956816"/>
            <a:ext cx="5153202" cy="4075521"/>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38" name="矩形 37">
            <a:extLst>
              <a:ext uri="{FF2B5EF4-FFF2-40B4-BE49-F238E27FC236}">
                <a16:creationId xmlns:a16="http://schemas.microsoft.com/office/drawing/2014/main" id="{9E9E942C-AC85-47AE-8992-C22E43547B46}"/>
              </a:ext>
            </a:extLst>
          </p:cNvPr>
          <p:cNvSpPr/>
          <p:nvPr/>
        </p:nvSpPr>
        <p:spPr bwMode="auto">
          <a:xfrm>
            <a:off x="695666" y="1956816"/>
            <a:ext cx="5545397" cy="4075521"/>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Microsoft YaHei"/>
              </a:defRPr>
            </a:pPr>
            <a:r>
              <a:t>03</a:t>
            </a:r>
          </a:p>
        </p:txBody>
      </p:sp>
      <p:sp>
        <p:nvSpPr>
          <p:cNvPr id="3" name="TextBox 2"/>
          <p:cNvSpPr txBox="1"/>
          <p:nvPr/>
        </p:nvSpPr>
        <p:spPr>
          <a:xfrm>
            <a:off x="1508760" y="1024128"/>
            <a:ext cx="9692640" cy="502920"/>
          </a:xfrm>
          <a:prstGeom prst="rect">
            <a:avLst/>
          </a:prstGeom>
          <a:noFill/>
        </p:spPr>
        <p:txBody>
          <a:bodyPr wrap="square">
            <a:spAutoFit/>
          </a:bodyPr>
          <a:lstStyle/>
          <a:p>
            <a:pPr>
              <a:defRPr sz="2600" b="0">
                <a:solidFill>
                  <a:srgbClr val="414141"/>
                </a:solidFill>
                <a:latin typeface="Microsoft YaHei"/>
              </a:defRPr>
            </a:pPr>
            <a:r>
              <a:rPr dirty="0" err="1"/>
              <a:t>实验结果</a:t>
            </a:r>
            <a:r>
              <a:rPr dirty="0"/>
              <a:t> – </a:t>
            </a:r>
            <a:r>
              <a:rPr dirty="0" err="1"/>
              <a:t>往返排队与全局</a:t>
            </a:r>
            <a:r>
              <a:rPr dirty="0"/>
              <a:t> meta </a:t>
            </a:r>
            <a:r>
              <a:rPr dirty="0" err="1"/>
              <a:t>成为主要瓶颈</a:t>
            </a:r>
            <a:endParaRPr dirty="0"/>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48840"/>
            <a:ext cx="5029200" cy="320040"/>
          </a:xfrm>
          <a:prstGeom prst="rect">
            <a:avLst/>
          </a:prstGeom>
          <a:noFill/>
        </p:spPr>
        <p:txBody>
          <a:bodyPr wrap="square">
            <a:spAutoFit/>
          </a:bodyPr>
          <a:lstStyle/>
          <a:p>
            <a:pPr algn="ctr">
              <a:defRPr sz="1650" b="1">
                <a:solidFill>
                  <a:srgbClr val="0C2A55"/>
                </a:solidFill>
                <a:latin typeface="Microsoft YaHei"/>
              </a:defRPr>
            </a:pPr>
            <a:r>
              <a:t>update 总时间占比范围</a:t>
            </a:r>
          </a:p>
        </p:txBody>
      </p:sp>
      <p:sp>
        <p:nvSpPr>
          <p:cNvPr id="7" name="TextBox 6"/>
          <p:cNvSpPr txBox="1"/>
          <p:nvPr/>
        </p:nvSpPr>
        <p:spPr>
          <a:xfrm>
            <a:off x="914400" y="2852928"/>
            <a:ext cx="1828800" cy="256032"/>
          </a:xfrm>
          <a:prstGeom prst="rect">
            <a:avLst/>
          </a:prstGeom>
          <a:noFill/>
        </p:spPr>
        <p:txBody>
          <a:bodyPr wrap="square">
            <a:spAutoFit/>
          </a:bodyPr>
          <a:lstStyle/>
          <a:p>
            <a:pPr>
              <a:defRPr sz="1200" b="1">
                <a:solidFill>
                  <a:srgbClr val="222222"/>
                </a:solidFill>
                <a:latin typeface="Microsoft YaHei"/>
              </a:defRPr>
            </a:pPr>
            <a:r>
              <a:t>remote distance</a:t>
            </a:r>
          </a:p>
        </p:txBody>
      </p:sp>
      <p:sp>
        <p:nvSpPr>
          <p:cNvPr id="8" name="Rectangle 7"/>
          <p:cNvSpPr/>
          <p:nvPr/>
        </p:nvSpPr>
        <p:spPr>
          <a:xfrm>
            <a:off x="2743200" y="2880360"/>
            <a:ext cx="2148840" cy="274320"/>
          </a:xfrm>
          <a:prstGeom prst="rect">
            <a:avLst/>
          </a:prstGeom>
          <a:solidFill>
            <a:srgbClr val="EBEBEB"/>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0" y="2880360"/>
            <a:ext cx="1123413" cy="27432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15629" y="2880360"/>
            <a:ext cx="250984" cy="274320"/>
          </a:xfrm>
          <a:prstGeom prst="rect">
            <a:avLst/>
          </a:prstGeom>
          <a:solidFill>
            <a:srgbClr val="0070C0"/>
          </a:solidFill>
          <a:ln w="508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99208" y="2880360"/>
            <a:ext cx="1271632" cy="269304"/>
          </a:xfrm>
          <a:prstGeom prst="rect">
            <a:avLst/>
          </a:prstGeom>
          <a:noFill/>
        </p:spPr>
        <p:txBody>
          <a:bodyPr wrap="square">
            <a:spAutoFit/>
          </a:bodyPr>
          <a:lstStyle/>
          <a:p>
            <a:pPr algn="r">
              <a:defRPr sz="1150" b="0">
                <a:solidFill>
                  <a:srgbClr val="222222"/>
                </a:solidFill>
                <a:latin typeface="Microsoft YaHei"/>
              </a:defRPr>
            </a:pPr>
            <a:r>
              <a:t>40.60–52.28%</a:t>
            </a:r>
          </a:p>
        </p:txBody>
      </p:sp>
      <p:sp>
        <p:nvSpPr>
          <p:cNvPr id="12" name="TextBox 11"/>
          <p:cNvSpPr txBox="1"/>
          <p:nvPr/>
        </p:nvSpPr>
        <p:spPr>
          <a:xfrm>
            <a:off x="914400" y="3584448"/>
            <a:ext cx="1828800" cy="256032"/>
          </a:xfrm>
          <a:prstGeom prst="rect">
            <a:avLst/>
          </a:prstGeom>
          <a:noFill/>
        </p:spPr>
        <p:txBody>
          <a:bodyPr wrap="square">
            <a:spAutoFit/>
          </a:bodyPr>
          <a:lstStyle/>
          <a:p>
            <a:pPr>
              <a:defRPr sz="1200" b="1">
                <a:solidFill>
                  <a:srgbClr val="222222"/>
                </a:solidFill>
                <a:latin typeface="Microsoft YaHei"/>
              </a:defRPr>
            </a:pPr>
            <a:r>
              <a:t>global meta</a:t>
            </a:r>
          </a:p>
        </p:txBody>
      </p:sp>
      <p:sp>
        <p:nvSpPr>
          <p:cNvPr id="13" name="Rectangle 12"/>
          <p:cNvSpPr/>
          <p:nvPr/>
        </p:nvSpPr>
        <p:spPr>
          <a:xfrm>
            <a:off x="2743200" y="3611880"/>
            <a:ext cx="2148840" cy="274320"/>
          </a:xfrm>
          <a:prstGeom prst="rect">
            <a:avLst/>
          </a:prstGeom>
          <a:solidFill>
            <a:srgbClr val="EBEBEB"/>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0" y="3611880"/>
            <a:ext cx="1085593" cy="274320"/>
          </a:xfrm>
          <a:prstGeom prst="rect">
            <a:avLst/>
          </a:prstGeom>
          <a:solidFill>
            <a:srgbClr val="EB9123"/>
          </a:solidFill>
          <a:ln>
            <a:solidFill>
              <a:srgbClr val="EB91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22312" y="3611880"/>
            <a:ext cx="506481" cy="274320"/>
          </a:xfrm>
          <a:prstGeom prst="rect">
            <a:avLst/>
          </a:prstGeom>
          <a:solidFill>
            <a:srgbClr val="EB9123"/>
          </a:solidFill>
          <a:ln w="508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56506" y="3637248"/>
            <a:ext cx="1291060" cy="269304"/>
          </a:xfrm>
          <a:prstGeom prst="rect">
            <a:avLst/>
          </a:prstGeom>
          <a:noFill/>
        </p:spPr>
        <p:txBody>
          <a:bodyPr wrap="square">
            <a:spAutoFit/>
          </a:bodyPr>
          <a:lstStyle/>
          <a:p>
            <a:pPr algn="r">
              <a:defRPr sz="1150" b="0">
                <a:solidFill>
                  <a:srgbClr val="222222"/>
                </a:solidFill>
                <a:latin typeface="Microsoft YaHei"/>
              </a:defRPr>
            </a:pPr>
            <a:r>
              <a:t>26.95–50.52%</a:t>
            </a:r>
          </a:p>
        </p:txBody>
      </p:sp>
      <p:sp>
        <p:nvSpPr>
          <p:cNvPr id="17" name="TextBox 16"/>
          <p:cNvSpPr txBox="1"/>
          <p:nvPr/>
        </p:nvSpPr>
        <p:spPr>
          <a:xfrm>
            <a:off x="914400" y="4315968"/>
            <a:ext cx="1828800" cy="256032"/>
          </a:xfrm>
          <a:prstGeom prst="rect">
            <a:avLst/>
          </a:prstGeom>
          <a:noFill/>
        </p:spPr>
        <p:txBody>
          <a:bodyPr wrap="square">
            <a:spAutoFit/>
          </a:bodyPr>
          <a:lstStyle/>
          <a:p>
            <a:pPr>
              <a:defRPr sz="1200" b="1">
                <a:solidFill>
                  <a:srgbClr val="222222"/>
                </a:solidFill>
                <a:latin typeface="Microsoft YaHei"/>
              </a:defRPr>
            </a:pPr>
            <a:r>
              <a:t>adjacency patch</a:t>
            </a:r>
          </a:p>
        </p:txBody>
      </p:sp>
      <p:sp>
        <p:nvSpPr>
          <p:cNvPr id="18" name="Rectangle 17"/>
          <p:cNvSpPr/>
          <p:nvPr/>
        </p:nvSpPr>
        <p:spPr>
          <a:xfrm>
            <a:off x="2743200" y="4343400"/>
            <a:ext cx="2148840" cy="274320"/>
          </a:xfrm>
          <a:prstGeom prst="rect">
            <a:avLst/>
          </a:prstGeom>
          <a:solidFill>
            <a:srgbClr val="EBEBEB"/>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0" y="4343400"/>
            <a:ext cx="339516" cy="274320"/>
          </a:xfrm>
          <a:prstGeom prst="rect">
            <a:avLst/>
          </a:prstGeom>
          <a:solidFill>
            <a:srgbClr val="3E8F54"/>
          </a:solidFill>
          <a:ln>
            <a:solidFill>
              <a:srgbClr val="3E8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845269" y="4343400"/>
            <a:ext cx="237446" cy="274320"/>
          </a:xfrm>
          <a:prstGeom prst="rect">
            <a:avLst/>
          </a:prstGeom>
          <a:solidFill>
            <a:srgbClr val="3E8F54"/>
          </a:solidFill>
          <a:ln w="508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24368" y="4343400"/>
            <a:ext cx="1271632" cy="269304"/>
          </a:xfrm>
          <a:prstGeom prst="rect">
            <a:avLst/>
          </a:prstGeom>
          <a:noFill/>
        </p:spPr>
        <p:txBody>
          <a:bodyPr wrap="square">
            <a:spAutoFit/>
          </a:bodyPr>
          <a:lstStyle/>
          <a:p>
            <a:pPr algn="r">
              <a:defRPr sz="1150" b="0">
                <a:solidFill>
                  <a:srgbClr val="222222"/>
                </a:solidFill>
                <a:latin typeface="Microsoft YaHei"/>
              </a:defRPr>
            </a:pPr>
            <a:r>
              <a:t>4.75–15.80%</a:t>
            </a:r>
          </a:p>
        </p:txBody>
      </p:sp>
      <p:sp>
        <p:nvSpPr>
          <p:cNvPr id="22" name="TextBox 21"/>
          <p:cNvSpPr txBox="1"/>
          <p:nvPr/>
        </p:nvSpPr>
        <p:spPr>
          <a:xfrm>
            <a:off x="960120" y="5074920"/>
            <a:ext cx="4892040" cy="773289"/>
          </a:xfrm>
          <a:prstGeom prst="rect">
            <a:avLst/>
          </a:prstGeom>
          <a:noFill/>
        </p:spPr>
        <p:txBody>
          <a:bodyPr wrap="square">
            <a:spAutoFit/>
          </a:bodyPr>
          <a:lstStyle/>
          <a:p>
            <a:pPr algn="ctr">
              <a:lnSpc>
                <a:spcPct val="150000"/>
              </a:lnSpc>
              <a:defRPr sz="1320" b="0">
                <a:solidFill>
                  <a:srgbClr val="222222"/>
                </a:solidFill>
                <a:latin typeface="Microsoft YaHei"/>
              </a:defRPr>
            </a:pPr>
            <a:r>
              <a:rPr sz="1600" b="1">
                <a:latin typeface="黑体" panose="02010609060101010101" pitchFamily="49" charset="-122"/>
              </a:rPr>
              <a:t>三类开销共同说明：距离计算</a:t>
            </a:r>
            <a:r>
              <a:rPr lang="zh-CN" altLang="en-US" sz="1600" b="1">
                <a:latin typeface="黑体" panose="02010609060101010101" pitchFamily="49" charset="-122"/>
              </a:rPr>
              <a:t>卸载到存储侧</a:t>
            </a:r>
            <a:r>
              <a:rPr sz="1600" b="1">
                <a:latin typeface="黑体" panose="02010609060101010101" pitchFamily="49" charset="-122"/>
              </a:rPr>
              <a:t>后</a:t>
            </a:r>
            <a:r>
              <a:rPr lang="zh-CN" altLang="en-US" sz="1600" b="1">
                <a:latin typeface="黑体" panose="02010609060101010101" pitchFamily="49" charset="-122"/>
              </a:rPr>
              <a:t>，</a:t>
            </a:r>
            <a:endParaRPr lang="en-US" sz="1600" b="1">
              <a:latin typeface="黑体" panose="02010609060101010101" pitchFamily="49" charset="-122"/>
            </a:endParaRPr>
          </a:p>
          <a:p>
            <a:pPr algn="ctr">
              <a:lnSpc>
                <a:spcPct val="150000"/>
              </a:lnSpc>
              <a:defRPr sz="1320" b="0">
                <a:solidFill>
                  <a:srgbClr val="222222"/>
                </a:solidFill>
                <a:latin typeface="Microsoft YaHei"/>
              </a:defRPr>
            </a:pPr>
            <a:r>
              <a:rPr sz="1600" b="1">
                <a:latin typeface="黑体" panose="02010609060101010101" pitchFamily="49" charset="-122"/>
              </a:rPr>
              <a:t>瓶颈</a:t>
            </a:r>
            <a:r>
              <a:rPr lang="zh-CN" altLang="en-US" sz="1600" b="1">
                <a:latin typeface="黑体" panose="02010609060101010101" pitchFamily="49" charset="-122"/>
              </a:rPr>
              <a:t>为：</a:t>
            </a:r>
            <a:r>
              <a:rPr sz="1600" b="1">
                <a:solidFill>
                  <a:schemeClr val="tx1"/>
                </a:solidFill>
                <a:latin typeface="黑体" panose="02010609060101010101" pitchFamily="49" charset="-122"/>
              </a:rPr>
              <a:t>远端</a:t>
            </a:r>
            <a:r>
              <a:rPr lang="zh-CN" altLang="en-US" sz="1600" b="1">
                <a:solidFill>
                  <a:schemeClr val="tx1"/>
                </a:solidFill>
                <a:latin typeface="黑体" panose="02010609060101010101" pitchFamily="49" charset="-122"/>
              </a:rPr>
              <a:t>距离计算</a:t>
            </a:r>
            <a:r>
              <a:rPr sz="1600" b="1">
                <a:latin typeface="黑体" panose="02010609060101010101" pitchFamily="49" charset="-122"/>
              </a:rPr>
              <a:t>、</a:t>
            </a:r>
            <a:r>
              <a:rPr sz="1600" b="1">
                <a:solidFill>
                  <a:schemeClr val="tx1"/>
                </a:solidFill>
                <a:latin typeface="黑体" panose="02010609060101010101" pitchFamily="49" charset="-122"/>
              </a:rPr>
              <a:t>全局状态</a:t>
            </a:r>
            <a:r>
              <a:rPr sz="1600" b="1">
                <a:latin typeface="黑体" panose="02010609060101010101" pitchFamily="49" charset="-122"/>
              </a:rPr>
              <a:t>与</a:t>
            </a:r>
            <a:r>
              <a:rPr sz="1600" b="1">
                <a:solidFill>
                  <a:schemeClr val="tx1"/>
                </a:solidFill>
                <a:latin typeface="黑体" panose="02010609060101010101" pitchFamily="49" charset="-122"/>
              </a:rPr>
              <a:t>邻接更新</a:t>
            </a:r>
            <a:r>
              <a:rPr sz="1600" b="1">
                <a:latin typeface="黑体" panose="02010609060101010101" pitchFamily="49" charset="-122"/>
              </a:rPr>
              <a:t>。</a:t>
            </a:r>
          </a:p>
        </p:txBody>
      </p:sp>
      <p:sp>
        <p:nvSpPr>
          <p:cNvPr id="24" name="TextBox 23"/>
          <p:cNvSpPr txBox="1"/>
          <p:nvPr/>
        </p:nvSpPr>
        <p:spPr>
          <a:xfrm>
            <a:off x="6629400" y="2148840"/>
            <a:ext cx="4572000" cy="320040"/>
          </a:xfrm>
          <a:prstGeom prst="rect">
            <a:avLst/>
          </a:prstGeom>
          <a:noFill/>
        </p:spPr>
        <p:txBody>
          <a:bodyPr wrap="square">
            <a:spAutoFit/>
          </a:bodyPr>
          <a:lstStyle/>
          <a:p>
            <a:pPr algn="ctr">
              <a:defRPr sz="1650" b="1">
                <a:solidFill>
                  <a:srgbClr val="0C2A55"/>
                </a:solidFill>
                <a:latin typeface="Microsoft YaHei"/>
              </a:defRPr>
            </a:pPr>
            <a:r>
              <a:t>远端距离内部拆分</a:t>
            </a:r>
          </a:p>
        </p:txBody>
      </p:sp>
      <p:sp>
        <p:nvSpPr>
          <p:cNvPr id="25" name="TextBox 24"/>
          <p:cNvSpPr txBox="1"/>
          <p:nvPr/>
        </p:nvSpPr>
        <p:spPr>
          <a:xfrm>
            <a:off x="6720840" y="2944368"/>
            <a:ext cx="1828800" cy="256032"/>
          </a:xfrm>
          <a:prstGeom prst="rect">
            <a:avLst/>
          </a:prstGeom>
          <a:noFill/>
        </p:spPr>
        <p:txBody>
          <a:bodyPr wrap="square">
            <a:spAutoFit/>
          </a:bodyPr>
          <a:lstStyle/>
          <a:p>
            <a:pPr>
              <a:defRPr sz="1200" b="1">
                <a:solidFill>
                  <a:srgbClr val="222222"/>
                </a:solidFill>
                <a:latin typeface="Microsoft YaHei"/>
              </a:defRPr>
            </a:pPr>
            <a:r>
              <a:t>roundtrip/queue</a:t>
            </a:r>
          </a:p>
        </p:txBody>
      </p:sp>
      <p:sp>
        <p:nvSpPr>
          <p:cNvPr id="26" name="Rectangle 25"/>
          <p:cNvSpPr/>
          <p:nvPr/>
        </p:nvSpPr>
        <p:spPr>
          <a:xfrm>
            <a:off x="8549640" y="2971800"/>
            <a:ext cx="1417320" cy="292608"/>
          </a:xfrm>
          <a:prstGeom prst="rect">
            <a:avLst/>
          </a:prstGeom>
          <a:solidFill>
            <a:srgbClr val="EBEBEB"/>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549640" y="2971800"/>
            <a:ext cx="1167021" cy="292608"/>
          </a:xfrm>
          <a:prstGeom prst="rect">
            <a:avLst/>
          </a:prstGeom>
          <a:solidFill>
            <a:srgbClr val="C1392B"/>
          </a:solidFill>
          <a:ln>
            <a:solidFill>
              <a:srgbClr val="C1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341638" y="2971800"/>
            <a:ext cx="375022" cy="292608"/>
          </a:xfrm>
          <a:prstGeom prst="rect">
            <a:avLst/>
          </a:prstGeom>
          <a:solidFill>
            <a:srgbClr val="C1392B"/>
          </a:solidFill>
          <a:ln w="508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80637" y="3018012"/>
            <a:ext cx="1487061" cy="269304"/>
          </a:xfrm>
          <a:prstGeom prst="rect">
            <a:avLst/>
          </a:prstGeom>
          <a:noFill/>
        </p:spPr>
        <p:txBody>
          <a:bodyPr wrap="square">
            <a:spAutoFit/>
          </a:bodyPr>
          <a:lstStyle/>
          <a:p>
            <a:pPr algn="r">
              <a:defRPr sz="1150" b="0">
                <a:solidFill>
                  <a:srgbClr val="222222"/>
                </a:solidFill>
                <a:latin typeface="Microsoft YaHei"/>
              </a:defRPr>
            </a:pPr>
            <a:r>
              <a:t>55.88–82.34%</a:t>
            </a:r>
          </a:p>
        </p:txBody>
      </p:sp>
      <p:sp>
        <p:nvSpPr>
          <p:cNvPr id="30" name="TextBox 29"/>
          <p:cNvSpPr txBox="1"/>
          <p:nvPr/>
        </p:nvSpPr>
        <p:spPr>
          <a:xfrm>
            <a:off x="6720840" y="3456432"/>
            <a:ext cx="1828800" cy="256032"/>
          </a:xfrm>
          <a:prstGeom prst="rect">
            <a:avLst/>
          </a:prstGeom>
          <a:noFill/>
        </p:spPr>
        <p:txBody>
          <a:bodyPr wrap="square">
            <a:spAutoFit/>
          </a:bodyPr>
          <a:lstStyle/>
          <a:p>
            <a:pPr>
              <a:defRPr sz="1200" b="1">
                <a:solidFill>
                  <a:srgbClr val="222222"/>
                </a:solidFill>
                <a:latin typeface="Microsoft YaHei"/>
              </a:defRPr>
            </a:pPr>
            <a:r>
              <a:t>纯距离计算</a:t>
            </a:r>
          </a:p>
        </p:txBody>
      </p:sp>
      <p:sp>
        <p:nvSpPr>
          <p:cNvPr id="31" name="Rectangle 30"/>
          <p:cNvSpPr/>
          <p:nvPr/>
        </p:nvSpPr>
        <p:spPr>
          <a:xfrm>
            <a:off x="8546347" y="3426959"/>
            <a:ext cx="1417320" cy="292608"/>
          </a:xfrm>
          <a:prstGeom prst="rect">
            <a:avLst/>
          </a:prstGeom>
          <a:solidFill>
            <a:srgbClr val="EBEBEB"/>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565451" y="3419856"/>
            <a:ext cx="18288" cy="292608"/>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567928" y="3438144"/>
            <a:ext cx="16459" cy="292608"/>
          </a:xfrm>
          <a:prstGeom prst="rect">
            <a:avLst/>
          </a:prstGeom>
          <a:solidFill>
            <a:srgbClr val="0070C0"/>
          </a:solidFill>
          <a:ln w="5080">
            <a:solidFill>
              <a:srgbClr val="50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12100" y="3431508"/>
            <a:ext cx="1645920" cy="269304"/>
          </a:xfrm>
          <a:prstGeom prst="rect">
            <a:avLst/>
          </a:prstGeom>
          <a:noFill/>
        </p:spPr>
        <p:txBody>
          <a:bodyPr wrap="square">
            <a:spAutoFit/>
          </a:bodyPr>
          <a:lstStyle/>
          <a:p>
            <a:pPr algn="r">
              <a:defRPr sz="1150" b="0">
                <a:solidFill>
                  <a:srgbClr val="222222"/>
                </a:solidFill>
                <a:latin typeface="Microsoft YaHei"/>
              </a:defRPr>
            </a:pPr>
            <a:r>
              <a:t>0.08–0.40%</a:t>
            </a:r>
          </a:p>
        </p:txBody>
      </p:sp>
      <p:graphicFrame>
        <p:nvGraphicFramePr>
          <p:cNvPr id="36" name="表格 35">
            <a:extLst>
              <a:ext uri="{FF2B5EF4-FFF2-40B4-BE49-F238E27FC236}">
                <a16:creationId xmlns:a16="http://schemas.microsoft.com/office/drawing/2014/main" id="{FF12A65A-9A77-5D96-43ED-DCC28D3554BC}"/>
              </a:ext>
            </a:extLst>
          </p:cNvPr>
          <p:cNvGraphicFramePr>
            <a:graphicFrameLocks noGrp="1"/>
          </p:cNvGraphicFramePr>
          <p:nvPr>
            <p:extLst>
              <p:ext uri="{D42A27DB-BD31-4B8C-83A1-F6EECF244321}">
                <p14:modId xmlns:p14="http://schemas.microsoft.com/office/powerpoint/2010/main" val="713886053"/>
              </p:ext>
            </p:extLst>
          </p:nvPr>
        </p:nvGraphicFramePr>
        <p:xfrm>
          <a:off x="6561952" y="3927000"/>
          <a:ext cx="4715648" cy="1871954"/>
        </p:xfrm>
        <a:graphic>
          <a:graphicData uri="http://schemas.openxmlformats.org/drawingml/2006/table">
            <a:tbl>
              <a:tblPr/>
              <a:tblGrid>
                <a:gridCol w="854017">
                  <a:extLst>
                    <a:ext uri="{9D8B030D-6E8A-4147-A177-3AD203B41FA5}">
                      <a16:colId xmlns:a16="http://schemas.microsoft.com/office/drawing/2014/main" val="3932272462"/>
                    </a:ext>
                  </a:extLst>
                </a:gridCol>
                <a:gridCol w="901566">
                  <a:extLst>
                    <a:ext uri="{9D8B030D-6E8A-4147-A177-3AD203B41FA5}">
                      <a16:colId xmlns:a16="http://schemas.microsoft.com/office/drawing/2014/main" val="701020563"/>
                    </a:ext>
                  </a:extLst>
                </a:gridCol>
                <a:gridCol w="901520">
                  <a:extLst>
                    <a:ext uri="{9D8B030D-6E8A-4147-A177-3AD203B41FA5}">
                      <a16:colId xmlns:a16="http://schemas.microsoft.com/office/drawing/2014/main" val="1477655574"/>
                    </a:ext>
                  </a:extLst>
                </a:gridCol>
                <a:gridCol w="1040217">
                  <a:extLst>
                    <a:ext uri="{9D8B030D-6E8A-4147-A177-3AD203B41FA5}">
                      <a16:colId xmlns:a16="http://schemas.microsoft.com/office/drawing/2014/main" val="664292420"/>
                    </a:ext>
                  </a:extLst>
                </a:gridCol>
                <a:gridCol w="1018328">
                  <a:extLst>
                    <a:ext uri="{9D8B030D-6E8A-4147-A177-3AD203B41FA5}">
                      <a16:colId xmlns:a16="http://schemas.microsoft.com/office/drawing/2014/main" val="3338807176"/>
                    </a:ext>
                  </a:extLst>
                </a:gridCol>
              </a:tblGrid>
              <a:tr h="439128">
                <a:tc>
                  <a:txBody>
                    <a:bodyPr/>
                    <a:lstStyle/>
                    <a:p>
                      <a:pPr algn="ctr">
                        <a:buNone/>
                      </a:pPr>
                      <a:r>
                        <a:rPr lang="zh-CN" altLang="en-US" sz="1100">
                          <a:effectLst/>
                        </a:rPr>
                        <a:t>数据集</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a:effectLst/>
                        </a:rPr>
                        <a:t>Noop RTT ms/update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a:effectLst/>
                        </a:rPr>
                        <a:t>Noop CLS ms/update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100">
                          <a:effectLst/>
                        </a:rPr>
                        <a:t>网络往返估计 </a:t>
                      </a:r>
                      <a:r>
                        <a:rPr lang="en-US" sz="1100">
                          <a:effectLst/>
                        </a:rPr>
                        <a:t>ms/update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a:effectLst/>
                        </a:rPr>
                        <a:t>OSD </a:t>
                      </a:r>
                      <a:r>
                        <a:rPr lang="zh-CN" altLang="en-US" sz="1100">
                          <a:effectLst/>
                        </a:rPr>
                        <a:t>排队估计 </a:t>
                      </a:r>
                      <a:r>
                        <a:rPr lang="en-US" sz="1100">
                          <a:effectLst/>
                        </a:rPr>
                        <a:t>ms/update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1652550"/>
                  </a:ext>
                </a:extLst>
              </a:tr>
              <a:tr h="254093">
                <a:tc>
                  <a:txBody>
                    <a:bodyPr/>
                    <a:lstStyle/>
                    <a:p>
                      <a:pPr algn="ctr">
                        <a:buNone/>
                      </a:pPr>
                      <a:r>
                        <a:rPr lang="en-US" sz="1100">
                          <a:effectLst/>
                        </a:rPr>
                        <a:t>GIST1M</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99.39</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0.0283</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47.99</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51.37</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534314"/>
                  </a:ext>
                </a:extLst>
              </a:tr>
              <a:tr h="416123">
                <a:tc>
                  <a:txBody>
                    <a:bodyPr/>
                    <a:lstStyle/>
                    <a:p>
                      <a:pPr algn="ctr">
                        <a:buNone/>
                      </a:pPr>
                      <a:r>
                        <a:rPr lang="en-US" sz="1100">
                          <a:effectLst/>
                        </a:rPr>
                        <a:t>Text-to-Image10M</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137.43</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0.0366</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86.66</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50.73</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840348"/>
                  </a:ext>
                </a:extLst>
              </a:tr>
              <a:tr h="340206">
                <a:tc>
                  <a:txBody>
                    <a:bodyPr/>
                    <a:lstStyle/>
                    <a:p>
                      <a:pPr algn="ctr">
                        <a:buNone/>
                      </a:pPr>
                      <a:r>
                        <a:rPr lang="en-US" sz="1100">
                          <a:effectLst/>
                        </a:rPr>
                        <a:t>Deep100M</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192.73</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0.0427</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122.57</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70.12</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720993"/>
                  </a:ext>
                </a:extLst>
              </a:tr>
              <a:tr h="399200">
                <a:tc>
                  <a:txBody>
                    <a:bodyPr/>
                    <a:lstStyle/>
                    <a:p>
                      <a:pPr algn="ctr">
                        <a:buNone/>
                      </a:pPr>
                      <a:r>
                        <a:rPr lang="en-US" sz="1100">
                          <a:effectLst/>
                        </a:rPr>
                        <a:t>SIFT100M</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215.43</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0.0415</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123.16</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effectLst/>
                        </a:rPr>
                        <a:t>92.23</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7778802"/>
                  </a:ext>
                </a:extLst>
              </a:tr>
            </a:tbl>
          </a:graphicData>
        </a:graphic>
      </p:graphicFrame>
      <p:sp>
        <p:nvSpPr>
          <p:cNvPr id="39" name="灯片编号占位符 1">
            <a:extLst>
              <a:ext uri="{FF2B5EF4-FFF2-40B4-BE49-F238E27FC236}">
                <a16:creationId xmlns:a16="http://schemas.microsoft.com/office/drawing/2014/main" id="{801404CB-C2D3-417C-8DF0-B234518825EB}"/>
              </a:ext>
            </a:extLst>
          </p:cNvPr>
          <p:cNvSpPr txBox="1">
            <a:spLocks/>
          </p:cNvSpPr>
          <p:nvPr/>
        </p:nvSpPr>
        <p:spPr bwMode="auto">
          <a:xfrm>
            <a:off x="9344744" y="6533728"/>
            <a:ext cx="27432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marL="0" lvl="0" indent="0" algn="r" defTabSz="914400" rtl="0" eaLnBrk="1" fontAlgn="base" latinLnBrk="0" hangingPunct="1">
              <a:lnSpc>
                <a:spcPct val="100000"/>
              </a:lnSpc>
              <a:spcBef>
                <a:spcPct val="0"/>
              </a:spcBef>
              <a:spcAft>
                <a:spcPct val="0"/>
              </a:spcAft>
              <a:buClrTx/>
              <a:buSzTx/>
              <a:buFontTx/>
              <a:buNone/>
              <a:defRPr kumimoji="0" sz="1400"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9pPr>
          </a:lstStyle>
          <a:p>
            <a:pPr>
              <a:defRPr/>
            </a:pPr>
            <a:fld id="{6A90D09A-ED5D-47CC-A45F-D492BA9A6C1B}" type="slidenum">
              <a:rPr lang="en-US" altLang="zh-CN" sz="1200" smtClean="0">
                <a:solidFill>
                  <a:schemeClr val="tx1">
                    <a:tint val="75000"/>
                  </a:schemeClr>
                </a:solidFill>
                <a:ea typeface="黑体" panose="02010609060101010101" pitchFamily="49" charset="-122"/>
              </a:rPr>
              <a:pPr>
                <a:defRPr/>
              </a:pPr>
              <a:t>12</a:t>
            </a:fld>
            <a:endParaRPr lang="en-US" altLang="zh-CN" sz="1200" dirty="0">
              <a:solidFill>
                <a:schemeClr val="tx1">
                  <a:tint val="75000"/>
                </a:schemeClr>
              </a:solidFill>
              <a:ea typeface="黑体" panose="02010609060101010101" pitchFamily="49" charset="-122"/>
            </a:endParaRPr>
          </a:p>
        </p:txBody>
      </p:sp>
      <p:sp>
        <p:nvSpPr>
          <p:cNvPr id="40" name="文本框 39">
            <a:extLst>
              <a:ext uri="{FF2B5EF4-FFF2-40B4-BE49-F238E27FC236}">
                <a16:creationId xmlns:a16="http://schemas.microsoft.com/office/drawing/2014/main" id="{7A3D928C-B15D-4B6E-B708-6D6AC3FF6613}"/>
              </a:ext>
            </a:extLst>
          </p:cNvPr>
          <p:cNvSpPr txBox="1"/>
          <p:nvPr/>
        </p:nvSpPr>
        <p:spPr>
          <a:xfrm>
            <a:off x="335360" y="6258134"/>
            <a:ext cx="10784752" cy="414922"/>
          </a:xfrm>
          <a:prstGeom prst="rect">
            <a:avLst/>
          </a:prstGeom>
          <a:noFill/>
        </p:spPr>
        <p:txBody>
          <a:bodyPr wrap="square">
            <a:spAutoFit/>
          </a:bodyPr>
          <a:lstStyle/>
          <a:p>
            <a:pPr algn="ctr">
              <a:lnSpc>
                <a:spcPct val="150000"/>
              </a:lnSpc>
              <a:defRPr sz="1400" b="0">
                <a:solidFill>
                  <a:srgbClr val="222222"/>
                </a:solidFill>
                <a:latin typeface="Microsoft YaHei"/>
              </a:defRPr>
            </a:pPr>
            <a:r>
              <a:rPr lang="zh-CN" altLang="en-US" sz="1600" b="1" dirty="0">
                <a:latin typeface="Times New Roman" panose="02020603050405020304" pitchFamily="18" charset="0"/>
                <a:ea typeface="黑体" panose="02010609060101010101" pitchFamily="49" charset="-122"/>
                <a:cs typeface="Times New Roman" panose="02020603050405020304" pitchFamily="18" charset="0"/>
              </a:rPr>
              <a:t>结论：全图 </a:t>
            </a:r>
            <a:r>
              <a:rPr lang="en-US" altLang="zh-CN" sz="1600" b="1" dirty="0">
                <a:latin typeface="Times New Roman" panose="02020603050405020304" pitchFamily="18" charset="0"/>
                <a:ea typeface="黑体" panose="02010609060101010101" pitchFamily="49" charset="-122"/>
                <a:cs typeface="Times New Roman" panose="02020603050405020304" pitchFamily="18" charset="0"/>
              </a:rPr>
              <a:t>HNSW </a:t>
            </a:r>
            <a:r>
              <a:rPr lang="zh-CN" altLang="en-US" sz="1600" b="1" dirty="0">
                <a:latin typeface="Times New Roman" panose="02020603050405020304" pitchFamily="18" charset="0"/>
                <a:ea typeface="黑体" panose="02010609060101010101" pitchFamily="49" charset="-122"/>
                <a:cs typeface="Times New Roman" panose="02020603050405020304" pitchFamily="18" charset="0"/>
              </a:rPr>
              <a:t>算子卸载</a:t>
            </a:r>
            <a:r>
              <a:rPr lang="en-US" altLang="zh-CN" sz="1600" b="1" dirty="0">
                <a:latin typeface="Times New Roman" panose="02020603050405020304" pitchFamily="18" charset="0"/>
                <a:ea typeface="黑体" panose="02010609060101010101" pitchFamily="49" charset="-122"/>
                <a:cs typeface="Times New Roman" panose="02020603050405020304" pitchFamily="18" charset="0"/>
              </a:rPr>
              <a:t>baseline </a:t>
            </a:r>
            <a:r>
              <a:rPr lang="zh-CN" altLang="en-US" sz="1600" b="1" dirty="0">
                <a:latin typeface="Times New Roman" panose="02020603050405020304" pitchFamily="18" charset="0"/>
                <a:ea typeface="黑体" panose="02010609060101010101" pitchFamily="49" charset="-122"/>
                <a:cs typeface="Times New Roman" panose="02020603050405020304" pitchFamily="18" charset="0"/>
              </a:rPr>
              <a:t>的主要瓶颈在于</a:t>
            </a:r>
            <a:r>
              <a:rPr lang="zh-CN" altLang="en-US" sz="16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数据移动的网络往返</a:t>
            </a:r>
            <a:r>
              <a:rPr lang="zh-CN" altLang="en-US" sz="16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OSD</a:t>
            </a:r>
            <a:r>
              <a:rPr lang="zh-CN" altLang="en-US" sz="16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排队</a:t>
            </a:r>
            <a:r>
              <a:rPr lang="zh-CN" altLang="en-US" sz="1600" b="1" dirty="0">
                <a:latin typeface="Times New Roman" panose="02020603050405020304" pitchFamily="18" charset="0"/>
                <a:ea typeface="黑体" panose="02010609060101010101" pitchFamily="49" charset="-122"/>
                <a:cs typeface="Times New Roman" panose="02020603050405020304" pitchFamily="18" charset="0"/>
              </a:rPr>
              <a:t>以及</a:t>
            </a:r>
            <a:r>
              <a:rPr lang="zh-CN" altLang="en-US" sz="16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全局</a:t>
            </a:r>
            <a:r>
              <a:rPr lang="en-US" altLang="zh-CN" sz="16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meta</a:t>
            </a:r>
            <a:r>
              <a:rPr lang="zh-CN" altLang="en-US" sz="16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信息维护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5FA72-FBB7-1E1F-4AA5-7B23782110F0}"/>
            </a:ext>
          </a:extLst>
        </p:cNvPr>
        <p:cNvGrpSpPr/>
        <p:nvPr/>
      </p:nvGrpSpPr>
      <p:grpSpPr>
        <a:xfrm>
          <a:off x="0" y="0"/>
          <a:ext cx="0" cy="0"/>
          <a:chOff x="0" y="0"/>
          <a:chExt cx="0" cy="0"/>
        </a:xfrm>
      </p:grpSpPr>
      <p:sp>
        <p:nvSpPr>
          <p:cNvPr id="14" name="文本框 13">
            <a:extLst>
              <a:ext uri="{FF2B5EF4-FFF2-40B4-BE49-F238E27FC236}">
                <a16:creationId xmlns:a16="http://schemas.microsoft.com/office/drawing/2014/main" id="{6715CF99-3238-F4DC-F1A5-A09989E1E179}"/>
              </a:ext>
            </a:extLst>
          </p:cNvPr>
          <p:cNvSpPr txBox="1"/>
          <p:nvPr/>
        </p:nvSpPr>
        <p:spPr>
          <a:xfrm>
            <a:off x="551384" y="1052736"/>
            <a:ext cx="8774632" cy="523220"/>
          </a:xfrm>
          <a:prstGeom prst="rect">
            <a:avLst/>
          </a:prstGeom>
          <a:noFill/>
        </p:spPr>
        <p:txBody>
          <a:bodyPr wrap="square">
            <a:spAutoFit/>
          </a:bodyPr>
          <a:lstStyle/>
          <a:p>
            <a:r>
              <a:rPr lang="zh-CN" altLang="en-US" sz="2800">
                <a:solidFill>
                  <a:schemeClr val="tx1">
                    <a:lumMod val="75000"/>
                    <a:lumOff val="25000"/>
                  </a:schemeClr>
                </a:solidFill>
              </a:rPr>
              <a:t>提纲</a:t>
            </a:r>
          </a:p>
        </p:txBody>
      </p:sp>
      <p:sp>
        <p:nvSpPr>
          <p:cNvPr id="10" name="文本框 9">
            <a:extLst>
              <a:ext uri="{FF2B5EF4-FFF2-40B4-BE49-F238E27FC236}">
                <a16:creationId xmlns:a16="http://schemas.microsoft.com/office/drawing/2014/main" id="{04AC940D-5611-CFEC-0B0D-C9B707083F13}"/>
              </a:ext>
            </a:extLst>
          </p:cNvPr>
          <p:cNvSpPr txBox="1"/>
          <p:nvPr/>
        </p:nvSpPr>
        <p:spPr>
          <a:xfrm>
            <a:off x="916596" y="2204864"/>
            <a:ext cx="7915708" cy="1884618"/>
          </a:xfrm>
          <a:prstGeom prst="rect">
            <a:avLst/>
          </a:prstGeom>
          <a:noFill/>
        </p:spPr>
        <p:txBody>
          <a:bodyPr wrap="square" rtlCol="0">
            <a:spAutoFit/>
          </a:bodyPr>
          <a:lstStyle/>
          <a:p>
            <a:pPr marL="342900" indent="-342900">
              <a:lnSpc>
                <a:spcPct val="150000"/>
              </a:lnSpc>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01 </a:t>
            </a:r>
            <a:r>
              <a:rPr lang="zh-CN" altLang="en-US" dirty="0">
                <a:solidFill>
                  <a:schemeClr val="tx1">
                    <a:lumMod val="50000"/>
                    <a:lumOff val="50000"/>
                  </a:schemeClr>
                </a:solidFill>
                <a:latin typeface="微软雅黑" panose="020B0503020204020204" charset="-122"/>
                <a:ea typeface="微软雅黑" panose="020B0503020204020204" charset="-122"/>
              </a:rPr>
              <a:t>研究背景</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lang="en-US" altLang="zh-CN" dirty="0">
                <a:solidFill>
                  <a:schemeClr val="tx1">
                    <a:lumMod val="50000"/>
                    <a:lumOff val="50000"/>
                  </a:schemeClr>
                </a:solidFill>
                <a:latin typeface="微软雅黑" panose="020B0503020204020204" charset="-122"/>
                <a:ea typeface="微软雅黑" panose="020B0503020204020204" charset="-122"/>
              </a:rPr>
              <a:t>02 </a:t>
            </a:r>
            <a:r>
              <a:rPr lang="zh-CN" altLang="en-US" dirty="0">
                <a:solidFill>
                  <a:schemeClr val="tx1">
                    <a:lumMod val="50000"/>
                    <a:lumOff val="50000"/>
                  </a:schemeClr>
                </a:solidFill>
                <a:latin typeface="微软雅黑" panose="020B0503020204020204" charset="-122"/>
                <a:ea typeface="微软雅黑" panose="020B0503020204020204" charset="-122"/>
              </a:rPr>
              <a:t>研究现状</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03 </a:t>
            </a:r>
            <a:r>
              <a:rPr lang="en-US" altLang="zh-CN" dirty="0">
                <a:solidFill>
                  <a:schemeClr val="tx1">
                    <a:lumMod val="50000"/>
                    <a:lumOff val="50000"/>
                  </a:schemeClr>
                </a:solidFill>
                <a:latin typeface="微软雅黑" panose="020B0503020204020204" charset="-122"/>
                <a:ea typeface="微软雅黑" panose="020B0503020204020204" charset="-122"/>
              </a:rPr>
              <a:t>Baseline</a:t>
            </a:r>
            <a:r>
              <a:rPr lang="zh-CN" altLang="en-US" dirty="0">
                <a:solidFill>
                  <a:schemeClr val="tx1">
                    <a:lumMod val="50000"/>
                    <a:lumOff val="50000"/>
                  </a:schemeClr>
                </a:solidFill>
                <a:latin typeface="微软雅黑" panose="020B0503020204020204" charset="-122"/>
                <a:ea typeface="微软雅黑" panose="020B0503020204020204" charset="-122"/>
              </a:rPr>
              <a:t>构建与瓶颈分析</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lang="en-US" altLang="zh-CN" b="1" dirty="0">
                <a:solidFill>
                  <a:schemeClr val="tx1"/>
                </a:solidFill>
                <a:latin typeface="微软雅黑" panose="020B0503020204020204" charset="-122"/>
                <a:ea typeface="微软雅黑" panose="020B0503020204020204" charset="-122"/>
              </a:rPr>
              <a:t>04 </a:t>
            </a:r>
            <a:r>
              <a:rPr lang="zh-CN" altLang="en-US" b="1" dirty="0">
                <a:solidFill>
                  <a:schemeClr val="tx1"/>
                </a:solidFill>
                <a:latin typeface="微软雅黑" panose="020B0503020204020204" charset="-122"/>
                <a:ea typeface="微软雅黑" panose="020B0503020204020204" charset="-122"/>
              </a:rPr>
              <a:t>研究方案和技术路线</a:t>
            </a:r>
            <a:endParaRPr lang="en-US" altLang="zh-CN" b="1" dirty="0">
              <a:solidFill>
                <a:schemeClr val="tx1"/>
              </a:solidFill>
              <a:latin typeface="微软雅黑" panose="020B0503020204020204" charset="-122"/>
              <a:ea typeface="微软雅黑" panose="020B0503020204020204" charset="-122"/>
            </a:endParaRPr>
          </a:p>
        </p:txBody>
      </p:sp>
      <p:sp>
        <p:nvSpPr>
          <p:cNvPr id="5" name="灯片编号占位符 1">
            <a:extLst>
              <a:ext uri="{FF2B5EF4-FFF2-40B4-BE49-F238E27FC236}">
                <a16:creationId xmlns:a16="http://schemas.microsoft.com/office/drawing/2014/main" id="{D2B58DAC-CD06-432B-AEBC-AB5C45895490}"/>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z="1200" smtClean="0">
                <a:solidFill>
                  <a:schemeClr val="tx1">
                    <a:tint val="75000"/>
                  </a:schemeClr>
                </a:solidFill>
                <a:ea typeface="黑体" panose="02010609060101010101" pitchFamily="49" charset="-122"/>
              </a:rPr>
              <a:t>13</a:t>
            </a:fld>
            <a:endParaRPr lang="en-US" altLang="zh-CN" sz="1200" dirty="0">
              <a:solidFill>
                <a:schemeClr val="tx1">
                  <a:tint val="75000"/>
                </a:schemeClr>
              </a:solidFill>
              <a:ea typeface="黑体" panose="02010609060101010101" pitchFamily="49" charset="-122"/>
            </a:endParaRPr>
          </a:p>
        </p:txBody>
      </p:sp>
    </p:spTree>
    <p:extLst>
      <p:ext uri="{BB962C8B-B14F-4D97-AF65-F5344CB8AC3E}">
        <p14:creationId xmlns:p14="http://schemas.microsoft.com/office/powerpoint/2010/main" val="29142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Microsoft YaHei"/>
              </a:defRPr>
            </a:pPr>
            <a:r>
              <a:rPr dirty="0"/>
              <a:t>04</a:t>
            </a:r>
          </a:p>
        </p:txBody>
      </p:sp>
      <p:sp>
        <p:nvSpPr>
          <p:cNvPr id="3" name="TextBox 2"/>
          <p:cNvSpPr txBox="1"/>
          <p:nvPr/>
        </p:nvSpPr>
        <p:spPr>
          <a:xfrm>
            <a:off x="1508760" y="1024128"/>
            <a:ext cx="9692640" cy="502920"/>
          </a:xfrm>
          <a:prstGeom prst="rect">
            <a:avLst/>
          </a:prstGeom>
          <a:noFill/>
        </p:spPr>
        <p:txBody>
          <a:bodyPr wrap="square" lIns="38100" tIns="38100" rIns="38100" bIns="38100" anchor="ctr">
            <a:spAutoFit/>
          </a:bodyPr>
          <a:lstStyle/>
          <a:p>
            <a:pPr algn="l">
              <a:defRPr sz="2600" b="0">
                <a:solidFill>
                  <a:srgbClr val="414141"/>
                </a:solidFill>
                <a:latin typeface="Microsoft YaHei"/>
              </a:defRPr>
            </a:pPr>
            <a:r>
              <a:rPr sz="2300" b="0" dirty="0" err="1">
                <a:solidFill>
                  <a:srgbClr val="2B3A4B"/>
                </a:solidFill>
                <a:latin typeface="Microsoft YaHei"/>
              </a:rPr>
              <a:t>研究方案和技术路线</a:t>
            </a:r>
            <a:r>
              <a:rPr sz="2300" b="0" dirty="0">
                <a:solidFill>
                  <a:srgbClr val="2B3A4B"/>
                </a:solidFill>
                <a:latin typeface="Microsoft YaHei"/>
              </a:rPr>
              <a:t> – </a:t>
            </a:r>
            <a:r>
              <a:rPr sz="2300" b="0" dirty="0" err="1">
                <a:solidFill>
                  <a:srgbClr val="2B3A4B"/>
                </a:solidFill>
                <a:latin typeface="Microsoft YaHei"/>
              </a:rPr>
              <a:t>基于瓶颈的三层近存储优化框架</a:t>
            </a:r>
            <a:endParaRPr dirty="0"/>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灯片编号占位符 1">
            <a:extLst>
              <a:ext uri="{FF2B5EF4-FFF2-40B4-BE49-F238E27FC236}">
                <a16:creationId xmlns:a16="http://schemas.microsoft.com/office/drawing/2014/main" id="{B5FEC7F1-FEB8-401C-A3D4-E24377415CFC}"/>
              </a:ext>
            </a:extLst>
          </p:cNvPr>
          <p:cNvSpPr>
            <a:spLocks noGrp="1"/>
          </p:cNvSpPr>
          <p:nvPr>
            <p:ph type="sldNum" sz="quarter" idx="12"/>
          </p:nvPr>
        </p:nvSpPr>
        <p:spPr>
          <a:xfrm>
            <a:off x="10958500" y="6520667"/>
            <a:ext cx="943000" cy="365125"/>
          </a:xfrm>
        </p:spPr>
        <p:txBody>
          <a:bodyPr/>
          <a:lstStyle/>
          <a:p>
            <a:pPr>
              <a:defRPr/>
            </a:pPr>
            <a:fld id="{6A90D09A-ED5D-47CC-A45F-D492BA9A6C1B}" type="slidenum">
              <a:rPr lang="en-US" altLang="zh-CN" sz="1200" smtClean="0">
                <a:solidFill>
                  <a:schemeClr val="tx1">
                    <a:tint val="75000"/>
                  </a:schemeClr>
                </a:solidFill>
                <a:ea typeface="黑体" panose="02010609060101010101" pitchFamily="49" charset="-122"/>
              </a:rPr>
              <a:t>14</a:t>
            </a:fld>
            <a:endParaRPr lang="en-US" altLang="zh-CN" sz="1200" dirty="0">
              <a:solidFill>
                <a:schemeClr val="tx1">
                  <a:tint val="75000"/>
                </a:schemeClr>
              </a:solidFill>
              <a:ea typeface="黑体" panose="02010609060101010101" pitchFamily="49" charset="-122"/>
            </a:endParaRPr>
          </a:p>
        </p:txBody>
      </p:sp>
      <p:sp>
        <p:nvSpPr>
          <p:cNvPr id="5" name="矩形 4">
            <a:extLst>
              <a:ext uri="{FF2B5EF4-FFF2-40B4-BE49-F238E27FC236}">
                <a16:creationId xmlns:a16="http://schemas.microsoft.com/office/drawing/2014/main" id="{E7E5F524-C33E-4DCA-9932-64A1880F27AB}"/>
              </a:ext>
            </a:extLst>
          </p:cNvPr>
          <p:cNvSpPr/>
          <p:nvPr/>
        </p:nvSpPr>
        <p:spPr bwMode="auto">
          <a:xfrm>
            <a:off x="1790143" y="1840114"/>
            <a:ext cx="6214246" cy="504054"/>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cxnSp>
        <p:nvCxnSpPr>
          <p:cNvPr id="17" name="直接箭头连接符 16">
            <a:extLst>
              <a:ext uri="{FF2B5EF4-FFF2-40B4-BE49-F238E27FC236}">
                <a16:creationId xmlns:a16="http://schemas.microsoft.com/office/drawing/2014/main" id="{186442B3-CAE7-4CA9-87E0-EE213025296E}"/>
              </a:ext>
            </a:extLst>
          </p:cNvPr>
          <p:cNvCxnSpPr>
            <a:cxnSpLocks/>
          </p:cNvCxnSpPr>
          <p:nvPr/>
        </p:nvCxnSpPr>
        <p:spPr bwMode="auto">
          <a:xfrm>
            <a:off x="638015" y="2090523"/>
            <a:ext cx="11521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44021DFD-37A4-4F78-AAD9-A941F88BE3DF}"/>
              </a:ext>
            </a:extLst>
          </p:cNvPr>
          <p:cNvSpPr txBox="1"/>
          <p:nvPr/>
        </p:nvSpPr>
        <p:spPr>
          <a:xfrm>
            <a:off x="675141" y="1772258"/>
            <a:ext cx="1368152" cy="307777"/>
          </a:xfrm>
          <a:prstGeom prst="rect">
            <a:avLst/>
          </a:prstGeom>
          <a:noFill/>
        </p:spPr>
        <p:txBody>
          <a:bodyPr wrap="square" rtlCol="0">
            <a:spAutoFit/>
          </a:bodyPr>
          <a:lstStyle/>
          <a:p>
            <a:r>
              <a:rPr lang="zh-CN" altLang="en-US" sz="1400" dirty="0">
                <a:solidFill>
                  <a:schemeClr val="tx1"/>
                </a:solidFill>
              </a:rPr>
              <a:t>更新请求</a:t>
            </a:r>
          </a:p>
        </p:txBody>
      </p:sp>
      <p:sp>
        <p:nvSpPr>
          <p:cNvPr id="24" name="文本框 23">
            <a:extLst>
              <a:ext uri="{FF2B5EF4-FFF2-40B4-BE49-F238E27FC236}">
                <a16:creationId xmlns:a16="http://schemas.microsoft.com/office/drawing/2014/main" id="{8590F66F-0962-4F3B-8C1F-518D12EFAFD2}"/>
              </a:ext>
            </a:extLst>
          </p:cNvPr>
          <p:cNvSpPr txBox="1"/>
          <p:nvPr/>
        </p:nvSpPr>
        <p:spPr>
          <a:xfrm>
            <a:off x="3939385" y="1915383"/>
            <a:ext cx="1800200" cy="307777"/>
          </a:xfrm>
          <a:prstGeom prst="rect">
            <a:avLst/>
          </a:prstGeom>
          <a:noFill/>
        </p:spPr>
        <p:txBody>
          <a:bodyPr wrap="square" rtlCol="0">
            <a:spAutoFit/>
          </a:bodyPr>
          <a:lstStyle/>
          <a:p>
            <a:r>
              <a:rPr lang="zh-CN" altLang="en-US" sz="1400" dirty="0">
                <a:solidFill>
                  <a:schemeClr val="tx1"/>
                </a:solidFill>
              </a:rPr>
              <a:t>计算侧</a:t>
            </a:r>
            <a:r>
              <a:rPr lang="en-US" altLang="zh-CN" sz="1400" dirty="0">
                <a:solidFill>
                  <a:schemeClr val="tx1"/>
                </a:solidFill>
              </a:rPr>
              <a:t>/Coordinator</a:t>
            </a:r>
            <a:endParaRPr lang="zh-CN" altLang="en-US" sz="1400" dirty="0">
              <a:solidFill>
                <a:schemeClr val="tx1"/>
              </a:solidFill>
            </a:endParaRPr>
          </a:p>
        </p:txBody>
      </p:sp>
      <p:sp>
        <p:nvSpPr>
          <p:cNvPr id="47" name="矩形 46">
            <a:extLst>
              <a:ext uri="{FF2B5EF4-FFF2-40B4-BE49-F238E27FC236}">
                <a16:creationId xmlns:a16="http://schemas.microsoft.com/office/drawing/2014/main" id="{29EA1DFF-8E60-46A3-8AF5-1B99F5E975A8}"/>
              </a:ext>
            </a:extLst>
          </p:cNvPr>
          <p:cNvSpPr/>
          <p:nvPr/>
        </p:nvSpPr>
        <p:spPr bwMode="auto">
          <a:xfrm>
            <a:off x="1823749" y="2868854"/>
            <a:ext cx="7552240" cy="307420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dirty="0">
              <a:ln>
                <a:noFill/>
              </a:ln>
              <a:solidFill>
                <a:srgbClr val="FF3300"/>
              </a:solidFill>
              <a:effectLst/>
              <a:latin typeface="Arial" panose="020B0604020202090204" pitchFamily="34" charset="0"/>
              <a:ea typeface="黑体" panose="02010609060101010101" pitchFamily="49" charset="-122"/>
            </a:endParaRPr>
          </a:p>
        </p:txBody>
      </p:sp>
      <p:sp>
        <p:nvSpPr>
          <p:cNvPr id="52" name="文本框 51">
            <a:extLst>
              <a:ext uri="{FF2B5EF4-FFF2-40B4-BE49-F238E27FC236}">
                <a16:creationId xmlns:a16="http://schemas.microsoft.com/office/drawing/2014/main" id="{DDBC0EC0-3364-4116-9861-5986574ED6BE}"/>
              </a:ext>
            </a:extLst>
          </p:cNvPr>
          <p:cNvSpPr txBox="1"/>
          <p:nvPr/>
        </p:nvSpPr>
        <p:spPr>
          <a:xfrm>
            <a:off x="4060375" y="2993787"/>
            <a:ext cx="2952328" cy="307777"/>
          </a:xfrm>
          <a:prstGeom prst="rect">
            <a:avLst/>
          </a:prstGeom>
          <a:noFill/>
        </p:spPr>
        <p:txBody>
          <a:bodyPr wrap="square">
            <a:spAutoFit/>
          </a:bodyPr>
          <a:lstStyle/>
          <a:p>
            <a:r>
              <a:rPr lang="zh-CN" altLang="en-US" sz="1400" dirty="0">
                <a:solidFill>
                  <a:schemeClr val="tx1"/>
                </a:solidFill>
              </a:rPr>
              <a:t>Ceph/RADOS分布式对象存储集群</a:t>
            </a:r>
          </a:p>
        </p:txBody>
      </p:sp>
      <p:sp>
        <p:nvSpPr>
          <p:cNvPr id="53" name="矩形 52">
            <a:extLst>
              <a:ext uri="{FF2B5EF4-FFF2-40B4-BE49-F238E27FC236}">
                <a16:creationId xmlns:a16="http://schemas.microsoft.com/office/drawing/2014/main" id="{09E78721-6530-472D-BFDC-DFFEA6C24F43}"/>
              </a:ext>
            </a:extLst>
          </p:cNvPr>
          <p:cNvSpPr/>
          <p:nvPr/>
        </p:nvSpPr>
        <p:spPr bwMode="auto">
          <a:xfrm>
            <a:off x="2175189" y="3404723"/>
            <a:ext cx="3710508" cy="2307457"/>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54" name="矩形 53">
            <a:extLst>
              <a:ext uri="{FF2B5EF4-FFF2-40B4-BE49-F238E27FC236}">
                <a16:creationId xmlns:a16="http://schemas.microsoft.com/office/drawing/2014/main" id="{4570A49C-D486-4F30-B6D9-474C16ED66C2}"/>
              </a:ext>
            </a:extLst>
          </p:cNvPr>
          <p:cNvSpPr/>
          <p:nvPr/>
        </p:nvSpPr>
        <p:spPr bwMode="auto">
          <a:xfrm>
            <a:off x="8471605" y="1703508"/>
            <a:ext cx="2743200" cy="827984"/>
          </a:xfrm>
          <a:prstGeom prst="rect">
            <a:avLst/>
          </a:prstGeom>
          <a:ln>
            <a:solidFill>
              <a:srgbClr val="FF0000"/>
            </a:solidFill>
            <a:prstDash val="dash"/>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全局元数据</a:t>
            </a:r>
            <a:endParaRPr kumimoji="1" lang="en-US" altLang="zh-CN" sz="1400" dirty="0">
              <a:solidFill>
                <a:schemeClr val="tx1"/>
              </a:solidFill>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b="0" i="0" u="none" strike="noStrike" cap="none" normalizeH="0" baseline="0" dirty="0" err="1">
                <a:ln>
                  <a:noFill/>
                </a:ln>
                <a:solidFill>
                  <a:schemeClr val="tx1"/>
                </a:solidFill>
                <a:effectLst/>
                <a:latin typeface="Arial" panose="020B0604020202090204" pitchFamily="34" charset="0"/>
                <a:ea typeface="黑体" panose="02010609060101010101" pitchFamily="49" charset="-122"/>
              </a:rPr>
              <a:t>Entry_point</a:t>
            </a: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a:t>
            </a:r>
            <a:r>
              <a:rPr kumimoji="1" lang="en-US" altLang="zh-CN" sz="1400" b="0" i="0" u="none" strike="noStrike" cap="none" normalizeH="0" baseline="0" dirty="0" err="1">
                <a:ln>
                  <a:noFill/>
                </a:ln>
                <a:solidFill>
                  <a:schemeClr val="tx1"/>
                </a:solidFill>
                <a:effectLst/>
                <a:latin typeface="Arial" panose="020B0604020202090204" pitchFamily="34" charset="0"/>
                <a:ea typeface="黑体" panose="02010609060101010101" pitchFamily="49" charset="-122"/>
              </a:rPr>
              <a:t>max_level</a:t>
            </a: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a:t>
            </a:r>
            <a:r>
              <a:rPr kumimoji="1" lang="en-US" altLang="zh-CN" sz="1400" b="0" i="0" u="none" strike="noStrike" cap="none" normalizeH="0" baseline="0" dirty="0" err="1">
                <a:ln>
                  <a:noFill/>
                </a:ln>
                <a:solidFill>
                  <a:schemeClr val="tx1"/>
                </a:solidFill>
                <a:effectLst/>
                <a:latin typeface="Arial" panose="020B0604020202090204" pitchFamily="34" charset="0"/>
                <a:ea typeface="黑体" panose="02010609060101010101" pitchFamily="49" charset="-122"/>
              </a:rPr>
              <a:t>global_epoch</a:t>
            </a:r>
            <a:endPar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cxnSp>
        <p:nvCxnSpPr>
          <p:cNvPr id="56" name="直接箭头连接符 55">
            <a:extLst>
              <a:ext uri="{FF2B5EF4-FFF2-40B4-BE49-F238E27FC236}">
                <a16:creationId xmlns:a16="http://schemas.microsoft.com/office/drawing/2014/main" id="{80F52D06-4F37-410B-86BC-071D892EE4C4}"/>
              </a:ext>
            </a:extLst>
          </p:cNvPr>
          <p:cNvCxnSpPr>
            <a:cxnSpLocks/>
            <a:stCxn id="5" idx="3"/>
          </p:cNvCxnSpPr>
          <p:nvPr/>
        </p:nvCxnSpPr>
        <p:spPr bwMode="auto">
          <a:xfrm flipV="1">
            <a:off x="8004389" y="2090523"/>
            <a:ext cx="428600" cy="16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ECD31E58-0259-4772-B6D7-93D5408E8D51}"/>
              </a:ext>
            </a:extLst>
          </p:cNvPr>
          <p:cNvCxnSpPr>
            <a:cxnSpLocks/>
            <a:endCxn id="5" idx="3"/>
          </p:cNvCxnSpPr>
          <p:nvPr/>
        </p:nvCxnSpPr>
        <p:spPr bwMode="auto">
          <a:xfrm flipH="1">
            <a:off x="8004389" y="2090523"/>
            <a:ext cx="428600" cy="16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文本框 60">
            <a:extLst>
              <a:ext uri="{FF2B5EF4-FFF2-40B4-BE49-F238E27FC236}">
                <a16:creationId xmlns:a16="http://schemas.microsoft.com/office/drawing/2014/main" id="{152BEFA3-089A-4EA0-B6C4-E17E513F0DFA}"/>
              </a:ext>
            </a:extLst>
          </p:cNvPr>
          <p:cNvSpPr txBox="1"/>
          <p:nvPr/>
        </p:nvSpPr>
        <p:spPr>
          <a:xfrm>
            <a:off x="3542387" y="3437117"/>
            <a:ext cx="849193" cy="338554"/>
          </a:xfrm>
          <a:prstGeom prst="rect">
            <a:avLst/>
          </a:prstGeom>
          <a:noFill/>
        </p:spPr>
        <p:txBody>
          <a:bodyPr wrap="square" rtlCol="0">
            <a:spAutoFit/>
          </a:bodyPr>
          <a:lstStyle/>
          <a:p>
            <a:r>
              <a:rPr lang="en-US" altLang="zh-CN" sz="1600" b="1" dirty="0">
                <a:solidFill>
                  <a:schemeClr val="tx1"/>
                </a:solidFill>
              </a:rPr>
              <a:t>OSD-1</a:t>
            </a:r>
          </a:p>
        </p:txBody>
      </p:sp>
      <p:sp>
        <p:nvSpPr>
          <p:cNvPr id="62" name="矩形: 圆角 61">
            <a:extLst>
              <a:ext uri="{FF2B5EF4-FFF2-40B4-BE49-F238E27FC236}">
                <a16:creationId xmlns:a16="http://schemas.microsoft.com/office/drawing/2014/main" id="{40B15D66-F141-4F5C-9E29-6011D8CCBD2C}"/>
              </a:ext>
            </a:extLst>
          </p:cNvPr>
          <p:cNvSpPr/>
          <p:nvPr/>
        </p:nvSpPr>
        <p:spPr bwMode="auto">
          <a:xfrm>
            <a:off x="2402953" y="3767559"/>
            <a:ext cx="1719177" cy="341867"/>
          </a:xfrm>
          <a:prstGeom prst="round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1.Payload</a:t>
            </a: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向量对象</a:t>
            </a:r>
          </a:p>
        </p:txBody>
      </p:sp>
      <p:sp>
        <p:nvSpPr>
          <p:cNvPr id="63" name="矩形: 圆角 62">
            <a:extLst>
              <a:ext uri="{FF2B5EF4-FFF2-40B4-BE49-F238E27FC236}">
                <a16:creationId xmlns:a16="http://schemas.microsoft.com/office/drawing/2014/main" id="{C241120A-5B20-4147-B8C7-830B8FBCA3E0}"/>
              </a:ext>
            </a:extLst>
          </p:cNvPr>
          <p:cNvSpPr/>
          <p:nvPr/>
        </p:nvSpPr>
        <p:spPr bwMode="auto">
          <a:xfrm>
            <a:off x="2396238" y="4441539"/>
            <a:ext cx="1717189" cy="341867"/>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dirty="0">
                <a:solidFill>
                  <a:schemeClr val="tx1"/>
                </a:solidFill>
                <a:latin typeface="Arial" panose="020B0604020202090204" pitchFamily="34" charset="0"/>
                <a:ea typeface="黑体" panose="02010609060101010101" pitchFamily="49" charset="-122"/>
              </a:rPr>
              <a:t>2</a:t>
            </a:r>
            <a:r>
              <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a:t>
            </a: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邻接表键值对</a:t>
            </a:r>
          </a:p>
        </p:txBody>
      </p:sp>
      <p:sp>
        <p:nvSpPr>
          <p:cNvPr id="64" name="矩形: 圆角 63">
            <a:extLst>
              <a:ext uri="{FF2B5EF4-FFF2-40B4-BE49-F238E27FC236}">
                <a16:creationId xmlns:a16="http://schemas.microsoft.com/office/drawing/2014/main" id="{D2B02F35-EACC-4E82-8531-51D6DEC6DB30}"/>
              </a:ext>
            </a:extLst>
          </p:cNvPr>
          <p:cNvSpPr/>
          <p:nvPr/>
        </p:nvSpPr>
        <p:spPr bwMode="auto">
          <a:xfrm>
            <a:off x="2402953" y="5084167"/>
            <a:ext cx="1717189" cy="343995"/>
          </a:xfrm>
          <a:prstGeom prst="roundRect">
            <a:avLst/>
          </a:prstGeom>
          <a:ln>
            <a:solidFill>
              <a:srgbClr val="FF0000"/>
            </a:solidFill>
            <a:prstDash val="dash"/>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3.</a:t>
            </a:r>
            <a:r>
              <a:rPr kumimoji="1" lang="en-US" altLang="zh-CN" sz="1400" dirty="0">
                <a:solidFill>
                  <a:schemeClr val="tx1"/>
                </a:solidFill>
                <a:latin typeface="Arial" panose="020B0604020202090204" pitchFamily="34" charset="0"/>
                <a:ea typeface="黑体" panose="02010609060101010101" pitchFamily="49" charset="-122"/>
              </a:rPr>
              <a:t>Local meta</a:t>
            </a:r>
            <a:endPar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66" name="文本框 65">
            <a:extLst>
              <a:ext uri="{FF2B5EF4-FFF2-40B4-BE49-F238E27FC236}">
                <a16:creationId xmlns:a16="http://schemas.microsoft.com/office/drawing/2014/main" id="{37B8B8C9-08CD-4140-91E1-A1584BBF7A34}"/>
              </a:ext>
            </a:extLst>
          </p:cNvPr>
          <p:cNvSpPr txBox="1"/>
          <p:nvPr/>
        </p:nvSpPr>
        <p:spPr>
          <a:xfrm>
            <a:off x="4603160" y="3592461"/>
            <a:ext cx="933379" cy="307777"/>
          </a:xfrm>
          <a:prstGeom prst="rect">
            <a:avLst/>
          </a:prstGeom>
          <a:noFill/>
        </p:spPr>
        <p:txBody>
          <a:bodyPr wrap="square">
            <a:spAutoFit/>
          </a:bodyPr>
          <a:lstStyle/>
          <a:p>
            <a:r>
              <a:rPr lang="zh-CN" altLang="en-US" sz="1400" dirty="0">
                <a:solidFill>
                  <a:schemeClr val="tx1"/>
                </a:solidFill>
              </a:rPr>
              <a:t>CLS算子</a:t>
            </a:r>
          </a:p>
        </p:txBody>
      </p:sp>
      <p:sp>
        <p:nvSpPr>
          <p:cNvPr id="69" name="矩形: 圆角 68">
            <a:extLst>
              <a:ext uri="{FF2B5EF4-FFF2-40B4-BE49-F238E27FC236}">
                <a16:creationId xmlns:a16="http://schemas.microsoft.com/office/drawing/2014/main" id="{64ACFF21-DF95-4FE7-9BD4-A1A676E1627F}"/>
              </a:ext>
            </a:extLst>
          </p:cNvPr>
          <p:cNvSpPr/>
          <p:nvPr/>
        </p:nvSpPr>
        <p:spPr bwMode="auto">
          <a:xfrm>
            <a:off x="4438022" y="3968466"/>
            <a:ext cx="1378266" cy="578882"/>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r>
              <a:rPr kumimoji="1" lang="zh-CN" altLang="en-US" sz="1400" dirty="0">
                <a:solidFill>
                  <a:schemeClr val="tx1"/>
                </a:solidFill>
                <a:latin typeface="Arial" panose="020B0604020202090204" pitchFamily="34" charset="0"/>
                <a:ea typeface="黑体" panose="02010609060101010101" pitchFamily="49" charset="-122"/>
              </a:rPr>
              <a:t>distance_to</a:t>
            </a:r>
            <a:endParaRPr kumimoji="1" lang="en-US" altLang="zh-CN" sz="1400" dirty="0">
              <a:solidFill>
                <a:schemeClr val="tx1"/>
              </a:solidFill>
              <a:latin typeface="Arial" panose="020B0604020202090204" pitchFamily="34" charset="0"/>
              <a:ea typeface="黑体" panose="02010609060101010101" pitchFamily="49" charset="-122"/>
            </a:endParaRPr>
          </a:p>
          <a:p>
            <a:pPr algn="ctr"/>
            <a:r>
              <a:rPr kumimoji="1" lang="en-US" altLang="zh-CN" sz="1400" dirty="0">
                <a:solidFill>
                  <a:schemeClr val="tx1"/>
                </a:solidFill>
                <a:latin typeface="Arial" panose="020B0604020202090204" pitchFamily="34" charset="0"/>
                <a:ea typeface="黑体" panose="02010609060101010101" pitchFamily="49" charset="-122"/>
              </a:rPr>
              <a:t>_</a:t>
            </a:r>
            <a:r>
              <a:rPr kumimoji="1" lang="en-US" altLang="zh-CN" sz="1400" dirty="0" err="1">
                <a:solidFill>
                  <a:schemeClr val="tx1"/>
                </a:solidFill>
                <a:latin typeface="Arial" panose="020B0604020202090204" pitchFamily="34" charset="0"/>
                <a:ea typeface="黑体" panose="02010609060101010101" pitchFamily="49" charset="-122"/>
              </a:rPr>
              <a:t>local_batch</a:t>
            </a:r>
            <a:endParaRPr kumimoji="1" lang="zh-CN" altLang="en-US" sz="1400" dirty="0">
              <a:solidFill>
                <a:schemeClr val="tx1"/>
              </a:solidFill>
              <a:latin typeface="Arial" panose="020B0604020202090204" pitchFamily="34" charset="0"/>
              <a:ea typeface="黑体" panose="02010609060101010101" pitchFamily="49" charset="-122"/>
            </a:endParaRPr>
          </a:p>
        </p:txBody>
      </p:sp>
      <p:sp>
        <p:nvSpPr>
          <p:cNvPr id="70" name="矩形: 圆角 69">
            <a:extLst>
              <a:ext uri="{FF2B5EF4-FFF2-40B4-BE49-F238E27FC236}">
                <a16:creationId xmlns:a16="http://schemas.microsoft.com/office/drawing/2014/main" id="{F96525F8-A9E7-4F6D-8639-D8094D931035}"/>
              </a:ext>
            </a:extLst>
          </p:cNvPr>
          <p:cNvSpPr/>
          <p:nvPr/>
        </p:nvSpPr>
        <p:spPr bwMode="auto">
          <a:xfrm>
            <a:off x="4438022" y="4673169"/>
            <a:ext cx="1378266" cy="578882"/>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r>
              <a:rPr kumimoji="1" lang="en-US" altLang="zh-CN" sz="1400" dirty="0" err="1">
                <a:solidFill>
                  <a:schemeClr val="tx1"/>
                </a:solidFill>
                <a:latin typeface="Arial" panose="020B0604020202090204" pitchFamily="34" charset="0"/>
                <a:ea typeface="黑体" panose="02010609060101010101" pitchFamily="49" charset="-122"/>
              </a:rPr>
              <a:t>Apply_edge</a:t>
            </a:r>
            <a:endParaRPr kumimoji="1" lang="en-US" altLang="zh-CN" sz="1400" dirty="0">
              <a:solidFill>
                <a:schemeClr val="tx1"/>
              </a:solidFill>
              <a:latin typeface="Arial" panose="020B0604020202090204" pitchFamily="34" charset="0"/>
              <a:ea typeface="黑体" panose="02010609060101010101" pitchFamily="49" charset="-122"/>
            </a:endParaRPr>
          </a:p>
          <a:p>
            <a:pPr algn="ctr"/>
            <a:r>
              <a:rPr kumimoji="1" lang="en-US" altLang="zh-CN" sz="1400" dirty="0">
                <a:solidFill>
                  <a:schemeClr val="tx1"/>
                </a:solidFill>
                <a:latin typeface="Arial" panose="020B0604020202090204" pitchFamily="34" charset="0"/>
                <a:ea typeface="黑体" panose="02010609060101010101" pitchFamily="49" charset="-122"/>
              </a:rPr>
              <a:t>_</a:t>
            </a:r>
            <a:r>
              <a:rPr kumimoji="1" lang="en-US" altLang="zh-CN" sz="1400" dirty="0" err="1">
                <a:solidFill>
                  <a:schemeClr val="tx1"/>
                </a:solidFill>
                <a:latin typeface="Arial" panose="020B0604020202090204" pitchFamily="34" charset="0"/>
                <a:ea typeface="黑体" panose="02010609060101010101" pitchFamily="49" charset="-122"/>
              </a:rPr>
              <a:t>patch_batch</a:t>
            </a:r>
            <a:endParaRPr kumimoji="1" lang="zh-CN" altLang="en-US" sz="1400" dirty="0">
              <a:solidFill>
                <a:schemeClr val="tx1"/>
              </a:solidFill>
              <a:latin typeface="Arial" panose="020B0604020202090204" pitchFamily="34" charset="0"/>
              <a:ea typeface="黑体" panose="02010609060101010101" pitchFamily="49" charset="-122"/>
            </a:endParaRPr>
          </a:p>
        </p:txBody>
      </p:sp>
      <p:cxnSp>
        <p:nvCxnSpPr>
          <p:cNvPr id="75" name="连接符: 肘形 74">
            <a:extLst>
              <a:ext uri="{FF2B5EF4-FFF2-40B4-BE49-F238E27FC236}">
                <a16:creationId xmlns:a16="http://schemas.microsoft.com/office/drawing/2014/main" id="{2DE5388C-D4FD-485B-BFB0-6E7425AF7F0C}"/>
              </a:ext>
            </a:extLst>
          </p:cNvPr>
          <p:cNvCxnSpPr>
            <a:cxnSpLocks/>
          </p:cNvCxnSpPr>
          <p:nvPr/>
        </p:nvCxnSpPr>
        <p:spPr bwMode="auto">
          <a:xfrm flipV="1">
            <a:off x="4119405" y="4257907"/>
            <a:ext cx="324595" cy="354566"/>
          </a:xfrm>
          <a:prstGeom prst="bentConnector3">
            <a:avLst>
              <a:gd name="adj1" fmla="val 50001"/>
            </a:avLst>
          </a:prstGeom>
          <a:ln>
            <a:tailEnd type="triangle"/>
          </a:ln>
        </p:spPr>
        <p:style>
          <a:lnRef idx="1">
            <a:schemeClr val="dk1"/>
          </a:lnRef>
          <a:fillRef idx="0">
            <a:schemeClr val="dk1"/>
          </a:fillRef>
          <a:effectRef idx="0">
            <a:schemeClr val="dk1"/>
          </a:effectRef>
          <a:fontRef idx="minor">
            <a:schemeClr val="tx1"/>
          </a:fontRef>
        </p:style>
      </p:cxnSp>
      <p:cxnSp>
        <p:nvCxnSpPr>
          <p:cNvPr id="80" name="连接符: 肘形 79">
            <a:extLst>
              <a:ext uri="{FF2B5EF4-FFF2-40B4-BE49-F238E27FC236}">
                <a16:creationId xmlns:a16="http://schemas.microsoft.com/office/drawing/2014/main" id="{4260A0CA-4454-48D2-BD35-30C772B43E67}"/>
              </a:ext>
            </a:extLst>
          </p:cNvPr>
          <p:cNvCxnSpPr>
            <a:cxnSpLocks/>
            <a:endCxn id="69" idx="1"/>
          </p:cNvCxnSpPr>
          <p:nvPr/>
        </p:nvCxnSpPr>
        <p:spPr bwMode="auto">
          <a:xfrm rot="16200000" flipH="1">
            <a:off x="4156481" y="3976366"/>
            <a:ext cx="348750" cy="214332"/>
          </a:xfrm>
          <a:prstGeom prst="bentConnector2">
            <a:avLst/>
          </a:prstGeom>
          <a:noFill/>
          <a:ln>
            <a:noFill/>
            <a:tailEnd type="triangle"/>
          </a:ln>
          <a:effectLst>
            <a:outerShdw dist="107763" dir="2700000" algn="ctr" rotWithShape="0">
              <a:schemeClr val="bg2">
                <a:alpha val="50000"/>
              </a:schemeClr>
            </a:outerShdw>
          </a:effectLst>
        </p:spPr>
      </p:cxnSp>
      <p:cxnSp>
        <p:nvCxnSpPr>
          <p:cNvPr id="85" name="连接符: 肘形 84">
            <a:extLst>
              <a:ext uri="{FF2B5EF4-FFF2-40B4-BE49-F238E27FC236}">
                <a16:creationId xmlns:a16="http://schemas.microsoft.com/office/drawing/2014/main" id="{E03A36F8-15AA-4987-8C99-5EB9D2871D93}"/>
              </a:ext>
            </a:extLst>
          </p:cNvPr>
          <p:cNvCxnSpPr>
            <a:cxnSpLocks/>
            <a:stCxn id="62" idx="3"/>
            <a:endCxn id="69" idx="1"/>
          </p:cNvCxnSpPr>
          <p:nvPr/>
        </p:nvCxnSpPr>
        <p:spPr bwMode="auto">
          <a:xfrm>
            <a:off x="4122130" y="3938493"/>
            <a:ext cx="315892" cy="31941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0" name="连接符: 肘形 89">
            <a:extLst>
              <a:ext uri="{FF2B5EF4-FFF2-40B4-BE49-F238E27FC236}">
                <a16:creationId xmlns:a16="http://schemas.microsoft.com/office/drawing/2014/main" id="{8368ED79-FAD4-4693-B6D9-FB17CFF045D4}"/>
              </a:ext>
            </a:extLst>
          </p:cNvPr>
          <p:cNvCxnSpPr>
            <a:cxnSpLocks/>
            <a:stCxn id="70" idx="1"/>
          </p:cNvCxnSpPr>
          <p:nvPr/>
        </p:nvCxnSpPr>
        <p:spPr bwMode="auto">
          <a:xfrm rot="10800000">
            <a:off x="4094690" y="4673174"/>
            <a:ext cx="343333" cy="289437"/>
          </a:xfrm>
          <a:prstGeom prst="bentConnector3">
            <a:avLst>
              <a:gd name="adj1" fmla="val 44333"/>
            </a:avLst>
          </a:prstGeom>
          <a:ln>
            <a:tailEnd type="triangle"/>
          </a:ln>
        </p:spPr>
        <p:style>
          <a:lnRef idx="1">
            <a:schemeClr val="dk1"/>
          </a:lnRef>
          <a:fillRef idx="0">
            <a:schemeClr val="dk1"/>
          </a:fillRef>
          <a:effectRef idx="0">
            <a:schemeClr val="dk1"/>
          </a:effectRef>
          <a:fontRef idx="minor">
            <a:schemeClr val="tx1"/>
          </a:fontRef>
        </p:style>
      </p:cxnSp>
      <p:cxnSp>
        <p:nvCxnSpPr>
          <p:cNvPr id="92" name="连接符: 肘形 91">
            <a:extLst>
              <a:ext uri="{FF2B5EF4-FFF2-40B4-BE49-F238E27FC236}">
                <a16:creationId xmlns:a16="http://schemas.microsoft.com/office/drawing/2014/main" id="{1F16502B-047A-4237-819E-8E6F81A78AFB}"/>
              </a:ext>
            </a:extLst>
          </p:cNvPr>
          <p:cNvCxnSpPr>
            <a:cxnSpLocks/>
            <a:stCxn id="70" idx="1"/>
          </p:cNvCxnSpPr>
          <p:nvPr/>
        </p:nvCxnSpPr>
        <p:spPr bwMode="auto">
          <a:xfrm rot="10800000" flipV="1">
            <a:off x="4126856" y="4962610"/>
            <a:ext cx="311166" cy="24001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99" name="矩形 98">
            <a:extLst>
              <a:ext uri="{FF2B5EF4-FFF2-40B4-BE49-F238E27FC236}">
                <a16:creationId xmlns:a16="http://schemas.microsoft.com/office/drawing/2014/main" id="{0C7EBC84-9F57-4D75-A0F4-7C424FBD5313}"/>
              </a:ext>
            </a:extLst>
          </p:cNvPr>
          <p:cNvSpPr/>
          <p:nvPr/>
        </p:nvSpPr>
        <p:spPr bwMode="auto">
          <a:xfrm>
            <a:off x="6286143" y="3441981"/>
            <a:ext cx="966754" cy="2262671"/>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OSD-2</a:t>
            </a: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00" name="文本框 99">
            <a:extLst>
              <a:ext uri="{FF2B5EF4-FFF2-40B4-BE49-F238E27FC236}">
                <a16:creationId xmlns:a16="http://schemas.microsoft.com/office/drawing/2014/main" id="{FB5ED866-27C3-4105-BD86-D397FD11D3B5}"/>
              </a:ext>
            </a:extLst>
          </p:cNvPr>
          <p:cNvSpPr txBox="1"/>
          <p:nvPr/>
        </p:nvSpPr>
        <p:spPr>
          <a:xfrm>
            <a:off x="7388683" y="4151256"/>
            <a:ext cx="785192"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sp>
        <p:nvSpPr>
          <p:cNvPr id="102" name="矩形 101">
            <a:extLst>
              <a:ext uri="{FF2B5EF4-FFF2-40B4-BE49-F238E27FC236}">
                <a16:creationId xmlns:a16="http://schemas.microsoft.com/office/drawing/2014/main" id="{6C15C2E0-D1C1-4C7C-B489-07675E62B893}"/>
              </a:ext>
            </a:extLst>
          </p:cNvPr>
          <p:cNvSpPr/>
          <p:nvPr/>
        </p:nvSpPr>
        <p:spPr bwMode="auto">
          <a:xfrm>
            <a:off x="8173875" y="3441980"/>
            <a:ext cx="966754" cy="2262671"/>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OSD-n</a:t>
            </a: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03" name="文本框 102">
            <a:extLst>
              <a:ext uri="{FF2B5EF4-FFF2-40B4-BE49-F238E27FC236}">
                <a16:creationId xmlns:a16="http://schemas.microsoft.com/office/drawing/2014/main" id="{7E966851-3FC5-4A29-9FEB-CFACE181FE30}"/>
              </a:ext>
            </a:extLst>
          </p:cNvPr>
          <p:cNvSpPr txBox="1"/>
          <p:nvPr/>
        </p:nvSpPr>
        <p:spPr>
          <a:xfrm>
            <a:off x="6465439" y="4183660"/>
            <a:ext cx="785192"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sp>
        <p:nvSpPr>
          <p:cNvPr id="104" name="文本框 103">
            <a:extLst>
              <a:ext uri="{FF2B5EF4-FFF2-40B4-BE49-F238E27FC236}">
                <a16:creationId xmlns:a16="http://schemas.microsoft.com/office/drawing/2014/main" id="{35526B24-955A-42AE-93A9-17A5CCCA90B2}"/>
              </a:ext>
            </a:extLst>
          </p:cNvPr>
          <p:cNvSpPr txBox="1"/>
          <p:nvPr/>
        </p:nvSpPr>
        <p:spPr>
          <a:xfrm>
            <a:off x="8332549" y="4147238"/>
            <a:ext cx="785192"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sp>
        <p:nvSpPr>
          <p:cNvPr id="105" name="矩形 104">
            <a:extLst>
              <a:ext uri="{FF2B5EF4-FFF2-40B4-BE49-F238E27FC236}">
                <a16:creationId xmlns:a16="http://schemas.microsoft.com/office/drawing/2014/main" id="{6414D839-BE3C-4E9A-A870-D06F625ED829}"/>
              </a:ext>
            </a:extLst>
          </p:cNvPr>
          <p:cNvSpPr/>
          <p:nvPr/>
        </p:nvSpPr>
        <p:spPr bwMode="auto">
          <a:xfrm>
            <a:off x="10020446" y="2926556"/>
            <a:ext cx="1074720" cy="2902846"/>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600" b="1" dirty="0">
                <a:solidFill>
                  <a:schemeClr val="tx1"/>
                </a:solidFill>
                <a:latin typeface="Arial" panose="020B0604020202090204" pitchFamily="34" charset="0"/>
                <a:ea typeface="黑体" panose="02010609060101010101" pitchFamily="49" charset="-122"/>
              </a:rPr>
              <a:t>SSD/</a:t>
            </a: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600" b="1" dirty="0" err="1">
                <a:solidFill>
                  <a:schemeClr val="tx1"/>
                </a:solidFill>
                <a:latin typeface="Arial" panose="020B0604020202090204" pitchFamily="34" charset="0"/>
                <a:ea typeface="黑体" panose="02010609060101010101" pitchFamily="49" charset="-122"/>
              </a:rPr>
              <a:t>NVMe</a:t>
            </a: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600" b="1" dirty="0">
              <a:solidFill>
                <a:schemeClr val="tx1"/>
              </a:solidFill>
              <a:latin typeface="Arial" panose="020B0604020202090204" pitchFamily="34" charset="0"/>
              <a:ea typeface="黑体" panose="02010609060101010101" pitchFamily="49" charset="-122"/>
            </a:endParaRPr>
          </a:p>
        </p:txBody>
      </p:sp>
      <p:cxnSp>
        <p:nvCxnSpPr>
          <p:cNvPr id="107" name="直接箭头连接符 106">
            <a:extLst>
              <a:ext uri="{FF2B5EF4-FFF2-40B4-BE49-F238E27FC236}">
                <a16:creationId xmlns:a16="http://schemas.microsoft.com/office/drawing/2014/main" id="{D8C5BA31-073B-4B7A-8F47-9B0CE7C49971}"/>
              </a:ext>
            </a:extLst>
          </p:cNvPr>
          <p:cNvCxnSpPr>
            <a:cxnSpLocks/>
          </p:cNvCxnSpPr>
          <p:nvPr/>
        </p:nvCxnSpPr>
        <p:spPr bwMode="auto">
          <a:xfrm>
            <a:off x="9500639" y="4026457"/>
            <a:ext cx="38474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9" name="直接箭头连接符 108">
            <a:extLst>
              <a:ext uri="{FF2B5EF4-FFF2-40B4-BE49-F238E27FC236}">
                <a16:creationId xmlns:a16="http://schemas.microsoft.com/office/drawing/2014/main" id="{A342C2CC-5F23-4FA6-9E3D-07C55C6F4739}"/>
              </a:ext>
            </a:extLst>
          </p:cNvPr>
          <p:cNvCxnSpPr>
            <a:cxnSpLocks/>
          </p:cNvCxnSpPr>
          <p:nvPr/>
        </p:nvCxnSpPr>
        <p:spPr bwMode="auto">
          <a:xfrm flipH="1">
            <a:off x="9447997" y="4513796"/>
            <a:ext cx="43738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12" name="直接箭头连接符 111">
            <a:extLst>
              <a:ext uri="{FF2B5EF4-FFF2-40B4-BE49-F238E27FC236}">
                <a16:creationId xmlns:a16="http://schemas.microsoft.com/office/drawing/2014/main" id="{C6AD3450-ABB4-4C49-8188-A40826951D20}"/>
              </a:ext>
            </a:extLst>
          </p:cNvPr>
          <p:cNvCxnSpPr>
            <a:cxnSpLocks/>
          </p:cNvCxnSpPr>
          <p:nvPr/>
        </p:nvCxnSpPr>
        <p:spPr bwMode="auto">
          <a:xfrm>
            <a:off x="4604239" y="2424086"/>
            <a:ext cx="0" cy="36433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14" name="直接箭头连接符 113">
            <a:extLst>
              <a:ext uri="{FF2B5EF4-FFF2-40B4-BE49-F238E27FC236}">
                <a16:creationId xmlns:a16="http://schemas.microsoft.com/office/drawing/2014/main" id="{4B167716-6046-48AE-BBD9-58312AB53BD1}"/>
              </a:ext>
            </a:extLst>
          </p:cNvPr>
          <p:cNvCxnSpPr>
            <a:cxnSpLocks/>
          </p:cNvCxnSpPr>
          <p:nvPr/>
        </p:nvCxnSpPr>
        <p:spPr bwMode="auto">
          <a:xfrm flipV="1">
            <a:off x="5390829" y="2424085"/>
            <a:ext cx="0" cy="36433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16" name="矩形 115">
            <a:extLst>
              <a:ext uri="{FF2B5EF4-FFF2-40B4-BE49-F238E27FC236}">
                <a16:creationId xmlns:a16="http://schemas.microsoft.com/office/drawing/2014/main" id="{2E0E0D66-7CB3-4782-8688-DE6748D127AD}"/>
              </a:ext>
            </a:extLst>
          </p:cNvPr>
          <p:cNvSpPr/>
          <p:nvPr/>
        </p:nvSpPr>
        <p:spPr bwMode="auto">
          <a:xfrm>
            <a:off x="528535" y="6302528"/>
            <a:ext cx="3531840" cy="30899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rgbClr val="FF3300"/>
                </a:solidFill>
                <a:latin typeface="Arial" panose="020B0604020202090204" pitchFamily="34" charset="0"/>
                <a:ea typeface="黑体" panose="02010609060101010101" pitchFamily="49" charset="-122"/>
              </a:rPr>
              <a:t>优化一：</a:t>
            </a:r>
            <a:r>
              <a:rPr kumimoji="1" lang="zh-CN" altLang="en-US" sz="1400" dirty="0">
                <a:solidFill>
                  <a:schemeClr val="tx1"/>
                </a:solidFill>
                <a:latin typeface="Arial" panose="020B0604020202090204" pitchFamily="34" charset="0"/>
                <a:ea typeface="黑体" panose="02010609060101010101" pitchFamily="49" charset="-122"/>
              </a:rPr>
              <a:t>图结构感知的数据</a:t>
            </a:r>
            <a:r>
              <a:rPr kumimoji="1" lang="en-US" altLang="zh-CN" sz="1400" dirty="0">
                <a:solidFill>
                  <a:schemeClr val="tx1"/>
                </a:solidFill>
                <a:latin typeface="Arial" panose="020B0604020202090204" pitchFamily="34" charset="0"/>
                <a:ea typeface="黑体" panose="02010609060101010101" pitchFamily="49" charset="-122"/>
              </a:rPr>
              <a:t>-</a:t>
            </a:r>
            <a:r>
              <a:rPr kumimoji="1" lang="zh-CN" altLang="en-US" sz="1400" dirty="0">
                <a:solidFill>
                  <a:schemeClr val="tx1"/>
                </a:solidFill>
                <a:latin typeface="Arial" panose="020B0604020202090204" pitchFamily="34" charset="0"/>
                <a:ea typeface="黑体" panose="02010609060101010101" pitchFamily="49" charset="-122"/>
              </a:rPr>
              <a:t>存储协同布局</a:t>
            </a:r>
          </a:p>
        </p:txBody>
      </p:sp>
      <p:sp>
        <p:nvSpPr>
          <p:cNvPr id="117" name="矩形 116">
            <a:extLst>
              <a:ext uri="{FF2B5EF4-FFF2-40B4-BE49-F238E27FC236}">
                <a16:creationId xmlns:a16="http://schemas.microsoft.com/office/drawing/2014/main" id="{5E8C54F7-0EDA-452A-9232-881917FFF2DB}"/>
              </a:ext>
            </a:extLst>
          </p:cNvPr>
          <p:cNvSpPr/>
          <p:nvPr/>
        </p:nvSpPr>
        <p:spPr bwMode="auto">
          <a:xfrm>
            <a:off x="4330856" y="6157247"/>
            <a:ext cx="3531840" cy="545983"/>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rgbClr val="FF3300"/>
                </a:solidFill>
                <a:latin typeface="Arial" panose="020B0604020202090204" pitchFamily="34" charset="0"/>
                <a:ea typeface="黑体" panose="02010609060101010101" pitchFamily="49" charset="-122"/>
              </a:rPr>
              <a:t>优化二：</a:t>
            </a:r>
            <a:r>
              <a:rPr lang="zh-CN" altLang="zh-CN" sz="1400" dirty="0">
                <a:solidFill>
                  <a:srgbClr val="2B3A4B"/>
                </a:solidFill>
                <a:latin typeface="Microsoft YaHei"/>
              </a:rPr>
              <a:t>面向更新负载的两级请求聚合与拥塞感知执行机制</a:t>
            </a:r>
            <a:endParaRPr kumimoji="1" lang="zh-CN" altLang="en-US" sz="1400" dirty="0">
              <a:solidFill>
                <a:schemeClr val="tx1"/>
              </a:solidFill>
              <a:latin typeface="Arial" panose="020B0604020202090204" pitchFamily="34" charset="0"/>
              <a:ea typeface="黑体" panose="02010609060101010101" pitchFamily="49" charset="-122"/>
            </a:endParaRPr>
          </a:p>
        </p:txBody>
      </p:sp>
      <p:sp>
        <p:nvSpPr>
          <p:cNvPr id="120" name="矩形 119">
            <a:extLst>
              <a:ext uri="{FF2B5EF4-FFF2-40B4-BE49-F238E27FC236}">
                <a16:creationId xmlns:a16="http://schemas.microsoft.com/office/drawing/2014/main" id="{C38D3F80-6681-49FB-9C55-0C4D548A82CC}"/>
              </a:ext>
            </a:extLst>
          </p:cNvPr>
          <p:cNvSpPr/>
          <p:nvPr/>
        </p:nvSpPr>
        <p:spPr bwMode="auto">
          <a:xfrm>
            <a:off x="8062068" y="6234836"/>
            <a:ext cx="3761920" cy="30899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rgbClr val="FF3300"/>
                </a:solidFill>
                <a:latin typeface="Arial" panose="020B0604020202090204" pitchFamily="34" charset="0"/>
                <a:ea typeface="黑体" panose="02010609060101010101" pitchFamily="49" charset="-122"/>
              </a:rPr>
              <a:t>优化三：</a:t>
            </a:r>
            <a:r>
              <a:rPr lang="zh-CN" altLang="en-US" sz="1400" dirty="0">
                <a:solidFill>
                  <a:srgbClr val="2B3A4B"/>
                </a:solidFill>
                <a:latin typeface="Microsoft YaHei"/>
              </a:rPr>
              <a:t>面向动态图索引的一致性元数据协议</a:t>
            </a:r>
            <a:endParaRPr kumimoji="1" lang="zh-CN" altLang="en-US" sz="1400" dirty="0">
              <a:solidFill>
                <a:schemeClr val="tx1"/>
              </a:solidFill>
              <a:latin typeface="Arial" panose="020B0604020202090204" pitchFamily="34" charset="0"/>
              <a:ea typeface="黑体" panose="02010609060101010101" pitchFamily="49" charset="-122"/>
            </a:endParaRPr>
          </a:p>
        </p:txBody>
      </p:sp>
      <p:sp>
        <p:nvSpPr>
          <p:cNvPr id="121" name="流程图: 可选过程 120">
            <a:extLst>
              <a:ext uri="{FF2B5EF4-FFF2-40B4-BE49-F238E27FC236}">
                <a16:creationId xmlns:a16="http://schemas.microsoft.com/office/drawing/2014/main" id="{46FBB359-11FA-4B67-BB5B-D00F68D4F3DA}"/>
              </a:ext>
            </a:extLst>
          </p:cNvPr>
          <p:cNvSpPr/>
          <p:nvPr/>
        </p:nvSpPr>
        <p:spPr bwMode="auto">
          <a:xfrm>
            <a:off x="2250632" y="3737836"/>
            <a:ext cx="2104159" cy="1111551"/>
          </a:xfrm>
          <a:prstGeom prst="flowChartAlternateProcess">
            <a:avLst/>
          </a:prstGeom>
          <a:noFill/>
          <a:ln>
            <a:solidFill>
              <a:srgbClr val="FF0000"/>
            </a:solidFill>
            <a:prstDash val="dash"/>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cxnSp>
        <p:nvCxnSpPr>
          <p:cNvPr id="123" name="直接箭头连接符 122">
            <a:extLst>
              <a:ext uri="{FF2B5EF4-FFF2-40B4-BE49-F238E27FC236}">
                <a16:creationId xmlns:a16="http://schemas.microsoft.com/office/drawing/2014/main" id="{C23DAB36-DE12-46F9-8518-8AE3250CB419}"/>
              </a:ext>
            </a:extLst>
          </p:cNvPr>
          <p:cNvCxnSpPr>
            <a:cxnSpLocks/>
            <a:stCxn id="116" idx="0"/>
            <a:endCxn id="121" idx="2"/>
          </p:cNvCxnSpPr>
          <p:nvPr/>
        </p:nvCxnSpPr>
        <p:spPr bwMode="auto">
          <a:xfrm flipV="1">
            <a:off x="2294455" y="4849387"/>
            <a:ext cx="1008257" cy="1453141"/>
          </a:xfrm>
          <a:prstGeom prst="straightConnector1">
            <a:avLst/>
          </a:prstGeom>
          <a:ln>
            <a:solidFill>
              <a:srgbClr val="FF0000"/>
            </a:solidFill>
            <a:prstDash val="dash"/>
            <a:tailEnd type="triangle"/>
          </a:ln>
        </p:spPr>
        <p:style>
          <a:lnRef idx="1">
            <a:schemeClr val="dk1"/>
          </a:lnRef>
          <a:fillRef idx="0">
            <a:schemeClr val="dk1"/>
          </a:fillRef>
          <a:effectRef idx="0">
            <a:schemeClr val="dk1"/>
          </a:effectRef>
          <a:fontRef idx="minor">
            <a:schemeClr val="tx1"/>
          </a:fontRef>
        </p:style>
      </p:cxnSp>
      <p:sp>
        <p:nvSpPr>
          <p:cNvPr id="134" name="文本框 133">
            <a:extLst>
              <a:ext uri="{FF2B5EF4-FFF2-40B4-BE49-F238E27FC236}">
                <a16:creationId xmlns:a16="http://schemas.microsoft.com/office/drawing/2014/main" id="{CBF4DAD6-D01F-4926-AE0A-FCE60B403D41}"/>
              </a:ext>
            </a:extLst>
          </p:cNvPr>
          <p:cNvSpPr txBox="1"/>
          <p:nvPr/>
        </p:nvSpPr>
        <p:spPr>
          <a:xfrm>
            <a:off x="3256140" y="2440311"/>
            <a:ext cx="1161369" cy="307777"/>
          </a:xfrm>
          <a:prstGeom prst="rect">
            <a:avLst/>
          </a:prstGeom>
          <a:noFill/>
        </p:spPr>
        <p:txBody>
          <a:bodyPr wrap="square">
            <a:spAutoFit/>
          </a:bodyPr>
          <a:lstStyle/>
          <a:p>
            <a:r>
              <a:rPr lang="zh-CN" altLang="en-US" sz="1400" dirty="0">
                <a:solidFill>
                  <a:schemeClr val="tx1"/>
                </a:solidFill>
              </a:rPr>
              <a:t>批量化请求</a:t>
            </a:r>
          </a:p>
        </p:txBody>
      </p:sp>
      <p:sp>
        <p:nvSpPr>
          <p:cNvPr id="136" name="文本框 135">
            <a:extLst>
              <a:ext uri="{FF2B5EF4-FFF2-40B4-BE49-F238E27FC236}">
                <a16:creationId xmlns:a16="http://schemas.microsoft.com/office/drawing/2014/main" id="{68F7BBDB-C992-473E-B4ED-A257309E62E3}"/>
              </a:ext>
            </a:extLst>
          </p:cNvPr>
          <p:cNvSpPr txBox="1"/>
          <p:nvPr/>
        </p:nvSpPr>
        <p:spPr>
          <a:xfrm>
            <a:off x="5739585" y="2440310"/>
            <a:ext cx="1378266" cy="307777"/>
          </a:xfrm>
          <a:prstGeom prst="rect">
            <a:avLst/>
          </a:prstGeom>
          <a:noFill/>
        </p:spPr>
        <p:txBody>
          <a:bodyPr wrap="square">
            <a:spAutoFit/>
          </a:bodyPr>
          <a:lstStyle/>
          <a:p>
            <a:r>
              <a:rPr lang="zh-CN" altLang="en-US" sz="1400" dirty="0">
                <a:solidFill>
                  <a:schemeClr val="tx1"/>
                </a:solidFill>
              </a:rPr>
              <a:t>拥塞感知调度</a:t>
            </a:r>
          </a:p>
        </p:txBody>
      </p:sp>
      <p:sp>
        <p:nvSpPr>
          <p:cNvPr id="137" name="流程图: 可选过程 136">
            <a:extLst>
              <a:ext uri="{FF2B5EF4-FFF2-40B4-BE49-F238E27FC236}">
                <a16:creationId xmlns:a16="http://schemas.microsoft.com/office/drawing/2014/main" id="{CA04D274-2492-41FE-89CC-F5994F57200A}"/>
              </a:ext>
            </a:extLst>
          </p:cNvPr>
          <p:cNvSpPr/>
          <p:nvPr/>
        </p:nvSpPr>
        <p:spPr bwMode="auto">
          <a:xfrm>
            <a:off x="2969192" y="2411242"/>
            <a:ext cx="4403685" cy="390354"/>
          </a:xfrm>
          <a:prstGeom prst="flowChartAlternateProcess">
            <a:avLst/>
          </a:prstGeom>
          <a:noFill/>
          <a:ln>
            <a:solidFill>
              <a:srgbClr val="FF0000"/>
            </a:solidFill>
            <a:prstDash val="dash"/>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cxnSp>
        <p:nvCxnSpPr>
          <p:cNvPr id="139" name="直接箭头连接符 138">
            <a:extLst>
              <a:ext uri="{FF2B5EF4-FFF2-40B4-BE49-F238E27FC236}">
                <a16:creationId xmlns:a16="http://schemas.microsoft.com/office/drawing/2014/main" id="{08099D6D-6989-48B1-B71C-9D2242C08D8A}"/>
              </a:ext>
            </a:extLst>
          </p:cNvPr>
          <p:cNvCxnSpPr>
            <a:cxnSpLocks/>
            <a:stCxn id="117" idx="0"/>
          </p:cNvCxnSpPr>
          <p:nvPr/>
        </p:nvCxnSpPr>
        <p:spPr bwMode="auto">
          <a:xfrm flipH="1" flipV="1">
            <a:off x="6080916" y="2868670"/>
            <a:ext cx="15860" cy="3288577"/>
          </a:xfrm>
          <a:prstGeom prst="straightConnector1">
            <a:avLst/>
          </a:prstGeom>
          <a:ln>
            <a:solidFill>
              <a:srgbClr val="FF0000"/>
            </a:solidFill>
            <a:prstDash val="dash"/>
            <a:tailEnd type="triangle"/>
          </a:ln>
        </p:spPr>
        <p:style>
          <a:lnRef idx="1">
            <a:schemeClr val="dk1"/>
          </a:lnRef>
          <a:fillRef idx="0">
            <a:schemeClr val="dk1"/>
          </a:fillRef>
          <a:effectRef idx="0">
            <a:schemeClr val="dk1"/>
          </a:effectRef>
          <a:fontRef idx="minor">
            <a:schemeClr val="tx1"/>
          </a:fontRef>
        </p:style>
      </p:cxnSp>
      <p:cxnSp>
        <p:nvCxnSpPr>
          <p:cNvPr id="143" name="直接箭头连接符 142">
            <a:extLst>
              <a:ext uri="{FF2B5EF4-FFF2-40B4-BE49-F238E27FC236}">
                <a16:creationId xmlns:a16="http://schemas.microsoft.com/office/drawing/2014/main" id="{ACF99ABD-9584-40F8-91E9-8F812A12A1CF}"/>
              </a:ext>
            </a:extLst>
          </p:cNvPr>
          <p:cNvCxnSpPr>
            <a:cxnSpLocks/>
            <a:stCxn id="120" idx="0"/>
          </p:cNvCxnSpPr>
          <p:nvPr/>
        </p:nvCxnSpPr>
        <p:spPr bwMode="auto">
          <a:xfrm flipH="1" flipV="1">
            <a:off x="3302712" y="5428162"/>
            <a:ext cx="6640316" cy="806674"/>
          </a:xfrm>
          <a:prstGeom prst="straightConnector1">
            <a:avLst/>
          </a:prstGeom>
          <a:ln>
            <a:solidFill>
              <a:srgbClr val="FF0000"/>
            </a:solidFill>
            <a:prstDash val="dash"/>
            <a:tailEnd type="triangle"/>
          </a:ln>
        </p:spPr>
        <p:style>
          <a:lnRef idx="1">
            <a:schemeClr val="dk1"/>
          </a:lnRef>
          <a:fillRef idx="0">
            <a:schemeClr val="dk1"/>
          </a:fillRef>
          <a:effectRef idx="0">
            <a:schemeClr val="dk1"/>
          </a:effectRef>
          <a:fontRef idx="minor">
            <a:schemeClr val="tx1"/>
          </a:fontRef>
        </p:style>
      </p:cxnSp>
      <p:cxnSp>
        <p:nvCxnSpPr>
          <p:cNvPr id="145" name="直接箭头连接符 144">
            <a:extLst>
              <a:ext uri="{FF2B5EF4-FFF2-40B4-BE49-F238E27FC236}">
                <a16:creationId xmlns:a16="http://schemas.microsoft.com/office/drawing/2014/main" id="{50EDC1D2-0AF1-44AF-AA23-C5B054A7FA6A}"/>
              </a:ext>
            </a:extLst>
          </p:cNvPr>
          <p:cNvCxnSpPr>
            <a:cxnSpLocks/>
            <a:stCxn id="120" idx="0"/>
          </p:cNvCxnSpPr>
          <p:nvPr/>
        </p:nvCxnSpPr>
        <p:spPr bwMode="auto">
          <a:xfrm flipH="1" flipV="1">
            <a:off x="9931826" y="2594198"/>
            <a:ext cx="11202" cy="3640638"/>
          </a:xfrm>
          <a:prstGeom prst="straightConnector1">
            <a:avLst/>
          </a:prstGeom>
          <a:ln>
            <a:solidFill>
              <a:srgbClr val="FF0000"/>
            </a:solidFill>
            <a:prstDash val="dash"/>
            <a:tailEnd type="triangle"/>
          </a:ln>
        </p:spPr>
        <p:style>
          <a:lnRef idx="1">
            <a:schemeClr val="dk1"/>
          </a:lnRef>
          <a:fillRef idx="0">
            <a:schemeClr val="dk1"/>
          </a:fillRef>
          <a:effectRef idx="0">
            <a:schemeClr val="dk1"/>
          </a:effectRef>
          <a:fontRef idx="minor">
            <a:schemeClr val="tx1"/>
          </a:fontRef>
        </p:style>
      </p:cxnSp>
      <p:sp>
        <p:nvSpPr>
          <p:cNvPr id="20" name="文本框 19">
            <a:extLst>
              <a:ext uri="{FF2B5EF4-FFF2-40B4-BE49-F238E27FC236}">
                <a16:creationId xmlns:a16="http://schemas.microsoft.com/office/drawing/2014/main" id="{030C4E63-0F65-2637-398B-1F836A2B7CAC}"/>
              </a:ext>
            </a:extLst>
          </p:cNvPr>
          <p:cNvSpPr txBox="1"/>
          <p:nvPr/>
        </p:nvSpPr>
        <p:spPr>
          <a:xfrm>
            <a:off x="50736" y="3592461"/>
            <a:ext cx="1837399" cy="400110"/>
          </a:xfrm>
          <a:prstGeom prst="rect">
            <a:avLst/>
          </a:prstGeom>
          <a:noFill/>
        </p:spPr>
        <p:txBody>
          <a:bodyPr wrap="square">
            <a:spAutoFit/>
          </a:bodyPr>
          <a:lstStyle/>
          <a:p>
            <a:r>
              <a:rPr lang="en-US" altLang="zh-CN"/>
              <a:t>cls</a:t>
            </a:r>
            <a:r>
              <a:rPr lang="zh-CN" altLang="en-US"/>
              <a:t>请求碎片化</a:t>
            </a:r>
          </a:p>
        </p:txBody>
      </p:sp>
      <p:sp>
        <p:nvSpPr>
          <p:cNvPr id="26" name="文本框 25">
            <a:extLst>
              <a:ext uri="{FF2B5EF4-FFF2-40B4-BE49-F238E27FC236}">
                <a16:creationId xmlns:a16="http://schemas.microsoft.com/office/drawing/2014/main" id="{8316D500-8CE4-EC12-999A-4658EF051A76}"/>
              </a:ext>
            </a:extLst>
          </p:cNvPr>
          <p:cNvSpPr txBox="1"/>
          <p:nvPr/>
        </p:nvSpPr>
        <p:spPr>
          <a:xfrm>
            <a:off x="135645" y="4293611"/>
            <a:ext cx="1490413" cy="707886"/>
          </a:xfrm>
          <a:prstGeom prst="rect">
            <a:avLst/>
          </a:prstGeom>
          <a:noFill/>
        </p:spPr>
        <p:txBody>
          <a:bodyPr wrap="square">
            <a:spAutoFit/>
          </a:bodyPr>
          <a:lstStyle/>
          <a:p>
            <a:pPr algn="ctr"/>
            <a:r>
              <a:rPr lang="zh-CN" altLang="en-US"/>
              <a:t>全局元数据</a:t>
            </a:r>
            <a:endParaRPr lang="en-US" altLang="zh-CN"/>
          </a:p>
          <a:p>
            <a:pPr algn="ctr"/>
            <a:r>
              <a:rPr lang="zh-CN" altLang="en-US"/>
              <a:t>写热点</a:t>
            </a:r>
          </a:p>
        </p:txBody>
      </p:sp>
      <p:sp>
        <p:nvSpPr>
          <p:cNvPr id="29" name="文本框 28">
            <a:extLst>
              <a:ext uri="{FF2B5EF4-FFF2-40B4-BE49-F238E27FC236}">
                <a16:creationId xmlns:a16="http://schemas.microsoft.com/office/drawing/2014/main" id="{5ECAA231-A150-6876-12EA-830A056D6A31}"/>
              </a:ext>
            </a:extLst>
          </p:cNvPr>
          <p:cNvSpPr txBox="1"/>
          <p:nvPr/>
        </p:nvSpPr>
        <p:spPr>
          <a:xfrm>
            <a:off x="273533" y="2815161"/>
            <a:ext cx="1304945" cy="400110"/>
          </a:xfrm>
          <a:prstGeom prst="rect">
            <a:avLst/>
          </a:prstGeom>
          <a:noFill/>
        </p:spPr>
        <p:txBody>
          <a:bodyPr wrap="square">
            <a:spAutoFit/>
          </a:bodyPr>
          <a:lstStyle/>
          <a:p>
            <a:r>
              <a:rPr lang="zh-CN" altLang="en-US"/>
              <a:t>数据移动</a:t>
            </a:r>
          </a:p>
        </p:txBody>
      </p:sp>
    </p:spTree>
    <p:extLst>
      <p:ext uri="{BB962C8B-B14F-4D97-AF65-F5344CB8AC3E}">
        <p14:creationId xmlns:p14="http://schemas.microsoft.com/office/powerpoint/2010/main" val="288722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F0A70C85-2549-4684-8603-6898E0D4919F}"/>
              </a:ext>
            </a:extLst>
          </p:cNvPr>
          <p:cNvSpPr/>
          <p:nvPr/>
        </p:nvSpPr>
        <p:spPr bwMode="auto">
          <a:xfrm>
            <a:off x="855811" y="2606480"/>
            <a:ext cx="9945463" cy="189932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3" name="TextBox 2"/>
          <p:cNvSpPr txBox="1"/>
          <p:nvPr/>
        </p:nvSpPr>
        <p:spPr>
          <a:xfrm>
            <a:off x="1530840" y="1054228"/>
            <a:ext cx="9784080" cy="409343"/>
          </a:xfrm>
          <a:prstGeom prst="rect">
            <a:avLst/>
          </a:prstGeom>
          <a:noFill/>
        </p:spPr>
        <p:txBody>
          <a:bodyPr wrap="square" lIns="73152" tIns="27432" rIns="73152" bIns="27432" anchor="t">
            <a:spAutoFit/>
          </a:bodyPr>
          <a:lstStyle/>
          <a:p>
            <a:pPr>
              <a:defRPr sz="2600" b="0">
                <a:solidFill>
                  <a:srgbClr val="414141"/>
                </a:solidFill>
                <a:latin typeface="Microsoft YaHei"/>
              </a:defRPr>
            </a:pPr>
            <a:r>
              <a:rPr lang="zh-CN" altLang="en-US" sz="2300" dirty="0">
                <a:solidFill>
                  <a:schemeClr val="tx1"/>
                </a:solidFill>
                <a:latin typeface="Microsoft YaHei"/>
              </a:rPr>
              <a:t>优化设计一</a:t>
            </a:r>
            <a:r>
              <a:rPr sz="2300" dirty="0">
                <a:solidFill>
                  <a:schemeClr val="tx1"/>
                </a:solidFill>
                <a:latin typeface="Microsoft YaHei"/>
              </a:rPr>
              <a:t> – </a:t>
            </a:r>
            <a:r>
              <a:rPr lang="zh-CN" altLang="en-US" sz="2300" dirty="0">
                <a:solidFill>
                  <a:schemeClr val="tx1"/>
                </a:solidFill>
                <a:latin typeface="Microsoft YaHei"/>
              </a:rPr>
              <a:t>数据布局层</a:t>
            </a:r>
            <a:r>
              <a:rPr sz="2300" dirty="0">
                <a:solidFill>
                  <a:schemeClr val="tx1"/>
                </a:solidFill>
                <a:latin typeface="Microsoft YaHei"/>
              </a:rPr>
              <a:t>：</a:t>
            </a:r>
            <a:r>
              <a:rPr lang="zh-CN" altLang="en-US" sz="2300" dirty="0">
                <a:solidFill>
                  <a:schemeClr val="tx1"/>
                </a:solidFill>
                <a:latin typeface="Microsoft YaHei"/>
              </a:rPr>
              <a:t>图结构感知的数据</a:t>
            </a:r>
            <a:r>
              <a:rPr lang="en-US" altLang="zh-CN" sz="2300" dirty="0">
                <a:solidFill>
                  <a:schemeClr val="tx1"/>
                </a:solidFill>
                <a:latin typeface="Microsoft YaHei"/>
              </a:rPr>
              <a:t>-</a:t>
            </a:r>
            <a:r>
              <a:rPr lang="zh-CN" altLang="en-US" sz="2300" dirty="0">
                <a:solidFill>
                  <a:schemeClr val="tx1"/>
                </a:solidFill>
                <a:latin typeface="Microsoft YaHei"/>
              </a:rPr>
              <a:t>存储协同布局</a:t>
            </a:r>
            <a:endParaRPr sz="2300" dirty="0">
              <a:solidFill>
                <a:schemeClr val="tx1"/>
              </a:solidFill>
              <a:latin typeface="Microsoft YaHei"/>
            </a:endParaRPr>
          </a:p>
        </p:txBody>
      </p:sp>
      <p:sp>
        <p:nvSpPr>
          <p:cNvPr id="4" name="Rectangle 3"/>
          <p:cNvSpPr/>
          <p:nvPr/>
        </p:nvSpPr>
        <p:spPr>
          <a:xfrm>
            <a:off x="548640" y="1673352"/>
            <a:ext cx="10881360" cy="18288"/>
          </a:xfrm>
          <a:prstGeom prst="rect">
            <a:avLst/>
          </a:prstGeom>
          <a:solidFill>
            <a:srgbClr val="D2DADE"/>
          </a:solidFill>
          <a:ln>
            <a:solidFill>
              <a:srgbClr val="D2D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0869" y="2178918"/>
            <a:ext cx="10659928" cy="332399"/>
          </a:xfrm>
          <a:prstGeom prst="rect">
            <a:avLst/>
          </a:prstGeom>
          <a:noFill/>
        </p:spPr>
        <p:txBody>
          <a:bodyPr wrap="square" lIns="73152" tIns="27432" rIns="73152" bIns="27432" anchor="ctr">
            <a:spAutoFit/>
          </a:bodyPr>
          <a:lstStyle/>
          <a:p>
            <a:r>
              <a:rPr sz="1800">
                <a:solidFill>
                  <a:srgbClr val="FF0000"/>
                </a:solidFill>
              </a:rPr>
              <a:t>核心</a:t>
            </a:r>
            <a:r>
              <a:rPr lang="zh-CN" altLang="en-US" sz="1800">
                <a:solidFill>
                  <a:srgbClr val="FF0000"/>
                </a:solidFill>
              </a:rPr>
              <a:t>优化</a:t>
            </a:r>
            <a:r>
              <a:rPr sz="1800">
                <a:solidFill>
                  <a:schemeClr val="tx1"/>
                </a:solidFill>
              </a:rPr>
              <a:t>：</a:t>
            </a:r>
            <a:r>
              <a:rPr lang="zh-CN" altLang="en-US" sz="1800">
                <a:solidFill>
                  <a:schemeClr val="tx1"/>
                </a:solidFill>
              </a:rPr>
              <a:t>利用向量图结构本身的局部性优化对象布局</a:t>
            </a:r>
            <a:endParaRPr sz="1800" dirty="0">
              <a:solidFill>
                <a:schemeClr val="tx1"/>
              </a:solidFill>
            </a:endParaRPr>
          </a:p>
        </p:txBody>
      </p:sp>
      <p:cxnSp>
        <p:nvCxnSpPr>
          <p:cNvPr id="10" name="Connector 9"/>
          <p:cNvCxnSpPr/>
          <p:nvPr/>
        </p:nvCxnSpPr>
        <p:spPr>
          <a:xfrm>
            <a:off x="2487666" y="3835197"/>
            <a:ext cx="228601" cy="0"/>
          </a:xfrm>
          <a:prstGeom prst="line">
            <a:avLst/>
          </a:prstGeom>
          <a:ln w="1524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060434" y="3835197"/>
            <a:ext cx="201169" cy="0"/>
          </a:xfrm>
          <a:prstGeom prst="line">
            <a:avLst/>
          </a:prstGeom>
          <a:ln w="1524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560051" y="3835197"/>
            <a:ext cx="201168" cy="0"/>
          </a:xfrm>
          <a:prstGeom prst="line">
            <a:avLst/>
          </a:prstGeom>
          <a:ln w="1524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13947" y="3835197"/>
            <a:ext cx="237744" cy="0"/>
          </a:xfrm>
          <a:prstGeom prst="line">
            <a:avLst/>
          </a:prstGeom>
          <a:ln w="1524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31851" y="3835197"/>
            <a:ext cx="173736" cy="0"/>
          </a:xfrm>
          <a:prstGeom prst="line">
            <a:avLst/>
          </a:prstGeom>
          <a:ln w="15240">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253227" y="3451149"/>
            <a:ext cx="1188720" cy="749808"/>
          </a:xfrm>
          <a:prstGeom prst="round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dirty="0">
                <a:solidFill>
                  <a:schemeClr val="tx1"/>
                </a:solidFill>
                <a:latin typeface="Arial" panose="020B0604020202090204" pitchFamily="34" charset="0"/>
                <a:ea typeface="黑体" panose="02010609060101010101" pitchFamily="49" charset="-122"/>
              </a:rPr>
              <a:t>HNSW
</a:t>
            </a:r>
            <a:r>
              <a:rPr sz="1400" dirty="0" err="1">
                <a:solidFill>
                  <a:schemeClr val="tx1"/>
                </a:solidFill>
                <a:latin typeface="Arial" panose="020B0604020202090204" pitchFamily="34" charset="0"/>
                <a:ea typeface="黑体" panose="02010609060101010101" pitchFamily="49" charset="-122"/>
              </a:rPr>
              <a:t>候选邻居</a:t>
            </a:r>
            <a:endParaRPr sz="1400" dirty="0">
              <a:solidFill>
                <a:schemeClr val="tx1"/>
              </a:solidFill>
              <a:latin typeface="Arial" panose="020B0604020202090204" pitchFamily="34" charset="0"/>
              <a:ea typeface="黑体" panose="02010609060101010101" pitchFamily="49" charset="-122"/>
            </a:endParaRPr>
          </a:p>
        </p:txBody>
      </p:sp>
      <p:sp>
        <p:nvSpPr>
          <p:cNvPr id="16" name="Rounded Rectangle 15"/>
          <p:cNvSpPr/>
          <p:nvPr/>
        </p:nvSpPr>
        <p:spPr>
          <a:xfrm>
            <a:off x="2780275" y="3451149"/>
            <a:ext cx="1234440" cy="749808"/>
          </a:xfrm>
          <a:prstGeom prst="round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dirty="0">
                <a:solidFill>
                  <a:schemeClr val="tx1"/>
                </a:solidFill>
                <a:latin typeface="Arial" panose="020B0604020202090204" pitchFamily="34" charset="0"/>
                <a:ea typeface="黑体" panose="02010609060101010101" pitchFamily="49" charset="-122"/>
              </a:rPr>
              <a:t>Locality
Group </a:t>
            </a:r>
            <a:r>
              <a:rPr sz="1400" dirty="0" err="1">
                <a:solidFill>
                  <a:schemeClr val="tx1"/>
                </a:solidFill>
                <a:latin typeface="Arial" panose="020B0604020202090204" pitchFamily="34" charset="0"/>
                <a:ea typeface="黑体" panose="02010609060101010101" pitchFamily="49" charset="-122"/>
              </a:rPr>
              <a:t>评分</a:t>
            </a:r>
            <a:endParaRPr sz="1400" dirty="0">
              <a:solidFill>
                <a:schemeClr val="tx1"/>
              </a:solidFill>
              <a:latin typeface="Arial" panose="020B0604020202090204" pitchFamily="34" charset="0"/>
              <a:ea typeface="黑体" panose="02010609060101010101" pitchFamily="49" charset="-122"/>
            </a:endParaRPr>
          </a:p>
        </p:txBody>
      </p:sp>
      <p:sp>
        <p:nvSpPr>
          <p:cNvPr id="17" name="Rounded Rectangle 16"/>
          <p:cNvSpPr/>
          <p:nvPr/>
        </p:nvSpPr>
        <p:spPr>
          <a:xfrm>
            <a:off x="4325611" y="3451149"/>
            <a:ext cx="1188720" cy="749808"/>
          </a:xfrm>
          <a:prstGeom prst="roundRect">
            <a:avLst/>
          </a:prstGeom>
          <a:solidFill>
            <a:schemeClr val="bg1"/>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dirty="0" err="1">
                <a:solidFill>
                  <a:schemeClr val="tx1"/>
                </a:solidFill>
                <a:latin typeface="Arial" panose="020B0604020202090204" pitchFamily="34" charset="0"/>
                <a:ea typeface="黑体" panose="02010609060101010101" pitchFamily="49" charset="-122"/>
              </a:rPr>
              <a:t>group_id</a:t>
            </a:r>
            <a:r>
              <a:rPr sz="1400" dirty="0">
                <a:solidFill>
                  <a:schemeClr val="tx1"/>
                </a:solidFill>
                <a:latin typeface="Arial" panose="020B0604020202090204" pitchFamily="34" charset="0"/>
                <a:ea typeface="黑体" panose="02010609060101010101" pitchFamily="49" charset="-122"/>
              </a:rPr>
              <a:t>
locator key</a:t>
            </a:r>
          </a:p>
        </p:txBody>
      </p:sp>
      <p:sp>
        <p:nvSpPr>
          <p:cNvPr id="18" name="Rounded Rectangle 17"/>
          <p:cNvSpPr/>
          <p:nvPr/>
        </p:nvSpPr>
        <p:spPr>
          <a:xfrm>
            <a:off x="5825227" y="3451149"/>
            <a:ext cx="1143000" cy="749808"/>
          </a:xfrm>
          <a:prstGeom prst="round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dirty="0" err="1">
                <a:solidFill>
                  <a:schemeClr val="tx1"/>
                </a:solidFill>
                <a:latin typeface="Arial" panose="020B0604020202090204" pitchFamily="34" charset="0"/>
                <a:ea typeface="黑体" panose="02010609060101010101" pitchFamily="49" charset="-122"/>
              </a:rPr>
              <a:t>同一PG</a:t>
            </a:r>
            <a:endParaRPr sz="1400" dirty="0">
              <a:solidFill>
                <a:schemeClr val="tx1"/>
              </a:solidFill>
              <a:latin typeface="Arial" panose="020B0604020202090204" pitchFamily="34" charset="0"/>
              <a:ea typeface="黑体" panose="02010609060101010101" pitchFamily="49" charset="-122"/>
            </a:endParaRPr>
          </a:p>
        </p:txBody>
      </p:sp>
      <p:sp>
        <p:nvSpPr>
          <p:cNvPr id="19" name="Rounded Rectangle 18"/>
          <p:cNvSpPr/>
          <p:nvPr/>
        </p:nvSpPr>
        <p:spPr>
          <a:xfrm>
            <a:off x="7315699" y="3451149"/>
            <a:ext cx="1170432" cy="749808"/>
          </a:xfrm>
          <a:prstGeom prst="round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dirty="0">
                <a:solidFill>
                  <a:schemeClr val="tx1"/>
                </a:solidFill>
                <a:latin typeface="Arial" panose="020B0604020202090204" pitchFamily="34" charset="0"/>
                <a:ea typeface="黑体" panose="02010609060101010101" pitchFamily="49" charset="-122"/>
              </a:rPr>
              <a:t>CRUSH
</a:t>
            </a:r>
            <a:r>
              <a:rPr sz="1400" dirty="0" err="1">
                <a:solidFill>
                  <a:schemeClr val="tx1"/>
                </a:solidFill>
                <a:latin typeface="Arial" panose="020B0604020202090204" pitchFamily="34" charset="0"/>
                <a:ea typeface="黑体" panose="02010609060101010101" pitchFamily="49" charset="-122"/>
              </a:rPr>
              <a:t>规则</a:t>
            </a:r>
            <a:endParaRPr sz="1400" dirty="0">
              <a:solidFill>
                <a:schemeClr val="tx1"/>
              </a:solidFill>
              <a:latin typeface="Arial" panose="020B0604020202090204" pitchFamily="34" charset="0"/>
              <a:ea typeface="黑体" panose="02010609060101010101" pitchFamily="49" charset="-122"/>
            </a:endParaRPr>
          </a:p>
        </p:txBody>
      </p:sp>
      <p:sp>
        <p:nvSpPr>
          <p:cNvPr id="20" name="Rounded Rectangle 19"/>
          <p:cNvSpPr/>
          <p:nvPr/>
        </p:nvSpPr>
        <p:spPr>
          <a:xfrm>
            <a:off x="8769595" y="3451149"/>
            <a:ext cx="1234440" cy="749808"/>
          </a:xfrm>
          <a:prstGeom prst="round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dirty="0">
                <a:solidFill>
                  <a:schemeClr val="tx1"/>
                </a:solidFill>
                <a:latin typeface="Arial" panose="020B0604020202090204" pitchFamily="34" charset="0"/>
                <a:ea typeface="黑体" panose="02010609060101010101" pitchFamily="49" charset="-122"/>
              </a:rPr>
              <a:t>Primary
+ Replicas</a:t>
            </a:r>
          </a:p>
        </p:txBody>
      </p:sp>
      <p:sp>
        <p:nvSpPr>
          <p:cNvPr id="36" name="Rectangle 1">
            <a:extLst>
              <a:ext uri="{FF2B5EF4-FFF2-40B4-BE49-F238E27FC236}">
                <a16:creationId xmlns:a16="http://schemas.microsoft.com/office/drawing/2014/main" id="{71883972-2F53-42AB-BA41-901035154138}"/>
              </a:ext>
            </a:extLst>
          </p:cNvPr>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Microsoft YaHei"/>
              </a:defRPr>
            </a:pPr>
            <a:r>
              <a:rPr dirty="0"/>
              <a:t>04</a:t>
            </a:r>
          </a:p>
        </p:txBody>
      </p:sp>
      <p:sp>
        <p:nvSpPr>
          <p:cNvPr id="37" name="灯片编号占位符 1">
            <a:extLst>
              <a:ext uri="{FF2B5EF4-FFF2-40B4-BE49-F238E27FC236}">
                <a16:creationId xmlns:a16="http://schemas.microsoft.com/office/drawing/2014/main" id="{61BAAA6E-7F50-44BB-AD88-3D95F628417C}"/>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z="1200" smtClean="0">
                <a:solidFill>
                  <a:schemeClr val="tx1">
                    <a:tint val="75000"/>
                  </a:schemeClr>
                </a:solidFill>
                <a:ea typeface="黑体" panose="02010609060101010101" pitchFamily="49" charset="-122"/>
              </a:rPr>
              <a:t>15</a:t>
            </a:fld>
            <a:endParaRPr lang="en-US" altLang="zh-CN" sz="1200" dirty="0">
              <a:solidFill>
                <a:schemeClr val="tx1">
                  <a:tint val="75000"/>
                </a:schemeClr>
              </a:solidFill>
              <a:ea typeface="黑体" panose="02010609060101010101" pitchFamily="49" charset="-122"/>
            </a:endParaRPr>
          </a:p>
        </p:txBody>
      </p:sp>
      <p:sp>
        <p:nvSpPr>
          <p:cNvPr id="38" name="Rounded Rectangle 6">
            <a:extLst>
              <a:ext uri="{FF2B5EF4-FFF2-40B4-BE49-F238E27FC236}">
                <a16:creationId xmlns:a16="http://schemas.microsoft.com/office/drawing/2014/main" id="{C6229F3B-42C1-4B1E-AFE0-2E861DDDDE7F}"/>
              </a:ext>
            </a:extLst>
          </p:cNvPr>
          <p:cNvSpPr/>
          <p:nvPr/>
        </p:nvSpPr>
        <p:spPr>
          <a:xfrm>
            <a:off x="1095716" y="2897531"/>
            <a:ext cx="4603557" cy="1431210"/>
          </a:xfrm>
          <a:prstGeom prst="roundRect">
            <a:avLst/>
          </a:prstGeom>
          <a:noFill/>
          <a:ln w="1905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文本框 38">
            <a:extLst>
              <a:ext uri="{FF2B5EF4-FFF2-40B4-BE49-F238E27FC236}">
                <a16:creationId xmlns:a16="http://schemas.microsoft.com/office/drawing/2014/main" id="{58031DA2-4228-40C5-92FA-4FB9B213242B}"/>
              </a:ext>
            </a:extLst>
          </p:cNvPr>
          <p:cNvSpPr txBox="1"/>
          <p:nvPr/>
        </p:nvSpPr>
        <p:spPr>
          <a:xfrm>
            <a:off x="531770" y="2960907"/>
            <a:ext cx="6096000" cy="369332"/>
          </a:xfrm>
          <a:prstGeom prst="rect">
            <a:avLst/>
          </a:prstGeom>
          <a:noFill/>
        </p:spPr>
        <p:txBody>
          <a:bodyPr wrap="square">
            <a:spAutoFit/>
          </a:bodyPr>
          <a:lstStyle/>
          <a:p>
            <a:pPr algn="ctr"/>
            <a:r>
              <a:rPr lang="zh-CN" altLang="en-US" sz="1800" dirty="0">
                <a:solidFill>
                  <a:schemeClr val="tx1"/>
                </a:solidFill>
                <a:latin typeface="Arial" panose="020B0604020202090204" pitchFamily="34" charset="0"/>
                <a:ea typeface="黑体" panose="02010609060101010101" pitchFamily="49" charset="-122"/>
              </a:rPr>
              <a:t>上层控制：</a:t>
            </a:r>
            <a:r>
              <a:rPr lang="en-US" altLang="zh-CN" sz="1800" dirty="0">
                <a:solidFill>
                  <a:schemeClr val="tx1"/>
                </a:solidFill>
                <a:latin typeface="Arial" panose="020B0604020202090204" pitchFamily="34" charset="0"/>
                <a:ea typeface="黑体" panose="02010609060101010101" pitchFamily="49" charset="-122"/>
              </a:rPr>
              <a:t>HNSW</a:t>
            </a:r>
            <a:r>
              <a:rPr lang="zh-CN" altLang="en-US" sz="1800" dirty="0">
                <a:solidFill>
                  <a:schemeClr val="tx1"/>
                </a:solidFill>
                <a:latin typeface="Arial" panose="020B0604020202090204" pitchFamily="34" charset="0"/>
                <a:ea typeface="黑体" panose="02010609060101010101" pitchFamily="49" charset="-122"/>
              </a:rPr>
              <a:t> 局部性</a:t>
            </a:r>
          </a:p>
        </p:txBody>
      </p:sp>
      <p:sp>
        <p:nvSpPr>
          <p:cNvPr id="40" name="文本框 39">
            <a:extLst>
              <a:ext uri="{FF2B5EF4-FFF2-40B4-BE49-F238E27FC236}">
                <a16:creationId xmlns:a16="http://schemas.microsoft.com/office/drawing/2014/main" id="{64334755-BD62-49FF-9AB7-E581D1BC5372}"/>
              </a:ext>
            </a:extLst>
          </p:cNvPr>
          <p:cNvSpPr txBox="1"/>
          <p:nvPr/>
        </p:nvSpPr>
        <p:spPr>
          <a:xfrm>
            <a:off x="5343570" y="2897531"/>
            <a:ext cx="6096000" cy="369332"/>
          </a:xfrm>
          <a:prstGeom prst="rect">
            <a:avLst/>
          </a:prstGeom>
          <a:noFill/>
        </p:spPr>
        <p:txBody>
          <a:bodyPr wrap="square">
            <a:spAutoFit/>
          </a:bodyPr>
          <a:lstStyle/>
          <a:p>
            <a:pPr algn="ctr"/>
            <a:r>
              <a:rPr lang="en-US" altLang="zh-CN" sz="1800" dirty="0" err="1">
                <a:solidFill>
                  <a:schemeClr val="tx1"/>
                </a:solidFill>
                <a:latin typeface="Arial" panose="020B0604020202090204" pitchFamily="34" charset="0"/>
                <a:ea typeface="黑体" panose="02010609060101010101" pitchFamily="49" charset="-122"/>
              </a:rPr>
              <a:t>Ceph</a:t>
            </a:r>
            <a:r>
              <a:rPr lang="en-US" altLang="zh-CN" sz="1800" dirty="0">
                <a:solidFill>
                  <a:schemeClr val="tx1"/>
                </a:solidFill>
                <a:latin typeface="Arial" panose="020B0604020202090204" pitchFamily="34" charset="0"/>
                <a:ea typeface="黑体" panose="02010609060101010101" pitchFamily="49" charset="-122"/>
              </a:rPr>
              <a:t> </a:t>
            </a:r>
            <a:r>
              <a:rPr lang="zh-CN" altLang="en-US" sz="1800" dirty="0">
                <a:solidFill>
                  <a:schemeClr val="tx1"/>
                </a:solidFill>
                <a:latin typeface="Arial" panose="020B0604020202090204" pitchFamily="34" charset="0"/>
                <a:ea typeface="黑体" panose="02010609060101010101" pitchFamily="49" charset="-122"/>
              </a:rPr>
              <a:t>原生：</a:t>
            </a:r>
            <a:r>
              <a:rPr lang="en-US" altLang="zh-CN" sz="1800" dirty="0">
                <a:solidFill>
                  <a:schemeClr val="tx1"/>
                </a:solidFill>
                <a:latin typeface="Arial" panose="020B0604020202090204" pitchFamily="34" charset="0"/>
                <a:ea typeface="黑体" panose="02010609060101010101" pitchFamily="49" charset="-122"/>
              </a:rPr>
              <a:t>CRUSH </a:t>
            </a:r>
            <a:r>
              <a:rPr lang="zh-CN" altLang="en-US" sz="1800" dirty="0">
                <a:solidFill>
                  <a:schemeClr val="tx1"/>
                </a:solidFill>
                <a:latin typeface="Arial" panose="020B0604020202090204" pitchFamily="34" charset="0"/>
                <a:ea typeface="黑体" panose="02010609060101010101" pitchFamily="49" charset="-122"/>
              </a:rPr>
              <a:t>容错映射</a:t>
            </a:r>
          </a:p>
        </p:txBody>
      </p:sp>
      <p:grpSp>
        <p:nvGrpSpPr>
          <p:cNvPr id="45" name="组合 44">
            <a:extLst>
              <a:ext uri="{FF2B5EF4-FFF2-40B4-BE49-F238E27FC236}">
                <a16:creationId xmlns:a16="http://schemas.microsoft.com/office/drawing/2014/main" id="{BDBBC6A1-6535-4A76-9199-E86D9038F6B2}"/>
              </a:ext>
            </a:extLst>
          </p:cNvPr>
          <p:cNvGrpSpPr/>
          <p:nvPr/>
        </p:nvGrpSpPr>
        <p:grpSpPr>
          <a:xfrm>
            <a:off x="855811" y="4669513"/>
            <a:ext cx="3003803" cy="1693052"/>
            <a:chOff x="841248" y="4232260"/>
            <a:chExt cx="3003803" cy="1693052"/>
          </a:xfrm>
        </p:grpSpPr>
        <p:sp>
          <p:nvSpPr>
            <p:cNvPr id="44" name="矩形 43">
              <a:extLst>
                <a:ext uri="{FF2B5EF4-FFF2-40B4-BE49-F238E27FC236}">
                  <a16:creationId xmlns:a16="http://schemas.microsoft.com/office/drawing/2014/main" id="{592B8735-21A3-446B-B963-F53F2F655479}"/>
                </a:ext>
              </a:extLst>
            </p:cNvPr>
            <p:cNvSpPr/>
            <p:nvPr/>
          </p:nvSpPr>
          <p:spPr bwMode="auto">
            <a:xfrm>
              <a:off x="841248" y="4234325"/>
              <a:ext cx="3003803" cy="1690987"/>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25" name="TextBox 24"/>
            <p:cNvSpPr txBox="1"/>
            <p:nvPr/>
          </p:nvSpPr>
          <p:spPr>
            <a:xfrm>
              <a:off x="1136070" y="4539460"/>
              <a:ext cx="2582628" cy="1306191"/>
            </a:xfrm>
            <a:prstGeom prst="rect">
              <a:avLst/>
            </a:prstGeom>
            <a:noFill/>
          </p:spPr>
          <p:txBody>
            <a:bodyPr wrap="square" lIns="73152" tIns="27432" rIns="73152" bIns="27432" anchor="t">
              <a:spAutoFit/>
            </a:bodyPr>
            <a:lstStyle/>
            <a:p>
              <a:pPr algn="l">
                <a:lnSpc>
                  <a:spcPct val="150000"/>
                </a:lnSpc>
              </a:pPr>
              <a:r>
                <a:rPr sz="1400" dirty="0" err="1">
                  <a:solidFill>
                    <a:schemeClr val="tx1"/>
                  </a:solidFill>
                </a:rPr>
                <a:t>根据插入搜索得到的邻居集合</a:t>
              </a:r>
              <a:r>
                <a:rPr sz="1400" dirty="0">
                  <a:solidFill>
                    <a:schemeClr val="tx1"/>
                  </a:solidFill>
                </a:rPr>
                <a:t> N(v)，</a:t>
              </a:r>
              <a:r>
                <a:rPr sz="1400" dirty="0" err="1">
                  <a:solidFill>
                    <a:schemeClr val="tx1"/>
                  </a:solidFill>
                </a:rPr>
                <a:t>统计邻居所属</a:t>
              </a:r>
              <a:r>
                <a:rPr sz="1400" dirty="0">
                  <a:solidFill>
                    <a:schemeClr val="tx1"/>
                  </a:solidFill>
                </a:rPr>
                <a:t> group；
</a:t>
              </a:r>
              <a:r>
                <a:rPr sz="1400" dirty="0" err="1">
                  <a:solidFill>
                    <a:schemeClr val="tx1"/>
                  </a:solidFill>
                </a:rPr>
                <a:t>优先选择图关联度最高的微型</a:t>
              </a:r>
              <a:r>
                <a:rPr sz="1400" dirty="0">
                  <a:solidFill>
                    <a:schemeClr val="tx1"/>
                  </a:solidFill>
                </a:rPr>
                <a:t> Locality Group。</a:t>
              </a:r>
            </a:p>
          </p:txBody>
        </p:sp>
        <p:sp>
          <p:nvSpPr>
            <p:cNvPr id="43" name="文本框 42">
              <a:extLst>
                <a:ext uri="{FF2B5EF4-FFF2-40B4-BE49-F238E27FC236}">
                  <a16:creationId xmlns:a16="http://schemas.microsoft.com/office/drawing/2014/main" id="{868953B5-060B-468A-ADC0-FD219B14049B}"/>
                </a:ext>
              </a:extLst>
            </p:cNvPr>
            <p:cNvSpPr txBox="1"/>
            <p:nvPr/>
          </p:nvSpPr>
          <p:spPr>
            <a:xfrm>
              <a:off x="1738497" y="4232260"/>
              <a:ext cx="1209304" cy="369332"/>
            </a:xfrm>
            <a:prstGeom prst="rect">
              <a:avLst/>
            </a:prstGeom>
            <a:noFill/>
          </p:spPr>
          <p:txBody>
            <a:bodyPr wrap="square">
              <a:spAutoFit/>
            </a:bodyPr>
            <a:lstStyle/>
            <a:p>
              <a:r>
                <a:rPr lang="zh-CN" altLang="en-US" sz="1800" dirty="0">
                  <a:solidFill>
                    <a:schemeClr val="tx1"/>
                  </a:solidFill>
                  <a:latin typeface="Arial" panose="020B0604020202090204" pitchFamily="34" charset="0"/>
                  <a:ea typeface="黑体" panose="02010609060101010101" pitchFamily="49" charset="-122"/>
                </a:rPr>
                <a:t>分组策略</a:t>
              </a:r>
              <a:endParaRPr lang="zh-CN" altLang="en-US" sz="1800" dirty="0"/>
            </a:p>
          </p:txBody>
        </p:sp>
      </p:grpSp>
      <p:grpSp>
        <p:nvGrpSpPr>
          <p:cNvPr id="46" name="组合 45">
            <a:extLst>
              <a:ext uri="{FF2B5EF4-FFF2-40B4-BE49-F238E27FC236}">
                <a16:creationId xmlns:a16="http://schemas.microsoft.com/office/drawing/2014/main" id="{8B9BD053-7839-489C-A7A5-2F0450DCA1A4}"/>
              </a:ext>
            </a:extLst>
          </p:cNvPr>
          <p:cNvGrpSpPr/>
          <p:nvPr/>
        </p:nvGrpSpPr>
        <p:grpSpPr>
          <a:xfrm>
            <a:off x="4335688" y="4669513"/>
            <a:ext cx="3003803" cy="1693052"/>
            <a:chOff x="841248" y="4232260"/>
            <a:chExt cx="3003803" cy="1693052"/>
          </a:xfrm>
        </p:grpSpPr>
        <p:sp>
          <p:nvSpPr>
            <p:cNvPr id="47" name="矩形 46">
              <a:extLst>
                <a:ext uri="{FF2B5EF4-FFF2-40B4-BE49-F238E27FC236}">
                  <a16:creationId xmlns:a16="http://schemas.microsoft.com/office/drawing/2014/main" id="{C1890982-CAAD-490A-8A30-1202B3146108}"/>
                </a:ext>
              </a:extLst>
            </p:cNvPr>
            <p:cNvSpPr/>
            <p:nvPr/>
          </p:nvSpPr>
          <p:spPr bwMode="auto">
            <a:xfrm>
              <a:off x="841248" y="4234325"/>
              <a:ext cx="3003803" cy="1690987"/>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48" name="TextBox 24">
              <a:extLst>
                <a:ext uri="{FF2B5EF4-FFF2-40B4-BE49-F238E27FC236}">
                  <a16:creationId xmlns:a16="http://schemas.microsoft.com/office/drawing/2014/main" id="{66997F7B-95F8-432D-BD08-C56613124197}"/>
                </a:ext>
              </a:extLst>
            </p:cNvPr>
            <p:cNvSpPr txBox="1"/>
            <p:nvPr/>
          </p:nvSpPr>
          <p:spPr>
            <a:xfrm>
              <a:off x="1136070" y="4539460"/>
              <a:ext cx="2582628" cy="1306191"/>
            </a:xfrm>
            <a:prstGeom prst="rect">
              <a:avLst/>
            </a:prstGeom>
            <a:noFill/>
          </p:spPr>
          <p:txBody>
            <a:bodyPr wrap="square" lIns="73152" tIns="27432" rIns="73152" bIns="27432" anchor="t">
              <a:spAutoFit/>
            </a:bodyPr>
            <a:lstStyle/>
            <a:p>
              <a:pPr>
                <a:lnSpc>
                  <a:spcPct val="150000"/>
                </a:lnSpc>
              </a:pPr>
              <a:r>
                <a:rPr lang="zh-CN" altLang="en-US" sz="1400" dirty="0">
                  <a:solidFill>
                    <a:schemeClr val="tx1"/>
                  </a:solidFill>
                </a:rPr>
                <a:t>评分：</a:t>
              </a:r>
              <a:r>
                <a:rPr lang="en-US" altLang="zh-CN" sz="1400" dirty="0">
                  <a:solidFill>
                    <a:schemeClr val="tx1"/>
                  </a:solidFill>
                </a:rPr>
                <a:t>Score(</a:t>
              </a:r>
              <a:r>
                <a:rPr lang="en-US" altLang="zh-CN" sz="1400" dirty="0" err="1">
                  <a:solidFill>
                    <a:schemeClr val="tx1"/>
                  </a:solidFill>
                </a:rPr>
                <a:t>v,g</a:t>
              </a:r>
              <a:r>
                <a:rPr lang="en-US" altLang="zh-CN" sz="1400" dirty="0">
                  <a:solidFill>
                    <a:schemeClr val="tx1"/>
                  </a:solidFill>
                </a:rPr>
                <a:t>)=</a:t>
              </a:r>
            </a:p>
            <a:p>
              <a:pPr>
                <a:lnSpc>
                  <a:spcPct val="150000"/>
                </a:lnSpc>
              </a:pPr>
              <a:r>
                <a:rPr lang="en-US" altLang="zh-CN" sz="1400" dirty="0">
                  <a:solidFill>
                    <a:schemeClr val="tx1"/>
                  </a:solidFill>
                </a:rPr>
                <a:t>Locality(</a:t>
              </a:r>
              <a:r>
                <a:rPr lang="en-US" altLang="zh-CN" sz="1400" dirty="0" err="1">
                  <a:solidFill>
                    <a:schemeClr val="tx1"/>
                  </a:solidFill>
                </a:rPr>
                <a:t>v,g</a:t>
              </a:r>
              <a:r>
                <a:rPr lang="en-US" altLang="zh-CN" sz="1400" dirty="0">
                  <a:solidFill>
                    <a:schemeClr val="tx1"/>
                  </a:solidFill>
                </a:rPr>
                <a:t>)−</a:t>
              </a:r>
              <a:r>
                <a:rPr lang="el-GR" altLang="zh-CN" sz="1400" dirty="0">
                  <a:solidFill>
                    <a:schemeClr val="tx1"/>
                  </a:solidFill>
                </a:rPr>
                <a:t>λ·</a:t>
              </a:r>
              <a:r>
                <a:rPr lang="en-US" altLang="zh-CN" sz="1400" dirty="0">
                  <a:solidFill>
                    <a:schemeClr val="tx1"/>
                  </a:solidFill>
                </a:rPr>
                <a:t>Load(g)</a:t>
              </a:r>
              <a:r>
                <a:rPr lang="zh-CN" altLang="en-US" sz="1400" dirty="0">
                  <a:solidFill>
                    <a:schemeClr val="tx1"/>
                  </a:solidFill>
                </a:rPr>
                <a:t>；
</a:t>
              </a:r>
              <a:r>
                <a:rPr lang="en-US" altLang="zh-CN" sz="1400" dirty="0">
                  <a:solidFill>
                    <a:schemeClr val="tx1"/>
                  </a:solidFill>
                </a:rPr>
                <a:t>Load </a:t>
              </a:r>
              <a:r>
                <a:rPr lang="zh-CN" altLang="en-US" sz="1400" dirty="0">
                  <a:solidFill>
                    <a:schemeClr val="tx1"/>
                  </a:solidFill>
                </a:rPr>
                <a:t>由 </a:t>
              </a:r>
              <a:r>
                <a:rPr lang="en-US" altLang="zh-CN" sz="1400" dirty="0">
                  <a:solidFill>
                    <a:schemeClr val="tx1"/>
                  </a:solidFill>
                </a:rPr>
                <a:t>group </a:t>
              </a:r>
              <a:r>
                <a:rPr lang="zh-CN" altLang="en-US" sz="1400" dirty="0">
                  <a:solidFill>
                    <a:schemeClr val="tx1"/>
                  </a:solidFill>
                </a:rPr>
                <a:t>容量、更新频率、</a:t>
              </a:r>
              <a:r>
                <a:rPr lang="en-US" altLang="zh-CN" sz="1400" dirty="0">
                  <a:solidFill>
                    <a:schemeClr val="tx1"/>
                  </a:solidFill>
                </a:rPr>
                <a:t>OSD queue </a:t>
              </a:r>
              <a:r>
                <a:rPr lang="zh-CN" altLang="en-US" sz="1400" dirty="0">
                  <a:solidFill>
                    <a:schemeClr val="tx1"/>
                  </a:solidFill>
                </a:rPr>
                <a:t>共同约束。</a:t>
              </a:r>
            </a:p>
          </p:txBody>
        </p:sp>
        <p:sp>
          <p:nvSpPr>
            <p:cNvPr id="49" name="文本框 48">
              <a:extLst>
                <a:ext uri="{FF2B5EF4-FFF2-40B4-BE49-F238E27FC236}">
                  <a16:creationId xmlns:a16="http://schemas.microsoft.com/office/drawing/2014/main" id="{6146D04B-5336-4F80-98A7-47E07B5E419F}"/>
                </a:ext>
              </a:extLst>
            </p:cNvPr>
            <p:cNvSpPr txBox="1"/>
            <p:nvPr/>
          </p:nvSpPr>
          <p:spPr>
            <a:xfrm>
              <a:off x="1738497" y="4232260"/>
              <a:ext cx="1209304" cy="369332"/>
            </a:xfrm>
            <a:prstGeom prst="rect">
              <a:avLst/>
            </a:prstGeom>
            <a:noFill/>
          </p:spPr>
          <p:txBody>
            <a:bodyPr wrap="square">
              <a:spAutoFit/>
            </a:bodyPr>
            <a:lstStyle/>
            <a:p>
              <a:r>
                <a:rPr lang="zh-CN" altLang="en-US" sz="1800" dirty="0">
                  <a:solidFill>
                    <a:schemeClr val="tx1"/>
                  </a:solidFill>
                </a:rPr>
                <a:t>负载约束</a:t>
              </a:r>
              <a:endParaRPr lang="zh-CN" altLang="en-US" sz="1800" dirty="0"/>
            </a:p>
          </p:txBody>
        </p:sp>
      </p:grpSp>
      <p:grpSp>
        <p:nvGrpSpPr>
          <p:cNvPr id="50" name="组合 49">
            <a:extLst>
              <a:ext uri="{FF2B5EF4-FFF2-40B4-BE49-F238E27FC236}">
                <a16:creationId xmlns:a16="http://schemas.microsoft.com/office/drawing/2014/main" id="{D1CA44AF-A75A-4110-A340-5A26AB11CB9E}"/>
              </a:ext>
            </a:extLst>
          </p:cNvPr>
          <p:cNvGrpSpPr/>
          <p:nvPr/>
        </p:nvGrpSpPr>
        <p:grpSpPr>
          <a:xfrm>
            <a:off x="7806950" y="4669513"/>
            <a:ext cx="3003803" cy="1693052"/>
            <a:chOff x="841248" y="4232260"/>
            <a:chExt cx="3003803" cy="1693052"/>
          </a:xfrm>
        </p:grpSpPr>
        <p:sp>
          <p:nvSpPr>
            <p:cNvPr id="51" name="矩形 50">
              <a:extLst>
                <a:ext uri="{FF2B5EF4-FFF2-40B4-BE49-F238E27FC236}">
                  <a16:creationId xmlns:a16="http://schemas.microsoft.com/office/drawing/2014/main" id="{3C0FA3FA-E6C7-4725-B8A5-BA5591F36569}"/>
                </a:ext>
              </a:extLst>
            </p:cNvPr>
            <p:cNvSpPr/>
            <p:nvPr/>
          </p:nvSpPr>
          <p:spPr bwMode="auto">
            <a:xfrm>
              <a:off x="841248" y="4234325"/>
              <a:ext cx="3003803" cy="1690987"/>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52" name="TextBox 24">
              <a:extLst>
                <a:ext uri="{FF2B5EF4-FFF2-40B4-BE49-F238E27FC236}">
                  <a16:creationId xmlns:a16="http://schemas.microsoft.com/office/drawing/2014/main" id="{92F77555-CF46-4F9B-A846-1085C04C1018}"/>
                </a:ext>
              </a:extLst>
            </p:cNvPr>
            <p:cNvSpPr txBox="1"/>
            <p:nvPr/>
          </p:nvSpPr>
          <p:spPr>
            <a:xfrm>
              <a:off x="1136070" y="4539460"/>
              <a:ext cx="2582628" cy="1306191"/>
            </a:xfrm>
            <a:prstGeom prst="rect">
              <a:avLst/>
            </a:prstGeom>
            <a:noFill/>
          </p:spPr>
          <p:txBody>
            <a:bodyPr wrap="square" lIns="73152" tIns="27432" rIns="73152" bIns="27432" anchor="t">
              <a:spAutoFit/>
            </a:bodyPr>
            <a:lstStyle/>
            <a:p>
              <a:pPr>
                <a:lnSpc>
                  <a:spcPct val="150000"/>
                </a:lnSpc>
              </a:pPr>
              <a:r>
                <a:rPr lang="en-US" altLang="zh-CN" sz="1400" dirty="0">
                  <a:solidFill>
                    <a:schemeClr val="tx1"/>
                  </a:solidFill>
                </a:rPr>
                <a:t>Group </a:t>
              </a:r>
              <a:r>
                <a:rPr lang="zh-CN" altLang="en-US" sz="1400" dirty="0">
                  <a:solidFill>
                    <a:schemeClr val="tx1"/>
                  </a:solidFill>
                </a:rPr>
                <a:t>达到 </a:t>
              </a:r>
              <a:r>
                <a:rPr lang="en-US" altLang="zh-CN" sz="1400" dirty="0">
                  <a:solidFill>
                    <a:schemeClr val="tx1"/>
                  </a:solidFill>
                </a:rPr>
                <a:t>Smax / </a:t>
              </a:r>
              <a:r>
                <a:rPr lang="en-US" altLang="zh-CN" sz="1400" dirty="0" err="1">
                  <a:solidFill>
                    <a:schemeClr val="tx1"/>
                  </a:solidFill>
                </a:rPr>
                <a:t>Bmax</a:t>
              </a:r>
              <a:r>
                <a:rPr lang="en-US" altLang="zh-CN" sz="1400" dirty="0">
                  <a:solidFill>
                    <a:schemeClr val="tx1"/>
                  </a:solidFill>
                </a:rPr>
                <a:t> / </a:t>
              </a:r>
              <a:r>
                <a:rPr lang="en-US" altLang="zh-CN" sz="1400" dirty="0" err="1">
                  <a:solidFill>
                    <a:schemeClr val="tx1"/>
                  </a:solidFill>
                </a:rPr>
                <a:t>Lmax</a:t>
              </a:r>
              <a:r>
                <a:rPr lang="en-US" altLang="zh-CN" sz="1400" dirty="0">
                  <a:solidFill>
                    <a:schemeClr val="tx1"/>
                  </a:solidFill>
                </a:rPr>
                <a:t> </a:t>
              </a:r>
              <a:r>
                <a:rPr lang="zh-CN" altLang="en-US" sz="1400" dirty="0">
                  <a:solidFill>
                    <a:schemeClr val="tx1"/>
                  </a:solidFill>
                </a:rPr>
                <a:t>后停止聚集；
跨 </a:t>
              </a:r>
              <a:r>
                <a:rPr lang="en-US" altLang="zh-CN" sz="1400" dirty="0">
                  <a:solidFill>
                    <a:schemeClr val="tx1"/>
                  </a:solidFill>
                </a:rPr>
                <a:t>group </a:t>
              </a:r>
              <a:r>
                <a:rPr lang="zh-CN" altLang="en-US" sz="1400" dirty="0">
                  <a:solidFill>
                    <a:schemeClr val="tx1"/>
                  </a:solidFill>
                </a:rPr>
                <a:t>边正常远程访问，边界副本用 </a:t>
              </a:r>
              <a:r>
                <a:rPr lang="en-US" altLang="zh-CN" sz="1400" dirty="0">
                  <a:solidFill>
                    <a:schemeClr val="tx1"/>
                  </a:solidFill>
                </a:rPr>
                <a:t>epoch </a:t>
              </a:r>
              <a:r>
                <a:rPr lang="zh-CN" altLang="en-US" sz="1400" dirty="0">
                  <a:solidFill>
                    <a:schemeClr val="tx1"/>
                  </a:solidFill>
                </a:rPr>
                <a:t>失效。</a:t>
              </a:r>
            </a:p>
          </p:txBody>
        </p:sp>
        <p:sp>
          <p:nvSpPr>
            <p:cNvPr id="53" name="文本框 52">
              <a:extLst>
                <a:ext uri="{FF2B5EF4-FFF2-40B4-BE49-F238E27FC236}">
                  <a16:creationId xmlns:a16="http://schemas.microsoft.com/office/drawing/2014/main" id="{374F1A06-BC85-4139-9AA7-9BB37DA93F16}"/>
                </a:ext>
              </a:extLst>
            </p:cNvPr>
            <p:cNvSpPr txBox="1"/>
            <p:nvPr/>
          </p:nvSpPr>
          <p:spPr>
            <a:xfrm>
              <a:off x="1738497" y="4232260"/>
              <a:ext cx="1209304" cy="369332"/>
            </a:xfrm>
            <a:prstGeom prst="rect">
              <a:avLst/>
            </a:prstGeom>
            <a:noFill/>
          </p:spPr>
          <p:txBody>
            <a:bodyPr wrap="square">
              <a:spAutoFit/>
            </a:bodyPr>
            <a:lstStyle/>
            <a:p>
              <a:r>
                <a:rPr lang="zh-CN" altLang="en-US" sz="1800" dirty="0">
                  <a:solidFill>
                    <a:schemeClr val="tx1"/>
                  </a:solidFill>
                  <a:latin typeface="Arial" panose="020B0604020202090204" pitchFamily="34" charset="0"/>
                  <a:ea typeface="黑体" panose="02010609060101010101" pitchFamily="49" charset="-122"/>
                </a:rPr>
                <a:t>边界处理</a:t>
              </a:r>
              <a:endParaRPr lang="zh-CN" altLang="en-US" sz="1800" dirty="0"/>
            </a:p>
          </p:txBody>
        </p:sp>
      </p:grpSp>
      <p:sp>
        <p:nvSpPr>
          <p:cNvPr id="5" name="TextBox 5">
            <a:extLst>
              <a:ext uri="{FF2B5EF4-FFF2-40B4-BE49-F238E27FC236}">
                <a16:creationId xmlns:a16="http://schemas.microsoft.com/office/drawing/2014/main" id="{9A5D4439-806A-FE38-32DE-EA236E1EF591}"/>
              </a:ext>
            </a:extLst>
          </p:cNvPr>
          <p:cNvSpPr txBox="1"/>
          <p:nvPr/>
        </p:nvSpPr>
        <p:spPr>
          <a:xfrm>
            <a:off x="764966" y="1776025"/>
            <a:ext cx="10659928" cy="332399"/>
          </a:xfrm>
          <a:prstGeom prst="rect">
            <a:avLst/>
          </a:prstGeom>
          <a:noFill/>
        </p:spPr>
        <p:txBody>
          <a:bodyPr wrap="square" lIns="73152" tIns="27432" rIns="73152" bIns="27432" anchor="ctr">
            <a:spAutoFit/>
          </a:bodyPr>
          <a:lstStyle/>
          <a:p>
            <a:pPr algn="just"/>
            <a:r>
              <a:rPr lang="zh-CN" altLang="en-US" sz="1800">
                <a:solidFill>
                  <a:srgbClr val="FF0000"/>
                </a:solidFill>
              </a:rPr>
              <a:t>瓶颈</a:t>
            </a:r>
            <a:r>
              <a:rPr sz="1800">
                <a:solidFill>
                  <a:schemeClr val="tx1"/>
                </a:solidFill>
              </a:rPr>
              <a:t>：</a:t>
            </a:r>
            <a:r>
              <a:rPr lang="zh-CN" altLang="en-US" sz="1800">
                <a:solidFill>
                  <a:schemeClr val="tx1"/>
                </a:solidFill>
              </a:rPr>
              <a:t>一次向量更新需要访问多个</a:t>
            </a:r>
            <a:r>
              <a:rPr lang="en-US" altLang="zh-CN" sz="1800">
                <a:solidFill>
                  <a:schemeClr val="tx1"/>
                </a:solidFill>
              </a:rPr>
              <a:t>OSD</a:t>
            </a:r>
            <a:r>
              <a:rPr lang="zh-CN" altLang="en-US" sz="1800">
                <a:solidFill>
                  <a:schemeClr val="tx1"/>
                </a:solidFill>
              </a:rPr>
              <a:t>，同时产生大量跨节点通信</a:t>
            </a:r>
            <a:endParaRPr lang="en-US" altLang="zh-CN" sz="1800" b="1">
              <a:solidFill>
                <a:schemeClr val="tx1"/>
              </a:solidFill>
              <a:latin typeface="Microsoft YaHe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Microsoft YaHei"/>
              </a:defRPr>
            </a:pPr>
            <a:r>
              <a:t>04</a:t>
            </a:r>
          </a:p>
        </p:txBody>
      </p:sp>
      <p:sp>
        <p:nvSpPr>
          <p:cNvPr id="3" name="TextBox 2"/>
          <p:cNvSpPr txBox="1"/>
          <p:nvPr/>
        </p:nvSpPr>
        <p:spPr>
          <a:xfrm>
            <a:off x="1508760" y="1024128"/>
            <a:ext cx="9692640" cy="502920"/>
          </a:xfrm>
          <a:prstGeom prst="rect">
            <a:avLst/>
          </a:prstGeom>
          <a:noFill/>
        </p:spPr>
        <p:txBody>
          <a:bodyPr wrap="square" lIns="54864" tIns="27432" rIns="54864" bIns="27432" anchor="ctr">
            <a:normAutofit fontScale="92500"/>
          </a:bodyPr>
          <a:lstStyle/>
          <a:p>
            <a:pPr>
              <a:defRPr sz="2600" b="0">
                <a:solidFill>
                  <a:srgbClr val="414141"/>
                </a:solidFill>
                <a:latin typeface="Microsoft YaHei"/>
              </a:defRPr>
            </a:pPr>
            <a:r>
              <a:rPr lang="zh-CN" altLang="en-US" sz="2300" dirty="0">
                <a:solidFill>
                  <a:schemeClr val="tx1"/>
                </a:solidFill>
                <a:latin typeface="Microsoft YaHei"/>
              </a:rPr>
              <a:t>优化设计二</a:t>
            </a:r>
            <a:r>
              <a:rPr sz="2300" dirty="0">
                <a:solidFill>
                  <a:schemeClr val="tx1"/>
                </a:solidFill>
                <a:latin typeface="Microsoft YaHei"/>
              </a:rPr>
              <a:t> – </a:t>
            </a:r>
            <a:r>
              <a:rPr sz="2300" dirty="0" err="1">
                <a:solidFill>
                  <a:schemeClr val="tx1"/>
                </a:solidFill>
                <a:latin typeface="Microsoft YaHei"/>
              </a:rPr>
              <a:t>远端执行层</a:t>
            </a:r>
            <a:r>
              <a:rPr sz="2300" dirty="0">
                <a:solidFill>
                  <a:schemeClr val="tx1"/>
                </a:solidFill>
                <a:latin typeface="Microsoft YaHei"/>
              </a:rPr>
              <a:t>：</a:t>
            </a:r>
            <a:r>
              <a:rPr lang="zh-CN" altLang="zh-CN" sz="2300" dirty="0">
                <a:solidFill>
                  <a:schemeClr val="tx1"/>
                </a:solidFill>
                <a:latin typeface="Microsoft YaHei"/>
              </a:rPr>
              <a:t>面向更新负载的两级请求聚合与拥塞感知执行机制</a:t>
            </a:r>
            <a:endParaRPr sz="2300" dirty="0">
              <a:solidFill>
                <a:schemeClr val="tx1"/>
              </a:solidFill>
              <a:latin typeface="Microsoft YaHei"/>
            </a:endParaRPr>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灯片编号占位符 1">
            <a:extLst>
              <a:ext uri="{FF2B5EF4-FFF2-40B4-BE49-F238E27FC236}">
                <a16:creationId xmlns:a16="http://schemas.microsoft.com/office/drawing/2014/main" id="{B980DAE4-DDCF-448F-B409-308D18E98D20}"/>
              </a:ext>
            </a:extLst>
          </p:cNvPr>
          <p:cNvSpPr>
            <a:spLocks noGrp="1"/>
          </p:cNvSpPr>
          <p:nvPr>
            <p:ph type="sldNum" sz="quarter" idx="12"/>
          </p:nvPr>
        </p:nvSpPr>
        <p:spPr>
          <a:xfrm>
            <a:off x="9192344" y="6381328"/>
            <a:ext cx="2743200" cy="365125"/>
          </a:xfrm>
        </p:spPr>
        <p:txBody>
          <a:bodyPr/>
          <a:lstStyle/>
          <a:p>
            <a:pPr>
              <a:defRPr/>
            </a:pPr>
            <a:fld id="{6A90D09A-ED5D-47CC-A45F-D492BA9A6C1B}" type="slidenum">
              <a:rPr lang="en-US" altLang="zh-CN" sz="1200" smtClean="0">
                <a:solidFill>
                  <a:schemeClr val="tx1">
                    <a:tint val="75000"/>
                  </a:schemeClr>
                </a:solidFill>
                <a:ea typeface="黑体" panose="02010609060101010101" pitchFamily="49" charset="-122"/>
              </a:rPr>
              <a:t>16</a:t>
            </a:fld>
            <a:endParaRPr lang="en-US" altLang="zh-CN" sz="1200" dirty="0">
              <a:solidFill>
                <a:schemeClr val="tx1">
                  <a:tint val="75000"/>
                </a:schemeClr>
              </a:solidFill>
              <a:ea typeface="黑体" panose="02010609060101010101" pitchFamily="49" charset="-122"/>
            </a:endParaRPr>
          </a:p>
        </p:txBody>
      </p:sp>
      <p:sp>
        <p:nvSpPr>
          <p:cNvPr id="5" name="矩形 4">
            <a:extLst>
              <a:ext uri="{FF2B5EF4-FFF2-40B4-BE49-F238E27FC236}">
                <a16:creationId xmlns:a16="http://schemas.microsoft.com/office/drawing/2014/main" id="{C0CD1B68-7477-42C4-AB6B-B2DE834A0628}"/>
              </a:ext>
            </a:extLst>
          </p:cNvPr>
          <p:cNvSpPr/>
          <p:nvPr/>
        </p:nvSpPr>
        <p:spPr bwMode="auto">
          <a:xfrm>
            <a:off x="3605664" y="1756775"/>
            <a:ext cx="1080120" cy="3399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客户端</a:t>
            </a:r>
            <a:r>
              <a:rPr kumimoji="1" lang="en-US" altLang="zh-CN"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-1</a:t>
            </a:r>
            <a:endPar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59" name="矩形 58">
            <a:extLst>
              <a:ext uri="{FF2B5EF4-FFF2-40B4-BE49-F238E27FC236}">
                <a16:creationId xmlns:a16="http://schemas.microsoft.com/office/drawing/2014/main" id="{7C7FC22F-1C27-4C9B-88A0-1A28C26232E3}"/>
              </a:ext>
            </a:extLst>
          </p:cNvPr>
          <p:cNvSpPr/>
          <p:nvPr/>
        </p:nvSpPr>
        <p:spPr bwMode="auto">
          <a:xfrm>
            <a:off x="6440891" y="1771517"/>
            <a:ext cx="1014169" cy="3399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客户端</a:t>
            </a:r>
            <a:r>
              <a:rPr kumimoji="1" lang="en-US" altLang="zh-CN"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-2</a:t>
            </a:r>
            <a:endPar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60" name="矩形 59">
            <a:extLst>
              <a:ext uri="{FF2B5EF4-FFF2-40B4-BE49-F238E27FC236}">
                <a16:creationId xmlns:a16="http://schemas.microsoft.com/office/drawing/2014/main" id="{FF228396-DBC1-47F5-B0F7-0D17156186D8}"/>
              </a:ext>
            </a:extLst>
          </p:cNvPr>
          <p:cNvSpPr/>
          <p:nvPr/>
        </p:nvSpPr>
        <p:spPr bwMode="auto">
          <a:xfrm>
            <a:off x="9479291" y="1759742"/>
            <a:ext cx="1014165" cy="3399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客户端</a:t>
            </a:r>
            <a:r>
              <a:rPr kumimoji="1" lang="en-US" altLang="zh-CN"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-n</a:t>
            </a:r>
            <a:endPar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61" name="文本框 60">
            <a:extLst>
              <a:ext uri="{FF2B5EF4-FFF2-40B4-BE49-F238E27FC236}">
                <a16:creationId xmlns:a16="http://schemas.microsoft.com/office/drawing/2014/main" id="{BD415CCA-7227-4F4F-AD86-130743089FAD}"/>
              </a:ext>
            </a:extLst>
          </p:cNvPr>
          <p:cNvSpPr txBox="1"/>
          <p:nvPr/>
        </p:nvSpPr>
        <p:spPr>
          <a:xfrm>
            <a:off x="499513" y="2883055"/>
            <a:ext cx="1830144" cy="783163"/>
          </a:xfrm>
          <a:prstGeom prst="rect">
            <a:avLst/>
          </a:prstGeom>
          <a:noFill/>
        </p:spPr>
        <p:txBody>
          <a:bodyPr wrap="square" rtlCol="0">
            <a:spAutoFit/>
          </a:bodyPr>
          <a:lstStyle/>
          <a:p>
            <a:pPr algn="ctr">
              <a:lnSpc>
                <a:spcPct val="150000"/>
              </a:lnSpc>
            </a:pPr>
            <a:r>
              <a:rPr lang="zh-CN" altLang="en-US" sz="1600" b="1" dirty="0">
                <a:solidFill>
                  <a:srgbClr val="FF0000"/>
                </a:solidFill>
              </a:rPr>
              <a:t>第一级聚合</a:t>
            </a:r>
            <a:r>
              <a:rPr lang="zh-CN" altLang="en-US" sz="1600" dirty="0">
                <a:solidFill>
                  <a:schemeClr val="tx1"/>
                </a:solidFill>
              </a:rPr>
              <a:t>：</a:t>
            </a:r>
            <a:endParaRPr lang="en-US" altLang="zh-CN" sz="1600" dirty="0">
              <a:solidFill>
                <a:schemeClr val="tx1"/>
              </a:solidFill>
            </a:endParaRPr>
          </a:p>
          <a:p>
            <a:pPr algn="ctr">
              <a:lnSpc>
                <a:spcPct val="150000"/>
              </a:lnSpc>
            </a:pPr>
            <a:r>
              <a:rPr lang="zh-CN" altLang="en-US" sz="1600" dirty="0">
                <a:solidFill>
                  <a:schemeClr val="tx1"/>
                </a:solidFill>
              </a:rPr>
              <a:t>客户端侧批量聚合</a:t>
            </a:r>
          </a:p>
        </p:txBody>
      </p:sp>
      <p:cxnSp>
        <p:nvCxnSpPr>
          <p:cNvPr id="63" name="直接箭头连接符 62">
            <a:extLst>
              <a:ext uri="{FF2B5EF4-FFF2-40B4-BE49-F238E27FC236}">
                <a16:creationId xmlns:a16="http://schemas.microsoft.com/office/drawing/2014/main" id="{7D671DEF-0D2C-4A97-95B9-57DB3D9FE319}"/>
              </a:ext>
            </a:extLst>
          </p:cNvPr>
          <p:cNvCxnSpPr>
            <a:cxnSpLocks/>
            <a:stCxn id="5" idx="2"/>
            <a:endCxn id="21" idx="0"/>
          </p:cNvCxnSpPr>
          <p:nvPr/>
        </p:nvCxnSpPr>
        <p:spPr bwMode="auto">
          <a:xfrm>
            <a:off x="4145724" y="2096740"/>
            <a:ext cx="0" cy="3418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2" name="组合 81">
            <a:extLst>
              <a:ext uri="{FF2B5EF4-FFF2-40B4-BE49-F238E27FC236}">
                <a16:creationId xmlns:a16="http://schemas.microsoft.com/office/drawing/2014/main" id="{6F22F85F-9ECE-48E6-9BF5-2D91B7E5D2FA}"/>
              </a:ext>
            </a:extLst>
          </p:cNvPr>
          <p:cNvGrpSpPr/>
          <p:nvPr/>
        </p:nvGrpSpPr>
        <p:grpSpPr>
          <a:xfrm>
            <a:off x="2783632" y="2438580"/>
            <a:ext cx="2824014" cy="1224136"/>
            <a:chOff x="3539716" y="2420888"/>
            <a:chExt cx="2824014" cy="1224136"/>
          </a:xfrm>
        </p:grpSpPr>
        <p:sp>
          <p:nvSpPr>
            <p:cNvPr id="21" name="矩形 20">
              <a:extLst>
                <a:ext uri="{FF2B5EF4-FFF2-40B4-BE49-F238E27FC236}">
                  <a16:creationId xmlns:a16="http://schemas.microsoft.com/office/drawing/2014/main" id="{3A501D37-AF56-4B7C-B91E-75FDC21EBA6F}"/>
                </a:ext>
              </a:extLst>
            </p:cNvPr>
            <p:cNvSpPr/>
            <p:nvPr/>
          </p:nvSpPr>
          <p:spPr bwMode="auto">
            <a:xfrm>
              <a:off x="3539716" y="2420888"/>
              <a:ext cx="2724184" cy="1224136"/>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25" name="文本框 24">
              <a:extLst>
                <a:ext uri="{FF2B5EF4-FFF2-40B4-BE49-F238E27FC236}">
                  <a16:creationId xmlns:a16="http://schemas.microsoft.com/office/drawing/2014/main" id="{E6586FE7-9293-495D-AE9F-A4DD914F69FD}"/>
                </a:ext>
              </a:extLst>
            </p:cNvPr>
            <p:cNvSpPr txBox="1"/>
            <p:nvPr/>
          </p:nvSpPr>
          <p:spPr>
            <a:xfrm>
              <a:off x="4289740" y="2450184"/>
              <a:ext cx="1224136" cy="338554"/>
            </a:xfrm>
            <a:prstGeom prst="rect">
              <a:avLst/>
            </a:prstGeom>
            <a:noFill/>
          </p:spPr>
          <p:txBody>
            <a:bodyPr wrap="square" rtlCol="0">
              <a:spAutoFit/>
            </a:bodyPr>
            <a:lstStyle/>
            <a:p>
              <a:r>
                <a:rPr lang="zh-CN" altLang="en-US" sz="1600" dirty="0">
                  <a:solidFill>
                    <a:schemeClr val="tx1"/>
                  </a:solidFill>
                </a:rPr>
                <a:t>本地批处理</a:t>
              </a:r>
            </a:p>
          </p:txBody>
        </p:sp>
        <p:grpSp>
          <p:nvGrpSpPr>
            <p:cNvPr id="67" name="组合 66">
              <a:extLst>
                <a:ext uri="{FF2B5EF4-FFF2-40B4-BE49-F238E27FC236}">
                  <a16:creationId xmlns:a16="http://schemas.microsoft.com/office/drawing/2014/main" id="{54E9E127-0FAE-425D-A74C-28FE64FE18D9}"/>
                </a:ext>
              </a:extLst>
            </p:cNvPr>
            <p:cNvGrpSpPr/>
            <p:nvPr/>
          </p:nvGrpSpPr>
          <p:grpSpPr>
            <a:xfrm>
              <a:off x="3647728" y="2776560"/>
              <a:ext cx="1224136" cy="356665"/>
              <a:chOff x="3647728" y="2776560"/>
              <a:chExt cx="1224136" cy="356665"/>
            </a:xfrm>
          </p:grpSpPr>
          <p:sp>
            <p:nvSpPr>
              <p:cNvPr id="65" name="矩形 64">
                <a:extLst>
                  <a:ext uri="{FF2B5EF4-FFF2-40B4-BE49-F238E27FC236}">
                    <a16:creationId xmlns:a16="http://schemas.microsoft.com/office/drawing/2014/main" id="{B3B10874-9268-4918-B69A-D1D8382D6032}"/>
                  </a:ext>
                </a:extLst>
              </p:cNvPr>
              <p:cNvSpPr/>
              <p:nvPr/>
            </p:nvSpPr>
            <p:spPr bwMode="auto">
              <a:xfrm>
                <a:off x="3647728" y="2776560"/>
                <a:ext cx="936104" cy="3566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66" name="文本框 65">
                <a:extLst>
                  <a:ext uri="{FF2B5EF4-FFF2-40B4-BE49-F238E27FC236}">
                    <a16:creationId xmlns:a16="http://schemas.microsoft.com/office/drawing/2014/main" id="{6886DF82-75EF-4423-96D1-4EDC8F7A9EEC}"/>
                  </a:ext>
                </a:extLst>
              </p:cNvPr>
              <p:cNvSpPr txBox="1"/>
              <p:nvPr/>
            </p:nvSpPr>
            <p:spPr>
              <a:xfrm>
                <a:off x="3647728" y="2782493"/>
                <a:ext cx="1224136" cy="307777"/>
              </a:xfrm>
              <a:prstGeom prst="rect">
                <a:avLst/>
              </a:prstGeom>
              <a:noFill/>
            </p:spPr>
            <p:txBody>
              <a:bodyPr wrap="square" rtlCol="0">
                <a:spAutoFit/>
              </a:bodyPr>
              <a:lstStyle/>
              <a:p>
                <a:r>
                  <a:rPr lang="zh-CN" altLang="en-US" sz="1400" dirty="0">
                    <a:solidFill>
                      <a:schemeClr val="tx1"/>
                    </a:solidFill>
                  </a:rPr>
                  <a:t>请求分组</a:t>
                </a:r>
              </a:p>
            </p:txBody>
          </p:sp>
        </p:grpSp>
        <p:grpSp>
          <p:nvGrpSpPr>
            <p:cNvPr id="68" name="组合 67">
              <a:extLst>
                <a:ext uri="{FF2B5EF4-FFF2-40B4-BE49-F238E27FC236}">
                  <a16:creationId xmlns:a16="http://schemas.microsoft.com/office/drawing/2014/main" id="{80DEEE3E-9D2F-4463-8008-A8F203976163}"/>
                </a:ext>
              </a:extLst>
            </p:cNvPr>
            <p:cNvGrpSpPr/>
            <p:nvPr/>
          </p:nvGrpSpPr>
          <p:grpSpPr>
            <a:xfrm>
              <a:off x="5139594" y="2773437"/>
              <a:ext cx="1224136" cy="356665"/>
              <a:chOff x="3647728" y="2776560"/>
              <a:chExt cx="1224136" cy="356665"/>
            </a:xfrm>
          </p:grpSpPr>
          <p:sp>
            <p:nvSpPr>
              <p:cNvPr id="69" name="矩形 68">
                <a:extLst>
                  <a:ext uri="{FF2B5EF4-FFF2-40B4-BE49-F238E27FC236}">
                    <a16:creationId xmlns:a16="http://schemas.microsoft.com/office/drawing/2014/main" id="{34F40635-FE79-48CC-A89D-7CB7ECB4C04A}"/>
                  </a:ext>
                </a:extLst>
              </p:cNvPr>
              <p:cNvSpPr/>
              <p:nvPr/>
            </p:nvSpPr>
            <p:spPr bwMode="auto">
              <a:xfrm>
                <a:off x="3647728" y="2776560"/>
                <a:ext cx="936104" cy="3566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70" name="文本框 69">
                <a:extLst>
                  <a:ext uri="{FF2B5EF4-FFF2-40B4-BE49-F238E27FC236}">
                    <a16:creationId xmlns:a16="http://schemas.microsoft.com/office/drawing/2014/main" id="{AA35C002-F0C8-45DA-BF6F-1B09B45627B1}"/>
                  </a:ext>
                </a:extLst>
              </p:cNvPr>
              <p:cNvSpPr txBox="1"/>
              <p:nvPr/>
            </p:nvSpPr>
            <p:spPr>
              <a:xfrm>
                <a:off x="3647728" y="2782493"/>
                <a:ext cx="1224136" cy="307777"/>
              </a:xfrm>
              <a:prstGeom prst="rect">
                <a:avLst/>
              </a:prstGeom>
              <a:noFill/>
            </p:spPr>
            <p:txBody>
              <a:bodyPr wrap="square" rtlCol="0">
                <a:spAutoFit/>
              </a:bodyPr>
              <a:lstStyle/>
              <a:p>
                <a:r>
                  <a:rPr lang="zh-CN" altLang="en-US" sz="1400" dirty="0">
                    <a:solidFill>
                      <a:schemeClr val="tx1"/>
                    </a:solidFill>
                  </a:rPr>
                  <a:t>批量封装</a:t>
                </a:r>
              </a:p>
            </p:txBody>
          </p:sp>
        </p:grpSp>
        <p:cxnSp>
          <p:nvCxnSpPr>
            <p:cNvPr id="73" name="直接箭头连接符 72">
              <a:extLst>
                <a:ext uri="{FF2B5EF4-FFF2-40B4-BE49-F238E27FC236}">
                  <a16:creationId xmlns:a16="http://schemas.microsoft.com/office/drawing/2014/main" id="{F3E0E031-9FB9-4B7A-9563-CC2D80BD439B}"/>
                </a:ext>
              </a:extLst>
            </p:cNvPr>
            <p:cNvCxnSpPr>
              <a:cxnSpLocks/>
            </p:cNvCxnSpPr>
            <p:nvPr/>
          </p:nvCxnSpPr>
          <p:spPr bwMode="auto">
            <a:xfrm>
              <a:off x="4634808" y="2951771"/>
              <a:ext cx="5047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文本框 73">
              <a:extLst>
                <a:ext uri="{FF2B5EF4-FFF2-40B4-BE49-F238E27FC236}">
                  <a16:creationId xmlns:a16="http://schemas.microsoft.com/office/drawing/2014/main" id="{2E43E13E-86FA-48BB-9D1B-0D2880EAEFEF}"/>
                </a:ext>
              </a:extLst>
            </p:cNvPr>
            <p:cNvSpPr txBox="1"/>
            <p:nvPr/>
          </p:nvSpPr>
          <p:spPr>
            <a:xfrm>
              <a:off x="4029861" y="3204442"/>
              <a:ext cx="2283954" cy="307777"/>
            </a:xfrm>
            <a:prstGeom prst="rect">
              <a:avLst/>
            </a:prstGeom>
            <a:noFill/>
          </p:spPr>
          <p:txBody>
            <a:bodyPr wrap="square" rtlCol="0">
              <a:spAutoFit/>
            </a:bodyPr>
            <a:lstStyle/>
            <a:p>
              <a:r>
                <a:rPr lang="zh-CN" altLang="en-US" sz="1400" dirty="0">
                  <a:solidFill>
                    <a:schemeClr val="tx1"/>
                  </a:solidFill>
                </a:rPr>
                <a:t>批大小自适应调整</a:t>
              </a:r>
            </a:p>
          </p:txBody>
        </p:sp>
      </p:grpSp>
      <p:sp>
        <p:nvSpPr>
          <p:cNvPr id="80" name="文本框 79">
            <a:extLst>
              <a:ext uri="{FF2B5EF4-FFF2-40B4-BE49-F238E27FC236}">
                <a16:creationId xmlns:a16="http://schemas.microsoft.com/office/drawing/2014/main" id="{CD635744-E9F5-4FBF-BDDF-AC8912C7AF8A}"/>
              </a:ext>
            </a:extLst>
          </p:cNvPr>
          <p:cNvSpPr txBox="1"/>
          <p:nvPr/>
        </p:nvSpPr>
        <p:spPr>
          <a:xfrm>
            <a:off x="8114869" y="1700773"/>
            <a:ext cx="1014165"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grpSp>
        <p:nvGrpSpPr>
          <p:cNvPr id="83" name="组合 82">
            <a:extLst>
              <a:ext uri="{FF2B5EF4-FFF2-40B4-BE49-F238E27FC236}">
                <a16:creationId xmlns:a16="http://schemas.microsoft.com/office/drawing/2014/main" id="{F6EADC2C-19E4-4C5B-9986-F664663125C6}"/>
              </a:ext>
            </a:extLst>
          </p:cNvPr>
          <p:cNvGrpSpPr/>
          <p:nvPr/>
        </p:nvGrpSpPr>
        <p:grpSpPr>
          <a:xfrm>
            <a:off x="5615828" y="2438580"/>
            <a:ext cx="2824014" cy="1224136"/>
            <a:chOff x="3539716" y="2420888"/>
            <a:chExt cx="2824014" cy="1224136"/>
          </a:xfrm>
        </p:grpSpPr>
        <p:sp>
          <p:nvSpPr>
            <p:cNvPr id="84" name="矩形 83">
              <a:extLst>
                <a:ext uri="{FF2B5EF4-FFF2-40B4-BE49-F238E27FC236}">
                  <a16:creationId xmlns:a16="http://schemas.microsoft.com/office/drawing/2014/main" id="{F484EA0B-EA0B-481C-8433-3E782C755414}"/>
                </a:ext>
              </a:extLst>
            </p:cNvPr>
            <p:cNvSpPr/>
            <p:nvPr/>
          </p:nvSpPr>
          <p:spPr bwMode="auto">
            <a:xfrm>
              <a:off x="3539716" y="2420888"/>
              <a:ext cx="2724184" cy="1224136"/>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85" name="文本框 84">
              <a:extLst>
                <a:ext uri="{FF2B5EF4-FFF2-40B4-BE49-F238E27FC236}">
                  <a16:creationId xmlns:a16="http://schemas.microsoft.com/office/drawing/2014/main" id="{E97A24CD-157A-449A-AA89-1EA49BC9A0D0}"/>
                </a:ext>
              </a:extLst>
            </p:cNvPr>
            <p:cNvSpPr txBox="1"/>
            <p:nvPr/>
          </p:nvSpPr>
          <p:spPr>
            <a:xfrm>
              <a:off x="4289740" y="2450184"/>
              <a:ext cx="1224136" cy="338554"/>
            </a:xfrm>
            <a:prstGeom prst="rect">
              <a:avLst/>
            </a:prstGeom>
            <a:noFill/>
          </p:spPr>
          <p:txBody>
            <a:bodyPr wrap="square" rtlCol="0">
              <a:spAutoFit/>
            </a:bodyPr>
            <a:lstStyle/>
            <a:p>
              <a:r>
                <a:rPr lang="zh-CN" altLang="en-US" sz="1600" dirty="0">
                  <a:solidFill>
                    <a:schemeClr val="tx1"/>
                  </a:solidFill>
                </a:rPr>
                <a:t>本地批处理</a:t>
              </a:r>
            </a:p>
          </p:txBody>
        </p:sp>
        <p:grpSp>
          <p:nvGrpSpPr>
            <p:cNvPr id="86" name="组合 85">
              <a:extLst>
                <a:ext uri="{FF2B5EF4-FFF2-40B4-BE49-F238E27FC236}">
                  <a16:creationId xmlns:a16="http://schemas.microsoft.com/office/drawing/2014/main" id="{29EA4EFF-4A3B-4E1E-9456-AE82B6AC53BA}"/>
                </a:ext>
              </a:extLst>
            </p:cNvPr>
            <p:cNvGrpSpPr/>
            <p:nvPr/>
          </p:nvGrpSpPr>
          <p:grpSpPr>
            <a:xfrm>
              <a:off x="3647728" y="2776560"/>
              <a:ext cx="1224136" cy="356665"/>
              <a:chOff x="3647728" y="2776560"/>
              <a:chExt cx="1224136" cy="356665"/>
            </a:xfrm>
          </p:grpSpPr>
          <p:sp>
            <p:nvSpPr>
              <p:cNvPr id="92" name="矩形 91">
                <a:extLst>
                  <a:ext uri="{FF2B5EF4-FFF2-40B4-BE49-F238E27FC236}">
                    <a16:creationId xmlns:a16="http://schemas.microsoft.com/office/drawing/2014/main" id="{42C748FD-F9BE-4E16-9561-F0A65AFEA472}"/>
                  </a:ext>
                </a:extLst>
              </p:cNvPr>
              <p:cNvSpPr/>
              <p:nvPr/>
            </p:nvSpPr>
            <p:spPr bwMode="auto">
              <a:xfrm>
                <a:off x="3647728" y="2776560"/>
                <a:ext cx="936104" cy="3566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93" name="文本框 92">
                <a:extLst>
                  <a:ext uri="{FF2B5EF4-FFF2-40B4-BE49-F238E27FC236}">
                    <a16:creationId xmlns:a16="http://schemas.microsoft.com/office/drawing/2014/main" id="{717C4DD4-4BC3-4B95-8BF7-41682CB1D110}"/>
                  </a:ext>
                </a:extLst>
              </p:cNvPr>
              <p:cNvSpPr txBox="1"/>
              <p:nvPr/>
            </p:nvSpPr>
            <p:spPr>
              <a:xfrm>
                <a:off x="3647728" y="2782493"/>
                <a:ext cx="1224136" cy="307777"/>
              </a:xfrm>
              <a:prstGeom prst="rect">
                <a:avLst/>
              </a:prstGeom>
              <a:noFill/>
            </p:spPr>
            <p:txBody>
              <a:bodyPr wrap="square" rtlCol="0">
                <a:spAutoFit/>
              </a:bodyPr>
              <a:lstStyle/>
              <a:p>
                <a:r>
                  <a:rPr lang="zh-CN" altLang="en-US" sz="1400" dirty="0">
                    <a:solidFill>
                      <a:schemeClr val="tx1"/>
                    </a:solidFill>
                  </a:rPr>
                  <a:t>请求分组</a:t>
                </a:r>
              </a:p>
            </p:txBody>
          </p:sp>
        </p:grpSp>
        <p:grpSp>
          <p:nvGrpSpPr>
            <p:cNvPr id="87" name="组合 86">
              <a:extLst>
                <a:ext uri="{FF2B5EF4-FFF2-40B4-BE49-F238E27FC236}">
                  <a16:creationId xmlns:a16="http://schemas.microsoft.com/office/drawing/2014/main" id="{91B80530-2302-4D84-B4B6-75BB975F6736}"/>
                </a:ext>
              </a:extLst>
            </p:cNvPr>
            <p:cNvGrpSpPr/>
            <p:nvPr/>
          </p:nvGrpSpPr>
          <p:grpSpPr>
            <a:xfrm>
              <a:off x="5139594" y="2773437"/>
              <a:ext cx="1224136" cy="356665"/>
              <a:chOff x="3647728" y="2776560"/>
              <a:chExt cx="1224136" cy="356665"/>
            </a:xfrm>
          </p:grpSpPr>
          <p:sp>
            <p:nvSpPr>
              <p:cNvPr id="90" name="矩形 89">
                <a:extLst>
                  <a:ext uri="{FF2B5EF4-FFF2-40B4-BE49-F238E27FC236}">
                    <a16:creationId xmlns:a16="http://schemas.microsoft.com/office/drawing/2014/main" id="{AF27DC20-BD5F-4CE7-A069-978CB08F0786}"/>
                  </a:ext>
                </a:extLst>
              </p:cNvPr>
              <p:cNvSpPr/>
              <p:nvPr/>
            </p:nvSpPr>
            <p:spPr bwMode="auto">
              <a:xfrm>
                <a:off x="3647728" y="2776560"/>
                <a:ext cx="936104" cy="3566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91" name="文本框 90">
                <a:extLst>
                  <a:ext uri="{FF2B5EF4-FFF2-40B4-BE49-F238E27FC236}">
                    <a16:creationId xmlns:a16="http://schemas.microsoft.com/office/drawing/2014/main" id="{A3CAB2B7-9019-4055-9564-A62B6F5433CE}"/>
                  </a:ext>
                </a:extLst>
              </p:cNvPr>
              <p:cNvSpPr txBox="1"/>
              <p:nvPr/>
            </p:nvSpPr>
            <p:spPr>
              <a:xfrm>
                <a:off x="3647728" y="2782493"/>
                <a:ext cx="1224136" cy="307777"/>
              </a:xfrm>
              <a:prstGeom prst="rect">
                <a:avLst/>
              </a:prstGeom>
              <a:noFill/>
            </p:spPr>
            <p:txBody>
              <a:bodyPr wrap="square" rtlCol="0">
                <a:spAutoFit/>
              </a:bodyPr>
              <a:lstStyle/>
              <a:p>
                <a:r>
                  <a:rPr lang="zh-CN" altLang="en-US" sz="1400" dirty="0">
                    <a:solidFill>
                      <a:schemeClr val="tx1"/>
                    </a:solidFill>
                  </a:rPr>
                  <a:t>批量封装</a:t>
                </a:r>
              </a:p>
            </p:txBody>
          </p:sp>
        </p:grpSp>
        <p:cxnSp>
          <p:nvCxnSpPr>
            <p:cNvPr id="88" name="直接箭头连接符 87">
              <a:extLst>
                <a:ext uri="{FF2B5EF4-FFF2-40B4-BE49-F238E27FC236}">
                  <a16:creationId xmlns:a16="http://schemas.microsoft.com/office/drawing/2014/main" id="{0BFB87F0-A210-4540-85D7-5D120B1B6882}"/>
                </a:ext>
              </a:extLst>
            </p:cNvPr>
            <p:cNvCxnSpPr>
              <a:cxnSpLocks/>
            </p:cNvCxnSpPr>
            <p:nvPr/>
          </p:nvCxnSpPr>
          <p:spPr bwMode="auto">
            <a:xfrm>
              <a:off x="4634808" y="2951771"/>
              <a:ext cx="5047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59A972D7-491C-4CD9-AD7E-7BF938A2F73A}"/>
                </a:ext>
              </a:extLst>
            </p:cNvPr>
            <p:cNvSpPr txBox="1"/>
            <p:nvPr/>
          </p:nvSpPr>
          <p:spPr>
            <a:xfrm>
              <a:off x="4029861" y="3204442"/>
              <a:ext cx="2283954" cy="307777"/>
            </a:xfrm>
            <a:prstGeom prst="rect">
              <a:avLst/>
            </a:prstGeom>
            <a:noFill/>
          </p:spPr>
          <p:txBody>
            <a:bodyPr wrap="square" rtlCol="0">
              <a:spAutoFit/>
            </a:bodyPr>
            <a:lstStyle/>
            <a:p>
              <a:r>
                <a:rPr lang="zh-CN" altLang="en-US" sz="1400" dirty="0">
                  <a:solidFill>
                    <a:schemeClr val="tx1"/>
                  </a:solidFill>
                </a:rPr>
                <a:t>批大小自适应调整</a:t>
              </a:r>
            </a:p>
          </p:txBody>
        </p:sp>
      </p:grpSp>
      <p:grpSp>
        <p:nvGrpSpPr>
          <p:cNvPr id="94" name="组合 93">
            <a:extLst>
              <a:ext uri="{FF2B5EF4-FFF2-40B4-BE49-F238E27FC236}">
                <a16:creationId xmlns:a16="http://schemas.microsoft.com/office/drawing/2014/main" id="{A6BA2A30-8B87-447B-891A-B7C96BB6DDB1}"/>
              </a:ext>
            </a:extLst>
          </p:cNvPr>
          <p:cNvGrpSpPr/>
          <p:nvPr/>
        </p:nvGrpSpPr>
        <p:grpSpPr>
          <a:xfrm>
            <a:off x="8638889" y="2438580"/>
            <a:ext cx="2824014" cy="1224136"/>
            <a:chOff x="3539716" y="2420888"/>
            <a:chExt cx="2824014" cy="1224136"/>
          </a:xfrm>
        </p:grpSpPr>
        <p:sp>
          <p:nvSpPr>
            <p:cNvPr id="95" name="矩形 94">
              <a:extLst>
                <a:ext uri="{FF2B5EF4-FFF2-40B4-BE49-F238E27FC236}">
                  <a16:creationId xmlns:a16="http://schemas.microsoft.com/office/drawing/2014/main" id="{4AD6926B-D233-4F7B-A052-0A99AC902FD6}"/>
                </a:ext>
              </a:extLst>
            </p:cNvPr>
            <p:cNvSpPr/>
            <p:nvPr/>
          </p:nvSpPr>
          <p:spPr bwMode="auto">
            <a:xfrm>
              <a:off x="3539716" y="2420888"/>
              <a:ext cx="2724184" cy="1224136"/>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96" name="文本框 95">
              <a:extLst>
                <a:ext uri="{FF2B5EF4-FFF2-40B4-BE49-F238E27FC236}">
                  <a16:creationId xmlns:a16="http://schemas.microsoft.com/office/drawing/2014/main" id="{8560E6BA-3032-413C-AA5A-C09ACF1EC4D0}"/>
                </a:ext>
              </a:extLst>
            </p:cNvPr>
            <p:cNvSpPr txBox="1"/>
            <p:nvPr/>
          </p:nvSpPr>
          <p:spPr>
            <a:xfrm>
              <a:off x="4289740" y="2450184"/>
              <a:ext cx="1224136" cy="338554"/>
            </a:xfrm>
            <a:prstGeom prst="rect">
              <a:avLst/>
            </a:prstGeom>
            <a:noFill/>
          </p:spPr>
          <p:txBody>
            <a:bodyPr wrap="square" rtlCol="0">
              <a:spAutoFit/>
            </a:bodyPr>
            <a:lstStyle/>
            <a:p>
              <a:r>
                <a:rPr lang="zh-CN" altLang="en-US" sz="1600" dirty="0">
                  <a:solidFill>
                    <a:schemeClr val="tx1"/>
                  </a:solidFill>
                </a:rPr>
                <a:t>本地批处理</a:t>
              </a:r>
            </a:p>
          </p:txBody>
        </p:sp>
        <p:grpSp>
          <p:nvGrpSpPr>
            <p:cNvPr id="97" name="组合 96">
              <a:extLst>
                <a:ext uri="{FF2B5EF4-FFF2-40B4-BE49-F238E27FC236}">
                  <a16:creationId xmlns:a16="http://schemas.microsoft.com/office/drawing/2014/main" id="{7662D80C-B7FC-47B2-9D99-A59D4648A774}"/>
                </a:ext>
              </a:extLst>
            </p:cNvPr>
            <p:cNvGrpSpPr/>
            <p:nvPr/>
          </p:nvGrpSpPr>
          <p:grpSpPr>
            <a:xfrm>
              <a:off x="3647728" y="2776560"/>
              <a:ext cx="1224136" cy="356665"/>
              <a:chOff x="3647728" y="2776560"/>
              <a:chExt cx="1224136" cy="356665"/>
            </a:xfrm>
          </p:grpSpPr>
          <p:sp>
            <p:nvSpPr>
              <p:cNvPr id="103" name="矩形 102">
                <a:extLst>
                  <a:ext uri="{FF2B5EF4-FFF2-40B4-BE49-F238E27FC236}">
                    <a16:creationId xmlns:a16="http://schemas.microsoft.com/office/drawing/2014/main" id="{79CBBDD0-0B77-46DB-8E6D-477F5E4C37F4}"/>
                  </a:ext>
                </a:extLst>
              </p:cNvPr>
              <p:cNvSpPr/>
              <p:nvPr/>
            </p:nvSpPr>
            <p:spPr bwMode="auto">
              <a:xfrm>
                <a:off x="3647728" y="2776560"/>
                <a:ext cx="936104" cy="3566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04" name="文本框 103">
                <a:extLst>
                  <a:ext uri="{FF2B5EF4-FFF2-40B4-BE49-F238E27FC236}">
                    <a16:creationId xmlns:a16="http://schemas.microsoft.com/office/drawing/2014/main" id="{1C966127-AFB7-44C7-944A-9AA72305A74D}"/>
                  </a:ext>
                </a:extLst>
              </p:cNvPr>
              <p:cNvSpPr txBox="1"/>
              <p:nvPr/>
            </p:nvSpPr>
            <p:spPr>
              <a:xfrm>
                <a:off x="3647728" y="2782493"/>
                <a:ext cx="1224136" cy="307777"/>
              </a:xfrm>
              <a:prstGeom prst="rect">
                <a:avLst/>
              </a:prstGeom>
              <a:noFill/>
            </p:spPr>
            <p:txBody>
              <a:bodyPr wrap="square" rtlCol="0">
                <a:spAutoFit/>
              </a:bodyPr>
              <a:lstStyle/>
              <a:p>
                <a:r>
                  <a:rPr lang="zh-CN" altLang="en-US" sz="1400" dirty="0">
                    <a:solidFill>
                      <a:schemeClr val="tx1"/>
                    </a:solidFill>
                  </a:rPr>
                  <a:t>请求分组</a:t>
                </a:r>
              </a:p>
            </p:txBody>
          </p:sp>
        </p:grpSp>
        <p:grpSp>
          <p:nvGrpSpPr>
            <p:cNvPr id="98" name="组合 97">
              <a:extLst>
                <a:ext uri="{FF2B5EF4-FFF2-40B4-BE49-F238E27FC236}">
                  <a16:creationId xmlns:a16="http://schemas.microsoft.com/office/drawing/2014/main" id="{A2987E44-AE3A-4F0F-8AD6-EAB6E18F8D1D}"/>
                </a:ext>
              </a:extLst>
            </p:cNvPr>
            <p:cNvGrpSpPr/>
            <p:nvPr/>
          </p:nvGrpSpPr>
          <p:grpSpPr>
            <a:xfrm>
              <a:off x="5139594" y="2773437"/>
              <a:ext cx="1224136" cy="356665"/>
              <a:chOff x="3647728" y="2776560"/>
              <a:chExt cx="1224136" cy="356665"/>
            </a:xfrm>
          </p:grpSpPr>
          <p:sp>
            <p:nvSpPr>
              <p:cNvPr id="101" name="矩形 100">
                <a:extLst>
                  <a:ext uri="{FF2B5EF4-FFF2-40B4-BE49-F238E27FC236}">
                    <a16:creationId xmlns:a16="http://schemas.microsoft.com/office/drawing/2014/main" id="{EEA441F1-E199-411C-ABBE-61C44872F51C}"/>
                  </a:ext>
                </a:extLst>
              </p:cNvPr>
              <p:cNvSpPr/>
              <p:nvPr/>
            </p:nvSpPr>
            <p:spPr bwMode="auto">
              <a:xfrm>
                <a:off x="3647728" y="2776560"/>
                <a:ext cx="936104" cy="3566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02" name="文本框 101">
                <a:extLst>
                  <a:ext uri="{FF2B5EF4-FFF2-40B4-BE49-F238E27FC236}">
                    <a16:creationId xmlns:a16="http://schemas.microsoft.com/office/drawing/2014/main" id="{19291BEB-73E9-4C18-B924-5AF3EFCE9045}"/>
                  </a:ext>
                </a:extLst>
              </p:cNvPr>
              <p:cNvSpPr txBox="1"/>
              <p:nvPr/>
            </p:nvSpPr>
            <p:spPr>
              <a:xfrm>
                <a:off x="3647728" y="2782493"/>
                <a:ext cx="1224136" cy="307777"/>
              </a:xfrm>
              <a:prstGeom prst="rect">
                <a:avLst/>
              </a:prstGeom>
              <a:noFill/>
            </p:spPr>
            <p:txBody>
              <a:bodyPr wrap="square" rtlCol="0">
                <a:spAutoFit/>
              </a:bodyPr>
              <a:lstStyle/>
              <a:p>
                <a:r>
                  <a:rPr lang="zh-CN" altLang="en-US" sz="1400" dirty="0">
                    <a:solidFill>
                      <a:schemeClr val="tx1"/>
                    </a:solidFill>
                  </a:rPr>
                  <a:t>批量封装</a:t>
                </a:r>
              </a:p>
            </p:txBody>
          </p:sp>
        </p:grpSp>
        <p:cxnSp>
          <p:nvCxnSpPr>
            <p:cNvPr id="99" name="直接箭头连接符 98">
              <a:extLst>
                <a:ext uri="{FF2B5EF4-FFF2-40B4-BE49-F238E27FC236}">
                  <a16:creationId xmlns:a16="http://schemas.microsoft.com/office/drawing/2014/main" id="{76A98516-C13A-4E09-AF90-58B15A643ACC}"/>
                </a:ext>
              </a:extLst>
            </p:cNvPr>
            <p:cNvCxnSpPr>
              <a:cxnSpLocks/>
            </p:cNvCxnSpPr>
            <p:nvPr/>
          </p:nvCxnSpPr>
          <p:spPr bwMode="auto">
            <a:xfrm>
              <a:off x="4634808" y="2951771"/>
              <a:ext cx="5047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0" name="文本框 99">
              <a:extLst>
                <a:ext uri="{FF2B5EF4-FFF2-40B4-BE49-F238E27FC236}">
                  <a16:creationId xmlns:a16="http://schemas.microsoft.com/office/drawing/2014/main" id="{9EDF08FE-0626-4A80-8143-D4286CACB5AB}"/>
                </a:ext>
              </a:extLst>
            </p:cNvPr>
            <p:cNvSpPr txBox="1"/>
            <p:nvPr/>
          </p:nvSpPr>
          <p:spPr>
            <a:xfrm>
              <a:off x="4029861" y="3204442"/>
              <a:ext cx="2283954" cy="307777"/>
            </a:xfrm>
            <a:prstGeom prst="rect">
              <a:avLst/>
            </a:prstGeom>
            <a:noFill/>
          </p:spPr>
          <p:txBody>
            <a:bodyPr wrap="square" rtlCol="0">
              <a:spAutoFit/>
            </a:bodyPr>
            <a:lstStyle/>
            <a:p>
              <a:r>
                <a:rPr lang="zh-CN" altLang="en-US" sz="1400" dirty="0">
                  <a:solidFill>
                    <a:schemeClr val="tx1"/>
                  </a:solidFill>
                </a:rPr>
                <a:t>批大小自适应调整</a:t>
              </a:r>
            </a:p>
          </p:txBody>
        </p:sp>
      </p:grpSp>
      <p:cxnSp>
        <p:nvCxnSpPr>
          <p:cNvPr id="105" name="直接箭头连接符 104">
            <a:extLst>
              <a:ext uri="{FF2B5EF4-FFF2-40B4-BE49-F238E27FC236}">
                <a16:creationId xmlns:a16="http://schemas.microsoft.com/office/drawing/2014/main" id="{6CCB875A-80C4-41FD-ABC3-78B2E6942DC2}"/>
              </a:ext>
            </a:extLst>
          </p:cNvPr>
          <p:cNvCxnSpPr>
            <a:cxnSpLocks/>
          </p:cNvCxnSpPr>
          <p:nvPr/>
        </p:nvCxnSpPr>
        <p:spPr bwMode="auto">
          <a:xfrm>
            <a:off x="6947975" y="2111482"/>
            <a:ext cx="0" cy="3418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17D08B95-E984-4CC3-9C2F-C9AB29A4174E}"/>
              </a:ext>
            </a:extLst>
          </p:cNvPr>
          <p:cNvCxnSpPr>
            <a:cxnSpLocks/>
          </p:cNvCxnSpPr>
          <p:nvPr/>
        </p:nvCxnSpPr>
        <p:spPr bwMode="auto">
          <a:xfrm>
            <a:off x="9971037" y="2091154"/>
            <a:ext cx="0" cy="3418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7" name="文本框 106">
            <a:extLst>
              <a:ext uri="{FF2B5EF4-FFF2-40B4-BE49-F238E27FC236}">
                <a16:creationId xmlns:a16="http://schemas.microsoft.com/office/drawing/2014/main" id="{77237016-70B7-428D-AE7C-6083B20ADB85}"/>
              </a:ext>
            </a:extLst>
          </p:cNvPr>
          <p:cNvSpPr txBox="1"/>
          <p:nvPr/>
        </p:nvSpPr>
        <p:spPr>
          <a:xfrm>
            <a:off x="2903587" y="2111482"/>
            <a:ext cx="1260138" cy="307777"/>
          </a:xfrm>
          <a:prstGeom prst="rect">
            <a:avLst/>
          </a:prstGeom>
          <a:noFill/>
        </p:spPr>
        <p:txBody>
          <a:bodyPr wrap="square" rtlCol="0">
            <a:spAutoFit/>
          </a:bodyPr>
          <a:lstStyle/>
          <a:p>
            <a:r>
              <a:rPr lang="zh-CN" altLang="en-US" sz="1400" dirty="0">
                <a:solidFill>
                  <a:schemeClr val="tx1"/>
                </a:solidFill>
              </a:rPr>
              <a:t>更新请求流</a:t>
            </a:r>
          </a:p>
        </p:txBody>
      </p:sp>
      <p:sp>
        <p:nvSpPr>
          <p:cNvPr id="111" name="文本框 110">
            <a:extLst>
              <a:ext uri="{FF2B5EF4-FFF2-40B4-BE49-F238E27FC236}">
                <a16:creationId xmlns:a16="http://schemas.microsoft.com/office/drawing/2014/main" id="{E61C9410-7B53-4F01-A70F-D123164F989E}"/>
              </a:ext>
            </a:extLst>
          </p:cNvPr>
          <p:cNvSpPr txBox="1"/>
          <p:nvPr/>
        </p:nvSpPr>
        <p:spPr>
          <a:xfrm>
            <a:off x="5719750" y="2136152"/>
            <a:ext cx="1260138" cy="307777"/>
          </a:xfrm>
          <a:prstGeom prst="rect">
            <a:avLst/>
          </a:prstGeom>
          <a:noFill/>
        </p:spPr>
        <p:txBody>
          <a:bodyPr wrap="square" rtlCol="0">
            <a:spAutoFit/>
          </a:bodyPr>
          <a:lstStyle/>
          <a:p>
            <a:r>
              <a:rPr lang="zh-CN" altLang="en-US" sz="1400" dirty="0">
                <a:solidFill>
                  <a:schemeClr val="tx1"/>
                </a:solidFill>
              </a:rPr>
              <a:t>更新请求流</a:t>
            </a:r>
          </a:p>
        </p:txBody>
      </p:sp>
      <p:sp>
        <p:nvSpPr>
          <p:cNvPr id="112" name="文本框 111">
            <a:extLst>
              <a:ext uri="{FF2B5EF4-FFF2-40B4-BE49-F238E27FC236}">
                <a16:creationId xmlns:a16="http://schemas.microsoft.com/office/drawing/2014/main" id="{A5C6C66F-FFC2-4F71-9673-8906D6C1B701}"/>
              </a:ext>
            </a:extLst>
          </p:cNvPr>
          <p:cNvSpPr txBox="1"/>
          <p:nvPr/>
        </p:nvSpPr>
        <p:spPr>
          <a:xfrm>
            <a:off x="8775423" y="2127168"/>
            <a:ext cx="1260138" cy="307777"/>
          </a:xfrm>
          <a:prstGeom prst="rect">
            <a:avLst/>
          </a:prstGeom>
          <a:noFill/>
        </p:spPr>
        <p:txBody>
          <a:bodyPr wrap="square" rtlCol="0">
            <a:spAutoFit/>
          </a:bodyPr>
          <a:lstStyle/>
          <a:p>
            <a:r>
              <a:rPr lang="zh-CN" altLang="en-US" sz="1400" dirty="0">
                <a:solidFill>
                  <a:schemeClr val="tx1"/>
                </a:solidFill>
              </a:rPr>
              <a:t>更新请求流</a:t>
            </a:r>
          </a:p>
        </p:txBody>
      </p:sp>
      <p:sp>
        <p:nvSpPr>
          <p:cNvPr id="114" name="文本框 113">
            <a:extLst>
              <a:ext uri="{FF2B5EF4-FFF2-40B4-BE49-F238E27FC236}">
                <a16:creationId xmlns:a16="http://schemas.microsoft.com/office/drawing/2014/main" id="{46FA3FEF-EDA1-4CB5-830D-9229F0049460}"/>
              </a:ext>
            </a:extLst>
          </p:cNvPr>
          <p:cNvSpPr txBox="1"/>
          <p:nvPr/>
        </p:nvSpPr>
        <p:spPr>
          <a:xfrm>
            <a:off x="425279" y="3968385"/>
            <a:ext cx="3078433" cy="1891159"/>
          </a:xfrm>
          <a:prstGeom prst="rect">
            <a:avLst/>
          </a:prstGeom>
          <a:noFill/>
        </p:spPr>
        <p:txBody>
          <a:bodyPr wrap="square">
            <a:spAutoFit/>
          </a:bodyPr>
          <a:lstStyle/>
          <a:p>
            <a:pPr>
              <a:lnSpc>
                <a:spcPct val="150000"/>
              </a:lnSpc>
            </a:pPr>
            <a:r>
              <a:rPr lang="zh-CN" altLang="en-US" sz="1600" b="1" dirty="0">
                <a:solidFill>
                  <a:srgbClr val="FF0000"/>
                </a:solidFill>
              </a:rPr>
              <a:t>二级聚合与调度策略</a:t>
            </a:r>
            <a:r>
              <a:rPr lang="zh-CN" altLang="en-US" sz="1600" dirty="0">
                <a:solidFill>
                  <a:schemeClr val="tx1"/>
                </a:solidFill>
              </a:rPr>
              <a:t>：</a:t>
            </a:r>
            <a:endParaRPr lang="en-US" altLang="zh-CN" sz="1600" dirty="0">
              <a:solidFill>
                <a:schemeClr val="tx1"/>
              </a:solidFill>
            </a:endParaRPr>
          </a:p>
          <a:p>
            <a:pPr marL="285750" indent="-285750">
              <a:lnSpc>
                <a:spcPct val="150000"/>
              </a:lnSpc>
              <a:buFont typeface="Wingdings" panose="05000000000000000000" pitchFamily="2" charset="2"/>
              <a:buChar char="Ø"/>
            </a:pPr>
            <a:r>
              <a:rPr lang="zh-CN" altLang="en-US" sz="1600" dirty="0">
                <a:solidFill>
                  <a:schemeClr val="tx1"/>
                </a:solidFill>
              </a:rPr>
              <a:t>按目标</a:t>
            </a:r>
            <a:r>
              <a:rPr lang="en-US" altLang="zh-CN" sz="1600" dirty="0">
                <a:solidFill>
                  <a:schemeClr val="tx1"/>
                </a:solidFill>
              </a:rPr>
              <a:t>OSD</a:t>
            </a:r>
            <a:r>
              <a:rPr lang="zh-CN" altLang="en-US" sz="1600" dirty="0">
                <a:solidFill>
                  <a:schemeClr val="tx1"/>
                </a:solidFill>
              </a:rPr>
              <a:t>进行聚合</a:t>
            </a:r>
            <a:endParaRPr lang="en-US" altLang="zh-CN" sz="1600" dirty="0">
              <a:solidFill>
                <a:schemeClr val="tx1"/>
              </a:solidFill>
            </a:endParaRPr>
          </a:p>
          <a:p>
            <a:pPr marL="285750" indent="-285750">
              <a:lnSpc>
                <a:spcPct val="150000"/>
              </a:lnSpc>
              <a:buFont typeface="Wingdings" panose="05000000000000000000" pitchFamily="2" charset="2"/>
              <a:buChar char="Ø"/>
            </a:pPr>
            <a:r>
              <a:rPr lang="zh-CN" altLang="en-US" sz="1600" dirty="0">
                <a:solidFill>
                  <a:schemeClr val="tx1"/>
                </a:solidFill>
              </a:rPr>
              <a:t>拥塞感知动态调整</a:t>
            </a:r>
            <a:endParaRPr lang="en-US" altLang="zh-CN" sz="1600" dirty="0">
              <a:solidFill>
                <a:schemeClr val="tx1"/>
              </a:solidFill>
            </a:endParaRPr>
          </a:p>
          <a:p>
            <a:pPr marL="285750" indent="-285750">
              <a:lnSpc>
                <a:spcPct val="150000"/>
              </a:lnSpc>
              <a:buFont typeface="Wingdings" panose="05000000000000000000" pitchFamily="2" charset="2"/>
              <a:buChar char="Ø"/>
            </a:pPr>
            <a:r>
              <a:rPr lang="zh-CN" altLang="en-US" sz="1600" dirty="0">
                <a:solidFill>
                  <a:schemeClr val="tx1"/>
                </a:solidFill>
              </a:rPr>
              <a:t>多副本井行下发</a:t>
            </a:r>
            <a:endParaRPr lang="en-US" altLang="zh-CN" sz="1600" dirty="0">
              <a:solidFill>
                <a:schemeClr val="tx1"/>
              </a:solidFill>
            </a:endParaRPr>
          </a:p>
          <a:p>
            <a:pPr marL="285750" indent="-285750">
              <a:lnSpc>
                <a:spcPct val="150000"/>
              </a:lnSpc>
              <a:buFont typeface="Wingdings" panose="05000000000000000000" pitchFamily="2" charset="2"/>
              <a:buChar char="Ø"/>
            </a:pPr>
            <a:r>
              <a:rPr lang="zh-CN" altLang="en-US" sz="1600" dirty="0">
                <a:solidFill>
                  <a:schemeClr val="tx1"/>
                </a:solidFill>
              </a:rPr>
              <a:t>避免热点</a:t>
            </a:r>
            <a:r>
              <a:rPr lang="en-US" altLang="zh-CN" sz="1600" dirty="0">
                <a:solidFill>
                  <a:schemeClr val="tx1"/>
                </a:solidFill>
              </a:rPr>
              <a:t>OSD</a:t>
            </a:r>
            <a:r>
              <a:rPr lang="zh-CN" altLang="en-US" sz="1600" dirty="0">
                <a:solidFill>
                  <a:schemeClr val="tx1"/>
                </a:solidFill>
              </a:rPr>
              <a:t>过载</a:t>
            </a:r>
          </a:p>
        </p:txBody>
      </p:sp>
      <p:sp>
        <p:nvSpPr>
          <p:cNvPr id="115" name="矩形 114">
            <a:extLst>
              <a:ext uri="{FF2B5EF4-FFF2-40B4-BE49-F238E27FC236}">
                <a16:creationId xmlns:a16="http://schemas.microsoft.com/office/drawing/2014/main" id="{C1E19ECD-1533-4530-952C-E1D058DCB977}"/>
              </a:ext>
            </a:extLst>
          </p:cNvPr>
          <p:cNvSpPr/>
          <p:nvPr/>
        </p:nvSpPr>
        <p:spPr bwMode="auto">
          <a:xfrm>
            <a:off x="2783632" y="3976761"/>
            <a:ext cx="8579441" cy="210615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16" name="文本框 115">
            <a:extLst>
              <a:ext uri="{FF2B5EF4-FFF2-40B4-BE49-F238E27FC236}">
                <a16:creationId xmlns:a16="http://schemas.microsoft.com/office/drawing/2014/main" id="{8295CBD6-D22A-4552-A498-799E6F55023D}"/>
              </a:ext>
            </a:extLst>
          </p:cNvPr>
          <p:cNvSpPr txBox="1"/>
          <p:nvPr/>
        </p:nvSpPr>
        <p:spPr>
          <a:xfrm>
            <a:off x="6300269" y="3998999"/>
            <a:ext cx="1326088" cy="338554"/>
          </a:xfrm>
          <a:prstGeom prst="rect">
            <a:avLst/>
          </a:prstGeom>
          <a:noFill/>
        </p:spPr>
        <p:txBody>
          <a:bodyPr wrap="square" rtlCol="0">
            <a:spAutoFit/>
          </a:bodyPr>
          <a:lstStyle/>
          <a:p>
            <a:r>
              <a:rPr lang="zh-CN" altLang="en-US" sz="1600" b="1" dirty="0">
                <a:solidFill>
                  <a:schemeClr val="tx1"/>
                </a:solidFill>
              </a:rPr>
              <a:t>全局调度器</a:t>
            </a:r>
          </a:p>
        </p:txBody>
      </p:sp>
      <p:sp>
        <p:nvSpPr>
          <p:cNvPr id="118" name="文本框 117">
            <a:extLst>
              <a:ext uri="{FF2B5EF4-FFF2-40B4-BE49-F238E27FC236}">
                <a16:creationId xmlns:a16="http://schemas.microsoft.com/office/drawing/2014/main" id="{B8EDAD9B-6CAE-47D8-95B1-D238117A3322}"/>
              </a:ext>
            </a:extLst>
          </p:cNvPr>
          <p:cNvSpPr txBox="1"/>
          <p:nvPr/>
        </p:nvSpPr>
        <p:spPr>
          <a:xfrm>
            <a:off x="3895584" y="4298282"/>
            <a:ext cx="1326088" cy="307777"/>
          </a:xfrm>
          <a:prstGeom prst="rect">
            <a:avLst/>
          </a:prstGeom>
          <a:noFill/>
        </p:spPr>
        <p:txBody>
          <a:bodyPr wrap="square" rtlCol="0">
            <a:spAutoFit/>
          </a:bodyPr>
          <a:lstStyle/>
          <a:p>
            <a:r>
              <a:rPr lang="zh-CN" altLang="en-US" sz="1400" dirty="0">
                <a:solidFill>
                  <a:schemeClr val="tx1"/>
                </a:solidFill>
              </a:rPr>
              <a:t>请求队列</a:t>
            </a:r>
          </a:p>
        </p:txBody>
      </p:sp>
      <p:grpSp>
        <p:nvGrpSpPr>
          <p:cNvPr id="124" name="组合 123">
            <a:extLst>
              <a:ext uri="{FF2B5EF4-FFF2-40B4-BE49-F238E27FC236}">
                <a16:creationId xmlns:a16="http://schemas.microsoft.com/office/drawing/2014/main" id="{28393009-71B1-407A-9BCA-857D4FAB1DE7}"/>
              </a:ext>
            </a:extLst>
          </p:cNvPr>
          <p:cNvGrpSpPr/>
          <p:nvPr/>
        </p:nvGrpSpPr>
        <p:grpSpPr>
          <a:xfrm>
            <a:off x="3234969" y="4672453"/>
            <a:ext cx="681393" cy="1277337"/>
            <a:chOff x="3234969" y="4660836"/>
            <a:chExt cx="681393" cy="1277337"/>
          </a:xfrm>
        </p:grpSpPr>
        <p:sp>
          <p:nvSpPr>
            <p:cNvPr id="117" name="矩形 116">
              <a:extLst>
                <a:ext uri="{FF2B5EF4-FFF2-40B4-BE49-F238E27FC236}">
                  <a16:creationId xmlns:a16="http://schemas.microsoft.com/office/drawing/2014/main" id="{0ABF0011-F184-4BE9-909A-1BF41C574005}"/>
                </a:ext>
              </a:extLst>
            </p:cNvPr>
            <p:cNvSpPr/>
            <p:nvPr/>
          </p:nvSpPr>
          <p:spPr bwMode="auto">
            <a:xfrm>
              <a:off x="3234969" y="4660836"/>
              <a:ext cx="642585" cy="1277337"/>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2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OSD1</a:t>
              </a: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dirty="0">
                <a:solidFill>
                  <a:schemeClr val="tx1"/>
                </a:solidFill>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dirty="0">
                <a:solidFill>
                  <a:schemeClr val="tx1"/>
                </a:solidFill>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19" name="流程图: 可选过程 118">
              <a:extLst>
                <a:ext uri="{FF2B5EF4-FFF2-40B4-BE49-F238E27FC236}">
                  <a16:creationId xmlns:a16="http://schemas.microsoft.com/office/drawing/2014/main" id="{C0566951-5529-400A-A479-3255859FD38E}"/>
                </a:ext>
              </a:extLst>
            </p:cNvPr>
            <p:cNvSpPr/>
            <p:nvPr/>
          </p:nvSpPr>
          <p:spPr bwMode="auto">
            <a:xfrm>
              <a:off x="3424454" y="4915467"/>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20" name="流程图: 可选过程 119">
              <a:extLst>
                <a:ext uri="{FF2B5EF4-FFF2-40B4-BE49-F238E27FC236}">
                  <a16:creationId xmlns:a16="http://schemas.microsoft.com/office/drawing/2014/main" id="{FA07B954-D06D-465A-B077-54F625BAA54E}"/>
                </a:ext>
              </a:extLst>
            </p:cNvPr>
            <p:cNvSpPr/>
            <p:nvPr/>
          </p:nvSpPr>
          <p:spPr bwMode="auto">
            <a:xfrm>
              <a:off x="3424454" y="5184648"/>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21" name="流程图: 可选过程 120">
              <a:extLst>
                <a:ext uri="{FF2B5EF4-FFF2-40B4-BE49-F238E27FC236}">
                  <a16:creationId xmlns:a16="http://schemas.microsoft.com/office/drawing/2014/main" id="{1E946DBA-B9C0-4243-A556-FA9874177AA3}"/>
                </a:ext>
              </a:extLst>
            </p:cNvPr>
            <p:cNvSpPr/>
            <p:nvPr/>
          </p:nvSpPr>
          <p:spPr bwMode="auto">
            <a:xfrm>
              <a:off x="3418688" y="5473003"/>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22" name="文本框 121">
              <a:extLst>
                <a:ext uri="{FF2B5EF4-FFF2-40B4-BE49-F238E27FC236}">
                  <a16:creationId xmlns:a16="http://schemas.microsoft.com/office/drawing/2014/main" id="{DBB107AC-AFA0-473C-9DBC-465ABD9BD81E}"/>
                </a:ext>
              </a:extLst>
            </p:cNvPr>
            <p:cNvSpPr txBox="1"/>
            <p:nvPr/>
          </p:nvSpPr>
          <p:spPr>
            <a:xfrm>
              <a:off x="3362391" y="5575511"/>
              <a:ext cx="553971" cy="307777"/>
            </a:xfrm>
            <a:prstGeom prst="rect">
              <a:avLst/>
            </a:prstGeom>
            <a:noFill/>
          </p:spPr>
          <p:txBody>
            <a:bodyPr wrap="square" rtlCol="0">
              <a:spAutoFit/>
            </a:bodyPr>
            <a:lstStyle/>
            <a:p>
              <a:r>
                <a:rPr lang="en-US" altLang="zh-CN" sz="1400" dirty="0">
                  <a:solidFill>
                    <a:schemeClr val="tx1"/>
                  </a:solidFill>
                </a:rPr>
                <a:t>…</a:t>
              </a:r>
              <a:endParaRPr lang="zh-CN" altLang="en-US" sz="1400" dirty="0">
                <a:solidFill>
                  <a:schemeClr val="tx1"/>
                </a:solidFill>
              </a:endParaRPr>
            </a:p>
          </p:txBody>
        </p:sp>
      </p:grpSp>
      <p:grpSp>
        <p:nvGrpSpPr>
          <p:cNvPr id="125" name="组合 124">
            <a:extLst>
              <a:ext uri="{FF2B5EF4-FFF2-40B4-BE49-F238E27FC236}">
                <a16:creationId xmlns:a16="http://schemas.microsoft.com/office/drawing/2014/main" id="{A9313F18-8168-4432-865D-88B2F40BD650}"/>
              </a:ext>
            </a:extLst>
          </p:cNvPr>
          <p:cNvGrpSpPr/>
          <p:nvPr/>
        </p:nvGrpSpPr>
        <p:grpSpPr>
          <a:xfrm>
            <a:off x="4006545" y="4672453"/>
            <a:ext cx="681393" cy="1277337"/>
            <a:chOff x="3234969" y="4660836"/>
            <a:chExt cx="681393" cy="1277337"/>
          </a:xfrm>
        </p:grpSpPr>
        <p:sp>
          <p:nvSpPr>
            <p:cNvPr id="126" name="矩形 125">
              <a:extLst>
                <a:ext uri="{FF2B5EF4-FFF2-40B4-BE49-F238E27FC236}">
                  <a16:creationId xmlns:a16="http://schemas.microsoft.com/office/drawing/2014/main" id="{EF79B175-BDF3-4ED0-B356-A606505FD0D9}"/>
                </a:ext>
              </a:extLst>
            </p:cNvPr>
            <p:cNvSpPr/>
            <p:nvPr/>
          </p:nvSpPr>
          <p:spPr bwMode="auto">
            <a:xfrm>
              <a:off x="3234969" y="4660836"/>
              <a:ext cx="642585" cy="1277337"/>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2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OSD2</a:t>
              </a: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dirty="0">
                <a:solidFill>
                  <a:schemeClr val="tx1"/>
                </a:solidFill>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dirty="0">
                <a:solidFill>
                  <a:schemeClr val="tx1"/>
                </a:solidFill>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27" name="流程图: 可选过程 126">
              <a:extLst>
                <a:ext uri="{FF2B5EF4-FFF2-40B4-BE49-F238E27FC236}">
                  <a16:creationId xmlns:a16="http://schemas.microsoft.com/office/drawing/2014/main" id="{1B4400A7-A9BE-4021-81DD-C04CCF1BB65B}"/>
                </a:ext>
              </a:extLst>
            </p:cNvPr>
            <p:cNvSpPr/>
            <p:nvPr/>
          </p:nvSpPr>
          <p:spPr bwMode="auto">
            <a:xfrm>
              <a:off x="3424454" y="4915467"/>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28" name="流程图: 可选过程 127">
              <a:extLst>
                <a:ext uri="{FF2B5EF4-FFF2-40B4-BE49-F238E27FC236}">
                  <a16:creationId xmlns:a16="http://schemas.microsoft.com/office/drawing/2014/main" id="{D42CDA06-9C66-483C-B8D4-576AE766CA9D}"/>
                </a:ext>
              </a:extLst>
            </p:cNvPr>
            <p:cNvSpPr/>
            <p:nvPr/>
          </p:nvSpPr>
          <p:spPr bwMode="auto">
            <a:xfrm>
              <a:off x="3424454" y="5184648"/>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29" name="流程图: 可选过程 128">
              <a:extLst>
                <a:ext uri="{FF2B5EF4-FFF2-40B4-BE49-F238E27FC236}">
                  <a16:creationId xmlns:a16="http://schemas.microsoft.com/office/drawing/2014/main" id="{D5DA8A8F-60F6-46BB-B934-D1FDFB820A56}"/>
                </a:ext>
              </a:extLst>
            </p:cNvPr>
            <p:cNvSpPr/>
            <p:nvPr/>
          </p:nvSpPr>
          <p:spPr bwMode="auto">
            <a:xfrm>
              <a:off x="3418688" y="5473003"/>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30" name="文本框 129">
              <a:extLst>
                <a:ext uri="{FF2B5EF4-FFF2-40B4-BE49-F238E27FC236}">
                  <a16:creationId xmlns:a16="http://schemas.microsoft.com/office/drawing/2014/main" id="{BE90CA89-5CD4-4324-8C3A-9F25B9EC3121}"/>
                </a:ext>
              </a:extLst>
            </p:cNvPr>
            <p:cNvSpPr txBox="1"/>
            <p:nvPr/>
          </p:nvSpPr>
          <p:spPr>
            <a:xfrm>
              <a:off x="3362391" y="5575511"/>
              <a:ext cx="553971" cy="307777"/>
            </a:xfrm>
            <a:prstGeom prst="rect">
              <a:avLst/>
            </a:prstGeom>
            <a:noFill/>
          </p:spPr>
          <p:txBody>
            <a:bodyPr wrap="square" rtlCol="0">
              <a:spAutoFit/>
            </a:bodyPr>
            <a:lstStyle/>
            <a:p>
              <a:r>
                <a:rPr lang="en-US" altLang="zh-CN" sz="1400" dirty="0">
                  <a:solidFill>
                    <a:schemeClr val="tx1"/>
                  </a:solidFill>
                </a:rPr>
                <a:t>…</a:t>
              </a:r>
              <a:endParaRPr lang="zh-CN" altLang="en-US" sz="1400" dirty="0">
                <a:solidFill>
                  <a:schemeClr val="tx1"/>
                </a:solidFill>
              </a:endParaRPr>
            </a:p>
          </p:txBody>
        </p:sp>
      </p:grpSp>
      <p:sp>
        <p:nvSpPr>
          <p:cNvPr id="131" name="文本框 130">
            <a:extLst>
              <a:ext uri="{FF2B5EF4-FFF2-40B4-BE49-F238E27FC236}">
                <a16:creationId xmlns:a16="http://schemas.microsoft.com/office/drawing/2014/main" id="{168CE3B4-0D1E-4252-86B3-014C50BE74FC}"/>
              </a:ext>
            </a:extLst>
          </p:cNvPr>
          <p:cNvSpPr txBox="1"/>
          <p:nvPr/>
        </p:nvSpPr>
        <p:spPr>
          <a:xfrm>
            <a:off x="4642138" y="5102696"/>
            <a:ext cx="553971" cy="307777"/>
          </a:xfrm>
          <a:prstGeom prst="rect">
            <a:avLst/>
          </a:prstGeom>
          <a:noFill/>
        </p:spPr>
        <p:txBody>
          <a:bodyPr wrap="square" rtlCol="0">
            <a:spAutoFit/>
          </a:bodyPr>
          <a:lstStyle/>
          <a:p>
            <a:r>
              <a:rPr lang="en-US" altLang="zh-CN" sz="1400" dirty="0">
                <a:solidFill>
                  <a:schemeClr val="tx1"/>
                </a:solidFill>
              </a:rPr>
              <a:t>…</a:t>
            </a:r>
            <a:endParaRPr lang="zh-CN" altLang="en-US" sz="1400" dirty="0">
              <a:solidFill>
                <a:schemeClr val="tx1"/>
              </a:solidFill>
            </a:endParaRPr>
          </a:p>
        </p:txBody>
      </p:sp>
      <p:grpSp>
        <p:nvGrpSpPr>
          <p:cNvPr id="133" name="组合 132">
            <a:extLst>
              <a:ext uri="{FF2B5EF4-FFF2-40B4-BE49-F238E27FC236}">
                <a16:creationId xmlns:a16="http://schemas.microsoft.com/office/drawing/2014/main" id="{0266C4EB-5FE5-4B9F-BF6B-03DAB4F40445}"/>
              </a:ext>
            </a:extLst>
          </p:cNvPr>
          <p:cNvGrpSpPr/>
          <p:nvPr/>
        </p:nvGrpSpPr>
        <p:grpSpPr>
          <a:xfrm>
            <a:off x="4944026" y="4664700"/>
            <a:ext cx="681393" cy="1277337"/>
            <a:chOff x="3234969" y="4660836"/>
            <a:chExt cx="681393" cy="1277337"/>
          </a:xfrm>
        </p:grpSpPr>
        <p:sp>
          <p:nvSpPr>
            <p:cNvPr id="134" name="矩形 133">
              <a:extLst>
                <a:ext uri="{FF2B5EF4-FFF2-40B4-BE49-F238E27FC236}">
                  <a16:creationId xmlns:a16="http://schemas.microsoft.com/office/drawing/2014/main" id="{7F51AFC1-5C19-44AE-ABA2-0F714CF0DBC7}"/>
                </a:ext>
              </a:extLst>
            </p:cNvPr>
            <p:cNvSpPr/>
            <p:nvPr/>
          </p:nvSpPr>
          <p:spPr bwMode="auto">
            <a:xfrm>
              <a:off x="3234969" y="4660836"/>
              <a:ext cx="642585" cy="1277337"/>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2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OSDN</a:t>
              </a: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dirty="0">
                <a:solidFill>
                  <a:schemeClr val="tx1"/>
                </a:solidFill>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en-US" altLang="zh-CN" sz="1200" dirty="0">
                <a:solidFill>
                  <a:schemeClr val="tx1"/>
                </a:solidFill>
                <a:latin typeface="Arial" panose="020B0604020202090204" pitchFamily="34" charset="0"/>
                <a:ea typeface="黑体" panose="02010609060101010101" pitchFamily="49" charset="-122"/>
              </a:endParaRPr>
            </a:p>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35" name="流程图: 可选过程 134">
              <a:extLst>
                <a:ext uri="{FF2B5EF4-FFF2-40B4-BE49-F238E27FC236}">
                  <a16:creationId xmlns:a16="http://schemas.microsoft.com/office/drawing/2014/main" id="{C02EE394-2D24-474C-BFE9-B347E0FFFE46}"/>
                </a:ext>
              </a:extLst>
            </p:cNvPr>
            <p:cNvSpPr/>
            <p:nvPr/>
          </p:nvSpPr>
          <p:spPr bwMode="auto">
            <a:xfrm>
              <a:off x="3424454" y="4915467"/>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36" name="流程图: 可选过程 135">
              <a:extLst>
                <a:ext uri="{FF2B5EF4-FFF2-40B4-BE49-F238E27FC236}">
                  <a16:creationId xmlns:a16="http://schemas.microsoft.com/office/drawing/2014/main" id="{72B802BC-C381-436B-AE3B-405117F57A71}"/>
                </a:ext>
              </a:extLst>
            </p:cNvPr>
            <p:cNvSpPr/>
            <p:nvPr/>
          </p:nvSpPr>
          <p:spPr bwMode="auto">
            <a:xfrm>
              <a:off x="3424454" y="5184648"/>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37" name="流程图: 可选过程 136">
              <a:extLst>
                <a:ext uri="{FF2B5EF4-FFF2-40B4-BE49-F238E27FC236}">
                  <a16:creationId xmlns:a16="http://schemas.microsoft.com/office/drawing/2014/main" id="{B9841259-63A9-4131-A232-7B7659DC5B38}"/>
                </a:ext>
              </a:extLst>
            </p:cNvPr>
            <p:cNvSpPr/>
            <p:nvPr/>
          </p:nvSpPr>
          <p:spPr bwMode="auto">
            <a:xfrm>
              <a:off x="3418688" y="5473003"/>
              <a:ext cx="229935" cy="214208"/>
            </a:xfrm>
            <a:prstGeom prst="flowChartAlternateProcess">
              <a:avLst/>
            </a:prstGeom>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138" name="文本框 137">
              <a:extLst>
                <a:ext uri="{FF2B5EF4-FFF2-40B4-BE49-F238E27FC236}">
                  <a16:creationId xmlns:a16="http://schemas.microsoft.com/office/drawing/2014/main" id="{89F09562-C15A-4822-BF5B-83759EBE6439}"/>
                </a:ext>
              </a:extLst>
            </p:cNvPr>
            <p:cNvSpPr txBox="1"/>
            <p:nvPr/>
          </p:nvSpPr>
          <p:spPr>
            <a:xfrm>
              <a:off x="3362391" y="5575511"/>
              <a:ext cx="553971" cy="307777"/>
            </a:xfrm>
            <a:prstGeom prst="rect">
              <a:avLst/>
            </a:prstGeom>
            <a:noFill/>
          </p:spPr>
          <p:txBody>
            <a:bodyPr wrap="square" rtlCol="0">
              <a:spAutoFit/>
            </a:bodyPr>
            <a:lstStyle/>
            <a:p>
              <a:r>
                <a:rPr lang="en-US" altLang="zh-CN" sz="1400" dirty="0">
                  <a:solidFill>
                    <a:schemeClr val="tx1"/>
                  </a:solidFill>
                </a:rPr>
                <a:t>…</a:t>
              </a:r>
              <a:endParaRPr lang="zh-CN" altLang="en-US" sz="1400" dirty="0">
                <a:solidFill>
                  <a:schemeClr val="tx1"/>
                </a:solidFill>
              </a:endParaRPr>
            </a:p>
          </p:txBody>
        </p:sp>
      </p:grpSp>
      <p:sp>
        <p:nvSpPr>
          <p:cNvPr id="139" name="文本框 138">
            <a:extLst>
              <a:ext uri="{FF2B5EF4-FFF2-40B4-BE49-F238E27FC236}">
                <a16:creationId xmlns:a16="http://schemas.microsoft.com/office/drawing/2014/main" id="{DC909F1C-4BEC-41E7-91B2-BD6EDE5315CB}"/>
              </a:ext>
            </a:extLst>
          </p:cNvPr>
          <p:cNvSpPr txBox="1"/>
          <p:nvPr/>
        </p:nvSpPr>
        <p:spPr>
          <a:xfrm>
            <a:off x="6284931" y="4298282"/>
            <a:ext cx="1326088" cy="307777"/>
          </a:xfrm>
          <a:prstGeom prst="rect">
            <a:avLst/>
          </a:prstGeom>
          <a:noFill/>
        </p:spPr>
        <p:txBody>
          <a:bodyPr wrap="square" rtlCol="0">
            <a:spAutoFit/>
          </a:bodyPr>
          <a:lstStyle/>
          <a:p>
            <a:r>
              <a:rPr lang="zh-CN" altLang="en-US" sz="1400" dirty="0">
                <a:solidFill>
                  <a:schemeClr val="tx1"/>
                </a:solidFill>
              </a:rPr>
              <a:t>拥塞感知</a:t>
            </a:r>
          </a:p>
        </p:txBody>
      </p:sp>
      <p:sp>
        <p:nvSpPr>
          <p:cNvPr id="140" name="矩形 139">
            <a:extLst>
              <a:ext uri="{FF2B5EF4-FFF2-40B4-BE49-F238E27FC236}">
                <a16:creationId xmlns:a16="http://schemas.microsoft.com/office/drawing/2014/main" id="{90B26697-6DFA-41A1-AA07-49F2504A9C21}"/>
              </a:ext>
            </a:extLst>
          </p:cNvPr>
          <p:cNvSpPr/>
          <p:nvPr/>
        </p:nvSpPr>
        <p:spPr bwMode="auto">
          <a:xfrm>
            <a:off x="6142443" y="4595508"/>
            <a:ext cx="1131797" cy="1457676"/>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监控指标：</a:t>
            </a:r>
            <a:endParaRPr kumimoji="1" lang="en-US" altLang="zh-CN" sz="1400"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a:t>
            </a: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负载</a:t>
            </a:r>
            <a:endPar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队列长度</a:t>
            </a:r>
            <a:endParaRPr kumimoji="1" lang="en-US" altLang="zh-CN" sz="1400"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网络带宽</a:t>
            </a:r>
            <a:endPar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dirty="0">
                <a:solidFill>
                  <a:schemeClr val="tx1"/>
                </a:solidFill>
                <a:latin typeface="Arial" panose="020B0604020202090204" pitchFamily="34" charset="0"/>
                <a:ea typeface="黑体" panose="02010609060101010101" pitchFamily="49" charset="-122"/>
              </a:rPr>
              <a:t>RTT</a:t>
            </a:r>
            <a:endPar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41" name="文本框 140">
            <a:extLst>
              <a:ext uri="{FF2B5EF4-FFF2-40B4-BE49-F238E27FC236}">
                <a16:creationId xmlns:a16="http://schemas.microsoft.com/office/drawing/2014/main" id="{E4BE1E99-3D5E-455B-8E4A-A7B9851BE2EA}"/>
              </a:ext>
            </a:extLst>
          </p:cNvPr>
          <p:cNvSpPr txBox="1"/>
          <p:nvPr/>
        </p:nvSpPr>
        <p:spPr>
          <a:xfrm>
            <a:off x="7888865" y="4324732"/>
            <a:ext cx="1326088" cy="307777"/>
          </a:xfrm>
          <a:prstGeom prst="rect">
            <a:avLst/>
          </a:prstGeom>
          <a:noFill/>
        </p:spPr>
        <p:txBody>
          <a:bodyPr wrap="square" rtlCol="0">
            <a:spAutoFit/>
          </a:bodyPr>
          <a:lstStyle/>
          <a:p>
            <a:r>
              <a:rPr lang="zh-CN" altLang="en-US" sz="1400" dirty="0">
                <a:solidFill>
                  <a:schemeClr val="tx1"/>
                </a:solidFill>
              </a:rPr>
              <a:t>调度决策引擎</a:t>
            </a:r>
          </a:p>
        </p:txBody>
      </p:sp>
      <p:sp>
        <p:nvSpPr>
          <p:cNvPr id="142" name="矩形 141">
            <a:extLst>
              <a:ext uri="{FF2B5EF4-FFF2-40B4-BE49-F238E27FC236}">
                <a16:creationId xmlns:a16="http://schemas.microsoft.com/office/drawing/2014/main" id="{9DA709DE-C16E-45DB-9EA6-FD31C5C1D461}"/>
              </a:ext>
            </a:extLst>
          </p:cNvPr>
          <p:cNvSpPr/>
          <p:nvPr/>
        </p:nvSpPr>
        <p:spPr bwMode="auto">
          <a:xfrm>
            <a:off x="7983772" y="4621958"/>
            <a:ext cx="1082348" cy="1431226"/>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负载评估：</a:t>
            </a:r>
            <a:endParaRPr kumimoji="1" lang="en-US" altLang="zh-CN" sz="1400"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优先级调整</a:t>
            </a:r>
            <a:endPar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批大小</a:t>
            </a:r>
            <a:endParaRPr kumimoji="1" lang="en-US" altLang="zh-CN" sz="1400"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路由选择</a:t>
            </a:r>
            <a:endPar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执行分配</a:t>
            </a:r>
            <a:endPar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43" name="文本框 142">
            <a:extLst>
              <a:ext uri="{FF2B5EF4-FFF2-40B4-BE49-F238E27FC236}">
                <a16:creationId xmlns:a16="http://schemas.microsoft.com/office/drawing/2014/main" id="{3C5720B8-AC3A-4F10-AE8E-BC27838723F3}"/>
              </a:ext>
            </a:extLst>
          </p:cNvPr>
          <p:cNvSpPr txBox="1"/>
          <p:nvPr/>
        </p:nvSpPr>
        <p:spPr>
          <a:xfrm>
            <a:off x="9721962" y="4314181"/>
            <a:ext cx="1326088" cy="307777"/>
          </a:xfrm>
          <a:prstGeom prst="rect">
            <a:avLst/>
          </a:prstGeom>
          <a:noFill/>
        </p:spPr>
        <p:txBody>
          <a:bodyPr wrap="square" rtlCol="0">
            <a:spAutoFit/>
          </a:bodyPr>
          <a:lstStyle/>
          <a:p>
            <a:r>
              <a:rPr lang="zh-CN" altLang="en-US" sz="1400" dirty="0">
                <a:solidFill>
                  <a:schemeClr val="tx1"/>
                </a:solidFill>
              </a:rPr>
              <a:t>下发执行计划</a:t>
            </a:r>
          </a:p>
        </p:txBody>
      </p:sp>
      <p:sp>
        <p:nvSpPr>
          <p:cNvPr id="144" name="矩形 143">
            <a:extLst>
              <a:ext uri="{FF2B5EF4-FFF2-40B4-BE49-F238E27FC236}">
                <a16:creationId xmlns:a16="http://schemas.microsoft.com/office/drawing/2014/main" id="{0DFD5972-3007-4469-87AF-DA4CBFAD3D4E}"/>
              </a:ext>
            </a:extLst>
          </p:cNvPr>
          <p:cNvSpPr/>
          <p:nvPr/>
        </p:nvSpPr>
        <p:spPr bwMode="auto">
          <a:xfrm>
            <a:off x="9664296" y="4632509"/>
            <a:ext cx="1441420" cy="1431226"/>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发送目标</a:t>
            </a:r>
            <a:r>
              <a:rPr kumimoji="1" lang="en-US" altLang="zh-CN" sz="1400" dirty="0">
                <a:solidFill>
                  <a:schemeClr val="tx1"/>
                </a:solidFill>
                <a:latin typeface="Arial" panose="020B0604020202090204" pitchFamily="34" charset="0"/>
                <a:ea typeface="黑体" panose="02010609060101010101" pitchFamily="49" charset="-122"/>
              </a:rPr>
              <a:t>OSD</a:t>
            </a: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批次内执行顺序</a:t>
            </a:r>
            <a:endParaRPr kumimoji="1" lang="en-US" altLang="zh-CN" sz="14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并行度</a:t>
            </a:r>
            <a:endParaRPr kumimoji="1" lang="en-US" altLang="zh-CN" sz="1400"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400" dirty="0">
                <a:solidFill>
                  <a:schemeClr val="tx1"/>
                </a:solidFill>
                <a:latin typeface="Arial" panose="020B0604020202090204" pitchFamily="34" charset="0"/>
                <a:ea typeface="黑体" panose="02010609060101010101" pitchFamily="49" charset="-122"/>
              </a:rPr>
              <a:t>超时期限</a:t>
            </a:r>
            <a:endParaRPr kumimoji="1" lang="en-US" altLang="zh-CN" sz="1400" dirty="0">
              <a:solidFill>
                <a:schemeClr val="tx1"/>
              </a:solidFill>
              <a:latin typeface="Arial" panose="020B0604020202090204" pitchFamily="34" charset="0"/>
              <a:ea typeface="黑体" panose="02010609060101010101" pitchFamily="49" charset="-122"/>
            </a:endParaRPr>
          </a:p>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dirty="0">
                <a:solidFill>
                  <a:schemeClr val="tx1"/>
                </a:solidFill>
                <a:latin typeface="Arial" panose="020B0604020202090204" pitchFamily="34" charset="0"/>
                <a:ea typeface="黑体" panose="02010609060101010101" pitchFamily="49" charset="-122"/>
              </a:rPr>
              <a:t>……</a:t>
            </a:r>
          </a:p>
        </p:txBody>
      </p:sp>
      <p:cxnSp>
        <p:nvCxnSpPr>
          <p:cNvPr id="146" name="直接箭头连接符 145">
            <a:extLst>
              <a:ext uri="{FF2B5EF4-FFF2-40B4-BE49-F238E27FC236}">
                <a16:creationId xmlns:a16="http://schemas.microsoft.com/office/drawing/2014/main" id="{FC23CA36-2088-479C-9866-6D98AD7C2533}"/>
              </a:ext>
            </a:extLst>
          </p:cNvPr>
          <p:cNvCxnSpPr>
            <a:cxnSpLocks/>
          </p:cNvCxnSpPr>
          <p:nvPr/>
        </p:nvCxnSpPr>
        <p:spPr bwMode="auto">
          <a:xfrm flipV="1">
            <a:off x="5705568" y="5285700"/>
            <a:ext cx="428532"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48" name="直接箭头连接符 147">
            <a:extLst>
              <a:ext uri="{FF2B5EF4-FFF2-40B4-BE49-F238E27FC236}">
                <a16:creationId xmlns:a16="http://schemas.microsoft.com/office/drawing/2014/main" id="{671A0040-ED42-4749-A40D-905D7CE13703}"/>
              </a:ext>
            </a:extLst>
          </p:cNvPr>
          <p:cNvCxnSpPr>
            <a:cxnSpLocks/>
          </p:cNvCxnSpPr>
          <p:nvPr/>
        </p:nvCxnSpPr>
        <p:spPr bwMode="auto">
          <a:xfrm flipV="1">
            <a:off x="7462596" y="5284214"/>
            <a:ext cx="428532"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49" name="直接箭头连接符 148">
            <a:extLst>
              <a:ext uri="{FF2B5EF4-FFF2-40B4-BE49-F238E27FC236}">
                <a16:creationId xmlns:a16="http://schemas.microsoft.com/office/drawing/2014/main" id="{D6828F15-52FD-4D6E-8E2E-B7929D48ECD3}"/>
              </a:ext>
            </a:extLst>
          </p:cNvPr>
          <p:cNvCxnSpPr>
            <a:cxnSpLocks/>
          </p:cNvCxnSpPr>
          <p:nvPr/>
        </p:nvCxnSpPr>
        <p:spPr bwMode="auto">
          <a:xfrm flipV="1">
            <a:off x="9150942" y="5281228"/>
            <a:ext cx="428532"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0" name="矩形 149">
            <a:extLst>
              <a:ext uri="{FF2B5EF4-FFF2-40B4-BE49-F238E27FC236}">
                <a16:creationId xmlns:a16="http://schemas.microsoft.com/office/drawing/2014/main" id="{27867024-EAD3-4574-BD33-3AF3CBF6C67F}"/>
              </a:ext>
            </a:extLst>
          </p:cNvPr>
          <p:cNvSpPr/>
          <p:nvPr/>
        </p:nvSpPr>
        <p:spPr bwMode="auto">
          <a:xfrm>
            <a:off x="3376302" y="6443520"/>
            <a:ext cx="1080120" cy="3399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OSD-1</a:t>
            </a:r>
            <a:endPar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51" name="矩形 150">
            <a:extLst>
              <a:ext uri="{FF2B5EF4-FFF2-40B4-BE49-F238E27FC236}">
                <a16:creationId xmlns:a16="http://schemas.microsoft.com/office/drawing/2014/main" id="{DBDD9F2E-974A-4D05-B7E0-9E4FC6E1481A}"/>
              </a:ext>
            </a:extLst>
          </p:cNvPr>
          <p:cNvSpPr/>
          <p:nvPr/>
        </p:nvSpPr>
        <p:spPr bwMode="auto">
          <a:xfrm>
            <a:off x="6407915" y="6466516"/>
            <a:ext cx="1080120" cy="3399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OSD-2</a:t>
            </a:r>
            <a:endPar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52" name="矩形 151">
            <a:extLst>
              <a:ext uri="{FF2B5EF4-FFF2-40B4-BE49-F238E27FC236}">
                <a16:creationId xmlns:a16="http://schemas.microsoft.com/office/drawing/2014/main" id="{3FCA6D71-3127-4980-8803-A7A5EC1786B8}"/>
              </a:ext>
            </a:extLst>
          </p:cNvPr>
          <p:cNvSpPr/>
          <p:nvPr/>
        </p:nvSpPr>
        <p:spPr bwMode="auto">
          <a:xfrm>
            <a:off x="9465803" y="6458566"/>
            <a:ext cx="1080120" cy="3399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ctr"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OSD-N</a:t>
            </a:r>
            <a:endPar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endParaRPr>
          </a:p>
        </p:txBody>
      </p:sp>
      <p:sp>
        <p:nvSpPr>
          <p:cNvPr id="153" name="文本框 152">
            <a:extLst>
              <a:ext uri="{FF2B5EF4-FFF2-40B4-BE49-F238E27FC236}">
                <a16:creationId xmlns:a16="http://schemas.microsoft.com/office/drawing/2014/main" id="{76EF98BE-5343-4584-81EA-A0C008B2D777}"/>
              </a:ext>
            </a:extLst>
          </p:cNvPr>
          <p:cNvSpPr txBox="1"/>
          <p:nvPr/>
        </p:nvSpPr>
        <p:spPr>
          <a:xfrm>
            <a:off x="8131806" y="6396964"/>
            <a:ext cx="1014165"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sp>
        <p:nvSpPr>
          <p:cNvPr id="154" name="箭头: 右 153">
            <a:extLst>
              <a:ext uri="{FF2B5EF4-FFF2-40B4-BE49-F238E27FC236}">
                <a16:creationId xmlns:a16="http://schemas.microsoft.com/office/drawing/2014/main" id="{38536304-0549-408A-B016-805AD17E2716}"/>
              </a:ext>
            </a:extLst>
          </p:cNvPr>
          <p:cNvSpPr/>
          <p:nvPr/>
        </p:nvSpPr>
        <p:spPr bwMode="auto">
          <a:xfrm rot="5400000">
            <a:off x="6840440" y="3717016"/>
            <a:ext cx="182744" cy="182922"/>
          </a:xfrm>
          <a:prstGeom prst="rightArrow">
            <a:avLst/>
          </a:prstGeom>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cxnSp>
        <p:nvCxnSpPr>
          <p:cNvPr id="156" name="直接箭头连接符 155">
            <a:extLst>
              <a:ext uri="{FF2B5EF4-FFF2-40B4-BE49-F238E27FC236}">
                <a16:creationId xmlns:a16="http://schemas.microsoft.com/office/drawing/2014/main" id="{6D6F0EBD-CB77-40E3-A8C7-C5463B3A5FEC}"/>
              </a:ext>
            </a:extLst>
          </p:cNvPr>
          <p:cNvCxnSpPr>
            <a:cxnSpLocks/>
            <a:endCxn id="150" idx="0"/>
          </p:cNvCxnSpPr>
          <p:nvPr/>
        </p:nvCxnSpPr>
        <p:spPr bwMode="auto">
          <a:xfrm>
            <a:off x="3916362" y="6135609"/>
            <a:ext cx="0" cy="3079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直接箭头连接符 157">
            <a:extLst>
              <a:ext uri="{FF2B5EF4-FFF2-40B4-BE49-F238E27FC236}">
                <a16:creationId xmlns:a16="http://schemas.microsoft.com/office/drawing/2014/main" id="{515A78FD-FB86-4ECE-B841-A6B186A6D613}"/>
              </a:ext>
            </a:extLst>
          </p:cNvPr>
          <p:cNvCxnSpPr>
            <a:cxnSpLocks/>
          </p:cNvCxnSpPr>
          <p:nvPr/>
        </p:nvCxnSpPr>
        <p:spPr bwMode="auto">
          <a:xfrm>
            <a:off x="6931812" y="6135609"/>
            <a:ext cx="0" cy="3079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直接箭头连接符 159">
            <a:extLst>
              <a:ext uri="{FF2B5EF4-FFF2-40B4-BE49-F238E27FC236}">
                <a16:creationId xmlns:a16="http://schemas.microsoft.com/office/drawing/2014/main" id="{12AFE994-19E5-4B31-B9AC-65E441281FA4}"/>
              </a:ext>
            </a:extLst>
          </p:cNvPr>
          <p:cNvCxnSpPr>
            <a:cxnSpLocks/>
          </p:cNvCxnSpPr>
          <p:nvPr/>
        </p:nvCxnSpPr>
        <p:spPr bwMode="auto">
          <a:xfrm>
            <a:off x="10000981" y="6135608"/>
            <a:ext cx="0" cy="3079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1" name="文本框 160">
            <a:extLst>
              <a:ext uri="{FF2B5EF4-FFF2-40B4-BE49-F238E27FC236}">
                <a16:creationId xmlns:a16="http://schemas.microsoft.com/office/drawing/2014/main" id="{D2459DD6-AFF2-4C91-ACA3-726011878145}"/>
              </a:ext>
            </a:extLst>
          </p:cNvPr>
          <p:cNvSpPr txBox="1"/>
          <p:nvPr/>
        </p:nvSpPr>
        <p:spPr>
          <a:xfrm>
            <a:off x="5063134" y="6125176"/>
            <a:ext cx="2605435" cy="338554"/>
          </a:xfrm>
          <a:prstGeom prst="rect">
            <a:avLst/>
          </a:prstGeom>
          <a:noFill/>
        </p:spPr>
        <p:txBody>
          <a:bodyPr wrap="square" rtlCol="0">
            <a:spAutoFit/>
          </a:bodyPr>
          <a:lstStyle/>
          <a:p>
            <a:r>
              <a:rPr lang="zh-CN" altLang="en-US" sz="1600" dirty="0"/>
              <a:t>执行计划并行下发</a:t>
            </a:r>
          </a:p>
        </p:txBody>
      </p:sp>
      <p:sp>
        <p:nvSpPr>
          <p:cNvPr id="7" name="TextBox 5">
            <a:extLst>
              <a:ext uri="{FF2B5EF4-FFF2-40B4-BE49-F238E27FC236}">
                <a16:creationId xmlns:a16="http://schemas.microsoft.com/office/drawing/2014/main" id="{C69B3A3B-82BA-F6E2-6E13-293BC0F62A86}"/>
              </a:ext>
            </a:extLst>
          </p:cNvPr>
          <p:cNvSpPr txBox="1"/>
          <p:nvPr/>
        </p:nvSpPr>
        <p:spPr>
          <a:xfrm>
            <a:off x="415817" y="1756775"/>
            <a:ext cx="2303292" cy="886397"/>
          </a:xfrm>
          <a:prstGeom prst="rect">
            <a:avLst/>
          </a:prstGeom>
          <a:noFill/>
        </p:spPr>
        <p:txBody>
          <a:bodyPr wrap="square" lIns="73152" tIns="27432" rIns="73152" bIns="27432" anchor="ctr">
            <a:spAutoFit/>
          </a:bodyPr>
          <a:lstStyle/>
          <a:p>
            <a:pPr algn="just"/>
            <a:r>
              <a:rPr lang="zh-CN" altLang="en-US" sz="1800">
                <a:solidFill>
                  <a:srgbClr val="FF0000"/>
                </a:solidFill>
              </a:rPr>
              <a:t>瓶颈</a:t>
            </a:r>
            <a:r>
              <a:rPr sz="1800">
                <a:solidFill>
                  <a:schemeClr val="tx1"/>
                </a:solidFill>
              </a:rPr>
              <a:t>：</a:t>
            </a:r>
            <a:r>
              <a:rPr lang="en-US" altLang="zh-CN" sz="1800">
                <a:solidFill>
                  <a:schemeClr val="tx1"/>
                </a:solidFill>
              </a:rPr>
              <a:t>cls</a:t>
            </a:r>
            <a:r>
              <a:rPr lang="zh-CN" altLang="en-US" sz="1800">
                <a:solidFill>
                  <a:schemeClr val="tx1"/>
                </a:solidFill>
              </a:rPr>
              <a:t>请求碎片化导致</a:t>
            </a:r>
            <a:r>
              <a:rPr lang="en-US" altLang="zh-CN" sz="1800">
                <a:solidFill>
                  <a:schemeClr val="tx1"/>
                </a:solidFill>
              </a:rPr>
              <a:t>OSD</a:t>
            </a:r>
            <a:r>
              <a:rPr lang="zh-CN" altLang="en-US" sz="1800">
                <a:solidFill>
                  <a:schemeClr val="tx1"/>
                </a:solidFill>
              </a:rPr>
              <a:t>队列等待和网络往返开销较高</a:t>
            </a:r>
            <a:endParaRPr lang="en-US" altLang="zh-CN" sz="1800" b="1">
              <a:solidFill>
                <a:schemeClr val="tx1"/>
              </a:solidFill>
              <a:latin typeface="Microsoft YaHei"/>
            </a:endParaRPr>
          </a:p>
        </p:txBody>
      </p:sp>
    </p:spTree>
    <p:extLst>
      <p:ext uri="{BB962C8B-B14F-4D97-AF65-F5344CB8AC3E}">
        <p14:creationId xmlns:p14="http://schemas.microsoft.com/office/powerpoint/2010/main" val="2409479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Microsoft YaHei"/>
              </a:defRPr>
            </a:pPr>
            <a:r>
              <a:t>04</a:t>
            </a:r>
          </a:p>
        </p:txBody>
      </p:sp>
      <p:sp>
        <p:nvSpPr>
          <p:cNvPr id="3" name="TextBox 2"/>
          <p:cNvSpPr txBox="1"/>
          <p:nvPr/>
        </p:nvSpPr>
        <p:spPr>
          <a:xfrm>
            <a:off x="1508760" y="1070916"/>
            <a:ext cx="9692640" cy="409343"/>
          </a:xfrm>
          <a:prstGeom prst="rect">
            <a:avLst/>
          </a:prstGeom>
          <a:noFill/>
        </p:spPr>
        <p:txBody>
          <a:bodyPr wrap="square" lIns="54864" tIns="27432" rIns="54864" bIns="27432" anchor="ctr">
            <a:spAutoFit/>
          </a:bodyPr>
          <a:lstStyle/>
          <a:p>
            <a:pPr>
              <a:defRPr sz="2600" b="0">
                <a:solidFill>
                  <a:srgbClr val="414141"/>
                </a:solidFill>
                <a:latin typeface="Microsoft YaHei"/>
              </a:defRPr>
            </a:pPr>
            <a:r>
              <a:rPr lang="zh-CN" altLang="en-US" sz="2300" dirty="0">
                <a:solidFill>
                  <a:schemeClr val="tx1"/>
                </a:solidFill>
                <a:latin typeface="Microsoft YaHei"/>
              </a:rPr>
              <a:t>优化设计三</a:t>
            </a:r>
            <a:r>
              <a:rPr sz="2300" dirty="0">
                <a:solidFill>
                  <a:schemeClr val="tx1"/>
                </a:solidFill>
                <a:latin typeface="Microsoft YaHei"/>
              </a:rPr>
              <a:t> – </a:t>
            </a:r>
            <a:r>
              <a:rPr sz="2300" dirty="0" err="1">
                <a:solidFill>
                  <a:schemeClr val="tx1"/>
                </a:solidFill>
                <a:latin typeface="Microsoft YaHei"/>
              </a:rPr>
              <a:t>元数据协议层</a:t>
            </a:r>
            <a:r>
              <a:rPr sz="2300" dirty="0">
                <a:solidFill>
                  <a:schemeClr val="tx1"/>
                </a:solidFill>
                <a:latin typeface="Microsoft YaHei"/>
              </a:rPr>
              <a:t>：</a:t>
            </a:r>
            <a:r>
              <a:rPr lang="zh-CN" altLang="en-US" sz="2300" dirty="0">
                <a:solidFill>
                  <a:schemeClr val="tx1"/>
                </a:solidFill>
                <a:latin typeface="Microsoft YaHei"/>
              </a:rPr>
              <a:t>面向动态图索引的一致性元数据协议</a:t>
            </a:r>
            <a:endParaRPr sz="2300" dirty="0">
              <a:solidFill>
                <a:schemeClr val="tx1"/>
              </a:solidFill>
              <a:latin typeface="Microsoft YaHei"/>
            </a:endParaRPr>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95179" y="6381328"/>
            <a:ext cx="261482" cy="363176"/>
          </a:xfrm>
          <a:prstGeom prst="rect">
            <a:avLst/>
          </a:prstGeom>
          <a:noFill/>
        </p:spPr>
        <p:txBody>
          <a:bodyPr wrap="none" lIns="54864" tIns="27432" rIns="54864" bIns="27432">
            <a:spAutoFit/>
          </a:bodyPr>
          <a:lstStyle/>
          <a:p>
            <a:pPr algn="ctr"/>
            <a:r>
              <a:rPr sz="1000" b="0" dirty="0">
                <a:solidFill>
                  <a:srgbClr val="555555"/>
                </a:solidFill>
                <a:latin typeface="Microsoft YaHei"/>
              </a:rPr>
              <a:t>1</a:t>
            </a:r>
            <a:r>
              <a:rPr lang="en-US" sz="1000" b="0" dirty="0">
                <a:solidFill>
                  <a:srgbClr val="555555"/>
                </a:solidFill>
                <a:latin typeface="Microsoft YaHei"/>
              </a:rPr>
              <a:t>7</a:t>
            </a:r>
          </a:p>
          <a:p>
            <a:pPr algn="ctr"/>
            <a:endParaRPr sz="1000" b="0" dirty="0">
              <a:solidFill>
                <a:srgbClr val="555555"/>
              </a:solidFill>
              <a:latin typeface="Microsoft YaHei"/>
            </a:endParaRPr>
          </a:p>
        </p:txBody>
      </p:sp>
      <p:sp>
        <p:nvSpPr>
          <p:cNvPr id="6" name="矩形 5">
            <a:extLst>
              <a:ext uri="{FF2B5EF4-FFF2-40B4-BE49-F238E27FC236}">
                <a16:creationId xmlns:a16="http://schemas.microsoft.com/office/drawing/2014/main" id="{65300D83-07A5-4536-873C-B33F43EB58FA}"/>
              </a:ext>
            </a:extLst>
          </p:cNvPr>
          <p:cNvSpPr/>
          <p:nvPr/>
        </p:nvSpPr>
        <p:spPr bwMode="auto">
          <a:xfrm>
            <a:off x="456300" y="2966441"/>
            <a:ext cx="4510648" cy="146702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dirty="0">
              <a:ln>
                <a:noFill/>
              </a:ln>
              <a:solidFill>
                <a:srgbClr val="FF3300"/>
              </a:solidFill>
              <a:effectLst/>
              <a:latin typeface="Arial" panose="020B0604020202090204" pitchFamily="34" charset="0"/>
              <a:ea typeface="黑体" panose="02010609060101010101" pitchFamily="49" charset="-122"/>
            </a:endParaRPr>
          </a:p>
        </p:txBody>
      </p:sp>
      <p:sp>
        <p:nvSpPr>
          <p:cNvPr id="44" name="文本框 43">
            <a:extLst>
              <a:ext uri="{FF2B5EF4-FFF2-40B4-BE49-F238E27FC236}">
                <a16:creationId xmlns:a16="http://schemas.microsoft.com/office/drawing/2014/main" id="{2369CE2A-DEFF-4E74-8631-F728301E5DB4}"/>
              </a:ext>
            </a:extLst>
          </p:cNvPr>
          <p:cNvSpPr txBox="1"/>
          <p:nvPr/>
        </p:nvSpPr>
        <p:spPr>
          <a:xfrm>
            <a:off x="5078952" y="2146765"/>
            <a:ext cx="1728192" cy="369332"/>
          </a:xfrm>
          <a:prstGeom prst="rect">
            <a:avLst/>
          </a:prstGeom>
          <a:noFill/>
          <a:ln>
            <a:solidFill>
              <a:schemeClr val="tx1"/>
            </a:solidFill>
          </a:ln>
        </p:spPr>
        <p:txBody>
          <a:bodyPr wrap="square" rtlCol="0">
            <a:spAutoFit/>
          </a:bodyPr>
          <a:lstStyle/>
          <a:p>
            <a:pPr algn="ctr"/>
            <a:r>
              <a:rPr lang="en-US" altLang="zh-CN" sz="1800" dirty="0">
                <a:solidFill>
                  <a:schemeClr val="tx1"/>
                </a:solidFill>
              </a:rPr>
              <a:t>HNSW</a:t>
            </a:r>
            <a:r>
              <a:rPr lang="zh-CN" altLang="en-US" sz="1800" dirty="0">
                <a:solidFill>
                  <a:schemeClr val="tx1"/>
                </a:solidFill>
              </a:rPr>
              <a:t>元数据</a:t>
            </a:r>
          </a:p>
        </p:txBody>
      </p:sp>
      <p:sp>
        <p:nvSpPr>
          <p:cNvPr id="45" name="矩形 44">
            <a:extLst>
              <a:ext uri="{FF2B5EF4-FFF2-40B4-BE49-F238E27FC236}">
                <a16:creationId xmlns:a16="http://schemas.microsoft.com/office/drawing/2014/main" id="{36092F2F-F529-46A4-B9A5-7293E55BFB5F}"/>
              </a:ext>
            </a:extLst>
          </p:cNvPr>
          <p:cNvSpPr/>
          <p:nvPr/>
        </p:nvSpPr>
        <p:spPr bwMode="auto">
          <a:xfrm>
            <a:off x="1710515" y="3110456"/>
            <a:ext cx="1826141" cy="339965"/>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全局图元数据信息</a:t>
            </a:r>
          </a:p>
        </p:txBody>
      </p:sp>
      <p:cxnSp>
        <p:nvCxnSpPr>
          <p:cNvPr id="47" name="连接符: 肘形 46">
            <a:extLst>
              <a:ext uri="{FF2B5EF4-FFF2-40B4-BE49-F238E27FC236}">
                <a16:creationId xmlns:a16="http://schemas.microsoft.com/office/drawing/2014/main" id="{1CE60BC0-B99A-404D-ABE1-7F923D7437A1}"/>
              </a:ext>
            </a:extLst>
          </p:cNvPr>
          <p:cNvCxnSpPr>
            <a:cxnSpLocks/>
            <a:stCxn id="44" idx="2"/>
            <a:endCxn id="6" idx="0"/>
          </p:cNvCxnSpPr>
          <p:nvPr/>
        </p:nvCxnSpPr>
        <p:spPr bwMode="auto">
          <a:xfrm rot="5400000">
            <a:off x="4102164" y="1125557"/>
            <a:ext cx="450344" cy="323142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49" name="文本框 48">
            <a:extLst>
              <a:ext uri="{FF2B5EF4-FFF2-40B4-BE49-F238E27FC236}">
                <a16:creationId xmlns:a16="http://schemas.microsoft.com/office/drawing/2014/main" id="{B6713110-78EC-4D93-8EBE-E50ACA617001}"/>
              </a:ext>
            </a:extLst>
          </p:cNvPr>
          <p:cNvSpPr txBox="1"/>
          <p:nvPr/>
        </p:nvSpPr>
        <p:spPr>
          <a:xfrm>
            <a:off x="820682" y="3508426"/>
            <a:ext cx="3696537" cy="783163"/>
          </a:xfrm>
          <a:prstGeom prst="rect">
            <a:avLst/>
          </a:prstGeom>
          <a:noFill/>
        </p:spPr>
        <p:txBody>
          <a:bodyPr wrap="square">
            <a:spAutoFit/>
          </a:bodyPr>
          <a:lstStyle/>
          <a:p>
            <a:pPr>
              <a:lnSpc>
                <a:spcPct val="150000"/>
              </a:lnSpc>
            </a:pPr>
            <a:r>
              <a:rPr lang="en-US" altLang="zh-CN" sz="1600" dirty="0">
                <a:solidFill>
                  <a:schemeClr val="tx1"/>
                </a:solidFill>
              </a:rPr>
              <a:t>entry point</a:t>
            </a:r>
            <a:r>
              <a:rPr lang="zh-CN" altLang="en-US" sz="1600" dirty="0">
                <a:solidFill>
                  <a:schemeClr val="tx1"/>
                </a:solidFill>
              </a:rPr>
              <a:t>、</a:t>
            </a:r>
            <a:r>
              <a:rPr lang="en-US" altLang="zh-CN" sz="1600" dirty="0">
                <a:solidFill>
                  <a:schemeClr val="tx1"/>
                </a:solidFill>
              </a:rPr>
              <a:t>max level</a:t>
            </a:r>
            <a:r>
              <a:rPr lang="zh-CN" altLang="en-US" sz="1600" dirty="0">
                <a:solidFill>
                  <a:schemeClr val="tx1"/>
                </a:solidFill>
              </a:rPr>
              <a:t>、图版本号</a:t>
            </a:r>
            <a:r>
              <a:rPr lang="en-US" altLang="zh-CN" sz="1600" dirty="0">
                <a:solidFill>
                  <a:schemeClr val="tx1"/>
                </a:solidFill>
              </a:rPr>
              <a:t>……</a:t>
            </a:r>
          </a:p>
          <a:p>
            <a:pPr algn="ctr">
              <a:lnSpc>
                <a:spcPct val="150000"/>
              </a:lnSpc>
            </a:pPr>
            <a:r>
              <a:rPr lang="zh-CN" altLang="en-US" sz="1600" dirty="0">
                <a:solidFill>
                  <a:srgbClr val="FF0000"/>
                </a:solidFill>
              </a:rPr>
              <a:t>低频变化、影响全局图结构</a:t>
            </a:r>
          </a:p>
        </p:txBody>
      </p:sp>
      <p:sp>
        <p:nvSpPr>
          <p:cNvPr id="52" name="矩形 51">
            <a:extLst>
              <a:ext uri="{FF2B5EF4-FFF2-40B4-BE49-F238E27FC236}">
                <a16:creationId xmlns:a16="http://schemas.microsoft.com/office/drawing/2014/main" id="{2D98C255-FBF9-4E6A-929D-DC8BBD78F818}"/>
              </a:ext>
            </a:extLst>
          </p:cNvPr>
          <p:cNvSpPr/>
          <p:nvPr/>
        </p:nvSpPr>
        <p:spPr bwMode="auto">
          <a:xfrm>
            <a:off x="6919150" y="2965588"/>
            <a:ext cx="4510648" cy="146702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dirty="0">
              <a:ln>
                <a:noFill/>
              </a:ln>
              <a:solidFill>
                <a:srgbClr val="FF3300"/>
              </a:solidFill>
              <a:effectLst/>
              <a:latin typeface="Arial" panose="020B0604020202090204" pitchFamily="34" charset="0"/>
              <a:ea typeface="黑体" panose="02010609060101010101" pitchFamily="49" charset="-122"/>
            </a:endParaRPr>
          </a:p>
        </p:txBody>
      </p:sp>
      <p:sp>
        <p:nvSpPr>
          <p:cNvPr id="53" name="矩形 52">
            <a:extLst>
              <a:ext uri="{FF2B5EF4-FFF2-40B4-BE49-F238E27FC236}">
                <a16:creationId xmlns:a16="http://schemas.microsoft.com/office/drawing/2014/main" id="{69D0378B-AFBB-4BB2-BBD8-634A01379D48}"/>
              </a:ext>
            </a:extLst>
          </p:cNvPr>
          <p:cNvSpPr/>
          <p:nvPr/>
        </p:nvSpPr>
        <p:spPr bwMode="auto">
          <a:xfrm>
            <a:off x="8173365" y="3109603"/>
            <a:ext cx="1826141" cy="339965"/>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zh-CN" altLang="en-US" sz="1600" dirty="0">
                <a:solidFill>
                  <a:schemeClr val="tx1"/>
                </a:solidFill>
                <a:latin typeface="Arial" panose="020B0604020202090204" pitchFamily="34" charset="0"/>
                <a:ea typeface="黑体" panose="02010609060101010101" pitchFamily="49" charset="-122"/>
              </a:rPr>
              <a:t>节点级</a:t>
            </a:r>
            <a:r>
              <a:rPr kumimoji="1" lang="zh-CN" altLang="en-US" sz="1600" b="0" i="0" u="none" strike="noStrike" cap="none" normalizeH="0" baseline="0" dirty="0">
                <a:ln>
                  <a:noFill/>
                </a:ln>
                <a:solidFill>
                  <a:schemeClr val="tx1"/>
                </a:solidFill>
                <a:effectLst/>
                <a:latin typeface="Arial" panose="020B0604020202090204" pitchFamily="34" charset="0"/>
                <a:ea typeface="黑体" panose="02010609060101010101" pitchFamily="49" charset="-122"/>
              </a:rPr>
              <a:t>元数据信息</a:t>
            </a:r>
          </a:p>
        </p:txBody>
      </p:sp>
      <p:sp>
        <p:nvSpPr>
          <p:cNvPr id="54" name="文本框 53">
            <a:extLst>
              <a:ext uri="{FF2B5EF4-FFF2-40B4-BE49-F238E27FC236}">
                <a16:creationId xmlns:a16="http://schemas.microsoft.com/office/drawing/2014/main" id="{E98B9096-77CE-476A-B894-475C826DBA0C}"/>
              </a:ext>
            </a:extLst>
          </p:cNvPr>
          <p:cNvSpPr txBox="1"/>
          <p:nvPr/>
        </p:nvSpPr>
        <p:spPr>
          <a:xfrm>
            <a:off x="7465913" y="3490750"/>
            <a:ext cx="3725582" cy="783163"/>
          </a:xfrm>
          <a:prstGeom prst="rect">
            <a:avLst/>
          </a:prstGeom>
          <a:noFill/>
        </p:spPr>
        <p:txBody>
          <a:bodyPr wrap="square">
            <a:spAutoFit/>
          </a:bodyPr>
          <a:lstStyle/>
          <a:p>
            <a:pPr>
              <a:lnSpc>
                <a:spcPct val="150000"/>
              </a:lnSpc>
            </a:pPr>
            <a:r>
              <a:rPr lang="zh-CN" altLang="en-US" sz="1600" dirty="0">
                <a:solidFill>
                  <a:schemeClr val="tx1"/>
                </a:solidFill>
              </a:rPr>
              <a:t>节点元数据、边元数据、更新日志</a:t>
            </a:r>
            <a:r>
              <a:rPr lang="en-US" altLang="zh-CN" sz="1600" dirty="0">
                <a:solidFill>
                  <a:schemeClr val="tx1"/>
                </a:solidFill>
              </a:rPr>
              <a:t>……</a:t>
            </a:r>
          </a:p>
          <a:p>
            <a:pPr algn="ctr">
              <a:lnSpc>
                <a:spcPct val="150000"/>
              </a:lnSpc>
            </a:pPr>
            <a:r>
              <a:rPr lang="zh-CN" altLang="en-US" sz="1600" dirty="0">
                <a:solidFill>
                  <a:srgbClr val="FF0000"/>
                </a:solidFill>
              </a:rPr>
              <a:t>高频变化、不影响全局图结构</a:t>
            </a:r>
          </a:p>
        </p:txBody>
      </p:sp>
      <p:cxnSp>
        <p:nvCxnSpPr>
          <p:cNvPr id="56" name="连接符: 肘形 55">
            <a:extLst>
              <a:ext uri="{FF2B5EF4-FFF2-40B4-BE49-F238E27FC236}">
                <a16:creationId xmlns:a16="http://schemas.microsoft.com/office/drawing/2014/main" id="{F9C428BD-DBBE-4438-B824-C63CD996D951}"/>
              </a:ext>
            </a:extLst>
          </p:cNvPr>
          <p:cNvCxnSpPr>
            <a:stCxn id="44" idx="2"/>
            <a:endCxn id="52" idx="0"/>
          </p:cNvCxnSpPr>
          <p:nvPr/>
        </p:nvCxnSpPr>
        <p:spPr bwMode="auto">
          <a:xfrm rot="16200000" flipH="1">
            <a:off x="7334016" y="1125129"/>
            <a:ext cx="449491" cy="323142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59" name="组合 58">
            <a:extLst>
              <a:ext uri="{FF2B5EF4-FFF2-40B4-BE49-F238E27FC236}">
                <a16:creationId xmlns:a16="http://schemas.microsoft.com/office/drawing/2014/main" id="{28D37801-65D1-418F-9F04-4543019444D1}"/>
              </a:ext>
            </a:extLst>
          </p:cNvPr>
          <p:cNvGrpSpPr/>
          <p:nvPr/>
        </p:nvGrpSpPr>
        <p:grpSpPr>
          <a:xfrm>
            <a:off x="1104936" y="4955829"/>
            <a:ext cx="3213376" cy="648072"/>
            <a:chOff x="1275220" y="4517034"/>
            <a:chExt cx="3213376" cy="648072"/>
          </a:xfrm>
        </p:grpSpPr>
        <p:sp>
          <p:nvSpPr>
            <p:cNvPr id="57" name="矩形 56">
              <a:extLst>
                <a:ext uri="{FF2B5EF4-FFF2-40B4-BE49-F238E27FC236}">
                  <a16:creationId xmlns:a16="http://schemas.microsoft.com/office/drawing/2014/main" id="{B9F14DB3-90C6-4BD7-91D2-3C2C67C84459}"/>
                </a:ext>
              </a:extLst>
            </p:cNvPr>
            <p:cNvSpPr/>
            <p:nvPr/>
          </p:nvSpPr>
          <p:spPr bwMode="auto">
            <a:xfrm>
              <a:off x="1275220" y="4517034"/>
              <a:ext cx="3213376" cy="648072"/>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dirty="0">
                <a:ln>
                  <a:noFill/>
                </a:ln>
                <a:solidFill>
                  <a:srgbClr val="FF3300"/>
                </a:solidFill>
                <a:effectLst/>
                <a:latin typeface="Arial" panose="020B0604020202090204" pitchFamily="34" charset="0"/>
                <a:ea typeface="黑体" panose="02010609060101010101" pitchFamily="49" charset="-122"/>
              </a:endParaRPr>
            </a:p>
          </p:txBody>
        </p:sp>
        <p:sp>
          <p:nvSpPr>
            <p:cNvPr id="58" name="文本框 57">
              <a:extLst>
                <a:ext uri="{FF2B5EF4-FFF2-40B4-BE49-F238E27FC236}">
                  <a16:creationId xmlns:a16="http://schemas.microsoft.com/office/drawing/2014/main" id="{80867E5D-1E8D-49A7-B891-2218A446518C}"/>
                </a:ext>
              </a:extLst>
            </p:cNvPr>
            <p:cNvSpPr txBox="1"/>
            <p:nvPr/>
          </p:nvSpPr>
          <p:spPr>
            <a:xfrm>
              <a:off x="1989323" y="4637477"/>
              <a:ext cx="1922944" cy="369332"/>
            </a:xfrm>
            <a:prstGeom prst="rect">
              <a:avLst/>
            </a:prstGeom>
            <a:noFill/>
          </p:spPr>
          <p:txBody>
            <a:bodyPr wrap="square" rtlCol="0">
              <a:spAutoFit/>
            </a:bodyPr>
            <a:lstStyle/>
            <a:p>
              <a:r>
                <a:rPr lang="en-US" altLang="zh-CN" sz="1800" dirty="0">
                  <a:solidFill>
                    <a:schemeClr val="tx1"/>
                  </a:solidFill>
                </a:rPr>
                <a:t>Global header</a:t>
              </a:r>
              <a:endParaRPr lang="zh-CN" altLang="en-US" sz="1800" dirty="0">
                <a:solidFill>
                  <a:schemeClr val="tx1"/>
                </a:solidFill>
              </a:endParaRPr>
            </a:p>
          </p:txBody>
        </p:sp>
      </p:grpSp>
      <p:grpSp>
        <p:nvGrpSpPr>
          <p:cNvPr id="60" name="组合 59">
            <a:extLst>
              <a:ext uri="{FF2B5EF4-FFF2-40B4-BE49-F238E27FC236}">
                <a16:creationId xmlns:a16="http://schemas.microsoft.com/office/drawing/2014/main" id="{F6764F0E-983F-4FC8-B43F-494A989C246A}"/>
              </a:ext>
            </a:extLst>
          </p:cNvPr>
          <p:cNvGrpSpPr/>
          <p:nvPr/>
        </p:nvGrpSpPr>
        <p:grpSpPr>
          <a:xfrm>
            <a:off x="6014486" y="4936902"/>
            <a:ext cx="1637237" cy="648072"/>
            <a:chOff x="1275220" y="4517034"/>
            <a:chExt cx="2808495" cy="648072"/>
          </a:xfrm>
        </p:grpSpPr>
        <p:sp>
          <p:nvSpPr>
            <p:cNvPr id="61" name="矩形 60">
              <a:extLst>
                <a:ext uri="{FF2B5EF4-FFF2-40B4-BE49-F238E27FC236}">
                  <a16:creationId xmlns:a16="http://schemas.microsoft.com/office/drawing/2014/main" id="{E210306A-E311-486A-AEC2-7924A45CDAB3}"/>
                </a:ext>
              </a:extLst>
            </p:cNvPr>
            <p:cNvSpPr/>
            <p:nvPr/>
          </p:nvSpPr>
          <p:spPr bwMode="auto">
            <a:xfrm>
              <a:off x="1275220" y="4517034"/>
              <a:ext cx="2808495" cy="64807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dirty="0">
                <a:ln>
                  <a:noFill/>
                </a:ln>
                <a:solidFill>
                  <a:srgbClr val="FF3300"/>
                </a:solidFill>
                <a:effectLst/>
                <a:latin typeface="Arial" panose="020B0604020202090204" pitchFamily="34" charset="0"/>
                <a:ea typeface="黑体" panose="02010609060101010101" pitchFamily="49" charset="-122"/>
              </a:endParaRPr>
            </a:p>
          </p:txBody>
        </p:sp>
        <p:sp>
          <p:nvSpPr>
            <p:cNvPr id="62" name="文本框 61">
              <a:extLst>
                <a:ext uri="{FF2B5EF4-FFF2-40B4-BE49-F238E27FC236}">
                  <a16:creationId xmlns:a16="http://schemas.microsoft.com/office/drawing/2014/main" id="{EF82C420-A611-49BA-9BF2-2A3B5D32A104}"/>
                </a:ext>
              </a:extLst>
            </p:cNvPr>
            <p:cNvSpPr txBox="1"/>
            <p:nvPr/>
          </p:nvSpPr>
          <p:spPr>
            <a:xfrm>
              <a:off x="1416002" y="4641015"/>
              <a:ext cx="2526930" cy="369332"/>
            </a:xfrm>
            <a:prstGeom prst="rect">
              <a:avLst/>
            </a:prstGeom>
            <a:noFill/>
          </p:spPr>
          <p:txBody>
            <a:bodyPr wrap="square" rtlCol="0">
              <a:spAutoFit/>
            </a:bodyPr>
            <a:lstStyle/>
            <a:p>
              <a:r>
                <a:rPr lang="en-US" altLang="zh-CN" sz="1800" dirty="0">
                  <a:solidFill>
                    <a:schemeClr val="tx1"/>
                  </a:solidFill>
                </a:rPr>
                <a:t>Shard-local</a:t>
              </a:r>
              <a:endParaRPr lang="zh-CN" altLang="en-US" sz="1800" dirty="0">
                <a:solidFill>
                  <a:schemeClr val="tx1"/>
                </a:solidFill>
              </a:endParaRPr>
            </a:p>
          </p:txBody>
        </p:sp>
      </p:grpSp>
      <p:grpSp>
        <p:nvGrpSpPr>
          <p:cNvPr id="72" name="组合 71">
            <a:extLst>
              <a:ext uri="{FF2B5EF4-FFF2-40B4-BE49-F238E27FC236}">
                <a16:creationId xmlns:a16="http://schemas.microsoft.com/office/drawing/2014/main" id="{3A4A6C1A-4EE2-467F-B03F-2BB06F5F9694}"/>
              </a:ext>
            </a:extLst>
          </p:cNvPr>
          <p:cNvGrpSpPr/>
          <p:nvPr/>
        </p:nvGrpSpPr>
        <p:grpSpPr>
          <a:xfrm>
            <a:off x="8035407" y="4936902"/>
            <a:ext cx="1637237" cy="648072"/>
            <a:chOff x="1275220" y="4517034"/>
            <a:chExt cx="2808495" cy="648072"/>
          </a:xfrm>
        </p:grpSpPr>
        <p:sp>
          <p:nvSpPr>
            <p:cNvPr id="73" name="矩形 72">
              <a:extLst>
                <a:ext uri="{FF2B5EF4-FFF2-40B4-BE49-F238E27FC236}">
                  <a16:creationId xmlns:a16="http://schemas.microsoft.com/office/drawing/2014/main" id="{BA260247-A623-40EA-AB0B-74111DE35D24}"/>
                </a:ext>
              </a:extLst>
            </p:cNvPr>
            <p:cNvSpPr/>
            <p:nvPr/>
          </p:nvSpPr>
          <p:spPr bwMode="auto">
            <a:xfrm>
              <a:off x="1275220" y="4517034"/>
              <a:ext cx="2808495" cy="64807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dirty="0">
                <a:ln>
                  <a:noFill/>
                </a:ln>
                <a:solidFill>
                  <a:srgbClr val="FF3300"/>
                </a:solidFill>
                <a:effectLst/>
                <a:latin typeface="Arial" panose="020B0604020202090204" pitchFamily="34" charset="0"/>
                <a:ea typeface="黑体" panose="02010609060101010101" pitchFamily="49" charset="-122"/>
              </a:endParaRPr>
            </a:p>
          </p:txBody>
        </p:sp>
        <p:sp>
          <p:nvSpPr>
            <p:cNvPr id="74" name="文本框 73">
              <a:extLst>
                <a:ext uri="{FF2B5EF4-FFF2-40B4-BE49-F238E27FC236}">
                  <a16:creationId xmlns:a16="http://schemas.microsoft.com/office/drawing/2014/main" id="{EAA5FEDD-5A52-4F9A-B04A-BD019D382813}"/>
                </a:ext>
              </a:extLst>
            </p:cNvPr>
            <p:cNvSpPr txBox="1"/>
            <p:nvPr/>
          </p:nvSpPr>
          <p:spPr>
            <a:xfrm>
              <a:off x="1416002" y="4641015"/>
              <a:ext cx="2526930" cy="369332"/>
            </a:xfrm>
            <a:prstGeom prst="rect">
              <a:avLst/>
            </a:prstGeom>
            <a:noFill/>
          </p:spPr>
          <p:txBody>
            <a:bodyPr wrap="square" rtlCol="0">
              <a:spAutoFit/>
            </a:bodyPr>
            <a:lstStyle/>
            <a:p>
              <a:r>
                <a:rPr lang="en-US" altLang="zh-CN" sz="1800" dirty="0">
                  <a:solidFill>
                    <a:schemeClr val="tx1"/>
                  </a:solidFill>
                </a:rPr>
                <a:t>Shard-local</a:t>
              </a:r>
              <a:endParaRPr lang="zh-CN" altLang="en-US" sz="1800" dirty="0">
                <a:solidFill>
                  <a:schemeClr val="tx1"/>
                </a:solidFill>
              </a:endParaRPr>
            </a:p>
          </p:txBody>
        </p:sp>
      </p:grpSp>
      <p:grpSp>
        <p:nvGrpSpPr>
          <p:cNvPr id="75" name="组合 74">
            <a:extLst>
              <a:ext uri="{FF2B5EF4-FFF2-40B4-BE49-F238E27FC236}">
                <a16:creationId xmlns:a16="http://schemas.microsoft.com/office/drawing/2014/main" id="{4C737717-0FDD-4D20-ADFA-3630E40B0760}"/>
              </a:ext>
            </a:extLst>
          </p:cNvPr>
          <p:cNvGrpSpPr/>
          <p:nvPr/>
        </p:nvGrpSpPr>
        <p:grpSpPr>
          <a:xfrm>
            <a:off x="10318758" y="4936902"/>
            <a:ext cx="1637237" cy="648072"/>
            <a:chOff x="1275220" y="4517034"/>
            <a:chExt cx="2808495" cy="648072"/>
          </a:xfrm>
        </p:grpSpPr>
        <p:sp>
          <p:nvSpPr>
            <p:cNvPr id="76" name="矩形 75">
              <a:extLst>
                <a:ext uri="{FF2B5EF4-FFF2-40B4-BE49-F238E27FC236}">
                  <a16:creationId xmlns:a16="http://schemas.microsoft.com/office/drawing/2014/main" id="{46AC45A2-896C-43AE-A045-37763DC2B505}"/>
                </a:ext>
              </a:extLst>
            </p:cNvPr>
            <p:cNvSpPr/>
            <p:nvPr/>
          </p:nvSpPr>
          <p:spPr bwMode="auto">
            <a:xfrm>
              <a:off x="1275220" y="4517034"/>
              <a:ext cx="2808495" cy="64807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dirty="0">
                <a:ln>
                  <a:noFill/>
                </a:ln>
                <a:solidFill>
                  <a:srgbClr val="FF3300"/>
                </a:solidFill>
                <a:effectLst/>
                <a:latin typeface="Arial" panose="020B0604020202090204" pitchFamily="34" charset="0"/>
                <a:ea typeface="黑体" panose="02010609060101010101" pitchFamily="49" charset="-122"/>
              </a:endParaRPr>
            </a:p>
          </p:txBody>
        </p:sp>
        <p:sp>
          <p:nvSpPr>
            <p:cNvPr id="77" name="文本框 76">
              <a:extLst>
                <a:ext uri="{FF2B5EF4-FFF2-40B4-BE49-F238E27FC236}">
                  <a16:creationId xmlns:a16="http://schemas.microsoft.com/office/drawing/2014/main" id="{6A96106F-7D0C-41D2-9360-930C99EF0E67}"/>
                </a:ext>
              </a:extLst>
            </p:cNvPr>
            <p:cNvSpPr txBox="1"/>
            <p:nvPr/>
          </p:nvSpPr>
          <p:spPr>
            <a:xfrm>
              <a:off x="1416002" y="4641015"/>
              <a:ext cx="2526930" cy="369332"/>
            </a:xfrm>
            <a:prstGeom prst="rect">
              <a:avLst/>
            </a:prstGeom>
            <a:noFill/>
          </p:spPr>
          <p:txBody>
            <a:bodyPr wrap="square" rtlCol="0">
              <a:spAutoFit/>
            </a:bodyPr>
            <a:lstStyle/>
            <a:p>
              <a:r>
                <a:rPr lang="en-US" altLang="zh-CN" sz="1800" dirty="0">
                  <a:solidFill>
                    <a:schemeClr val="tx1"/>
                  </a:solidFill>
                </a:rPr>
                <a:t>Shard-local</a:t>
              </a:r>
              <a:endParaRPr lang="zh-CN" altLang="en-US" sz="1800" dirty="0">
                <a:solidFill>
                  <a:schemeClr val="tx1"/>
                </a:solidFill>
              </a:endParaRPr>
            </a:p>
          </p:txBody>
        </p:sp>
      </p:grpSp>
      <p:sp>
        <p:nvSpPr>
          <p:cNvPr id="78" name="文本框 77">
            <a:extLst>
              <a:ext uri="{FF2B5EF4-FFF2-40B4-BE49-F238E27FC236}">
                <a16:creationId xmlns:a16="http://schemas.microsoft.com/office/drawing/2014/main" id="{16638682-C8B3-4A2C-944F-F7E768C30A39}"/>
              </a:ext>
            </a:extLst>
          </p:cNvPr>
          <p:cNvSpPr txBox="1"/>
          <p:nvPr/>
        </p:nvSpPr>
        <p:spPr>
          <a:xfrm>
            <a:off x="9812980" y="4992144"/>
            <a:ext cx="404391" cy="400110"/>
          </a:xfrm>
          <a:prstGeom prst="rect">
            <a:avLst/>
          </a:prstGeom>
          <a:noFill/>
        </p:spPr>
        <p:txBody>
          <a:bodyPr wrap="square" rtlCol="0">
            <a:spAutoFit/>
          </a:bodyPr>
          <a:lstStyle/>
          <a:p>
            <a:r>
              <a:rPr lang="en-US" altLang="zh-CN" dirty="0">
                <a:solidFill>
                  <a:schemeClr val="tx1"/>
                </a:solidFill>
              </a:rPr>
              <a:t>…</a:t>
            </a:r>
            <a:endParaRPr lang="zh-CN" altLang="en-US" dirty="0">
              <a:solidFill>
                <a:schemeClr val="tx1"/>
              </a:solidFill>
            </a:endParaRPr>
          </a:p>
        </p:txBody>
      </p:sp>
      <p:sp>
        <p:nvSpPr>
          <p:cNvPr id="79" name="箭头: 下 78">
            <a:extLst>
              <a:ext uri="{FF2B5EF4-FFF2-40B4-BE49-F238E27FC236}">
                <a16:creationId xmlns:a16="http://schemas.microsoft.com/office/drawing/2014/main" id="{93DC95AA-02B7-4A8F-A1A4-614759209A8C}"/>
              </a:ext>
            </a:extLst>
          </p:cNvPr>
          <p:cNvSpPr/>
          <p:nvPr/>
        </p:nvSpPr>
        <p:spPr bwMode="auto">
          <a:xfrm>
            <a:off x="2557392" y="4543079"/>
            <a:ext cx="223119" cy="302278"/>
          </a:xfrm>
          <a:prstGeom prst="downArrow">
            <a:avLst/>
          </a:prstGeom>
          <a:solidFill>
            <a:srgbClr val="208FC9"/>
          </a:solidFill>
          <a:ln>
            <a:solidFill>
              <a:schemeClr val="accent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80" name="箭头: 下 79">
            <a:extLst>
              <a:ext uri="{FF2B5EF4-FFF2-40B4-BE49-F238E27FC236}">
                <a16:creationId xmlns:a16="http://schemas.microsoft.com/office/drawing/2014/main" id="{2D3833FD-8F36-49CB-8D9F-0FD6F671FE70}"/>
              </a:ext>
            </a:extLst>
          </p:cNvPr>
          <p:cNvSpPr/>
          <p:nvPr/>
        </p:nvSpPr>
        <p:spPr bwMode="auto">
          <a:xfrm>
            <a:off x="9105585" y="4539689"/>
            <a:ext cx="223119" cy="302278"/>
          </a:xfrm>
          <a:prstGeom prst="downArrow">
            <a:avLst/>
          </a:prstGeom>
          <a:solidFill>
            <a:srgbClr val="FF0000"/>
          </a:solidFill>
          <a:ln>
            <a:solidFill>
              <a:schemeClr val="accent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81" name="箭头: 下 80">
            <a:extLst>
              <a:ext uri="{FF2B5EF4-FFF2-40B4-BE49-F238E27FC236}">
                <a16:creationId xmlns:a16="http://schemas.microsoft.com/office/drawing/2014/main" id="{74B9E190-C1DC-4ECE-87CD-0B5FEEF2E361}"/>
              </a:ext>
            </a:extLst>
          </p:cNvPr>
          <p:cNvSpPr/>
          <p:nvPr/>
        </p:nvSpPr>
        <p:spPr bwMode="auto">
          <a:xfrm rot="3416359">
            <a:off x="7335776" y="4462535"/>
            <a:ext cx="168310" cy="443585"/>
          </a:xfrm>
          <a:prstGeom prst="downArrow">
            <a:avLst/>
          </a:prstGeom>
          <a:solidFill>
            <a:srgbClr val="FF0000"/>
          </a:solidFill>
          <a:ln>
            <a:solidFill>
              <a:schemeClr val="accent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82" name="箭头: 下 81">
            <a:extLst>
              <a:ext uri="{FF2B5EF4-FFF2-40B4-BE49-F238E27FC236}">
                <a16:creationId xmlns:a16="http://schemas.microsoft.com/office/drawing/2014/main" id="{15A97F7E-8FF3-48D3-A012-7454F24D1620}"/>
              </a:ext>
            </a:extLst>
          </p:cNvPr>
          <p:cNvSpPr/>
          <p:nvPr/>
        </p:nvSpPr>
        <p:spPr bwMode="auto">
          <a:xfrm rot="18486521">
            <a:off x="10829701" y="4450962"/>
            <a:ext cx="168310" cy="443585"/>
          </a:xfrm>
          <a:prstGeom prst="downArrow">
            <a:avLst/>
          </a:prstGeom>
          <a:solidFill>
            <a:srgbClr val="FF0000"/>
          </a:solidFill>
          <a:ln>
            <a:solidFill>
              <a:schemeClr val="accent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90204" pitchFamily="34" charset="0"/>
              <a:ea typeface="黑体" panose="02010609060101010101" pitchFamily="49" charset="-122"/>
            </a:endParaRPr>
          </a:p>
        </p:txBody>
      </p:sp>
      <p:sp>
        <p:nvSpPr>
          <p:cNvPr id="83" name="文本框 82">
            <a:extLst>
              <a:ext uri="{FF2B5EF4-FFF2-40B4-BE49-F238E27FC236}">
                <a16:creationId xmlns:a16="http://schemas.microsoft.com/office/drawing/2014/main" id="{DEB3B267-C7AF-4D4F-A996-65F5794221E8}"/>
              </a:ext>
            </a:extLst>
          </p:cNvPr>
          <p:cNvSpPr txBox="1"/>
          <p:nvPr/>
        </p:nvSpPr>
        <p:spPr>
          <a:xfrm>
            <a:off x="525123" y="5614016"/>
            <a:ext cx="10455300" cy="1235659"/>
          </a:xfrm>
          <a:prstGeom prst="rect">
            <a:avLst/>
          </a:prstGeom>
          <a:noFill/>
        </p:spPr>
        <p:txBody>
          <a:bodyPr wrap="square" rtlCol="0">
            <a:spAutoFit/>
          </a:bodyPr>
          <a:lstStyle/>
          <a:p>
            <a:pPr>
              <a:lnSpc>
                <a:spcPct val="150000"/>
              </a:lnSpc>
            </a:pPr>
            <a:r>
              <a:rPr lang="zh-CN" altLang="en-US" sz="1600" dirty="0"/>
              <a:t>协议优化机制：</a:t>
            </a:r>
            <a:endParaRPr lang="en-US" altLang="zh-CN" sz="1600" dirty="0"/>
          </a:p>
          <a:p>
            <a:pPr>
              <a:lnSpc>
                <a:spcPct val="150000"/>
              </a:lnSpc>
            </a:pPr>
            <a:r>
              <a:rPr lang="zh-CN" altLang="en-US" sz="1600" dirty="0">
                <a:solidFill>
                  <a:schemeClr val="tx1"/>
                </a:solidFill>
              </a:rPr>
              <a:t>（</a:t>
            </a:r>
            <a:r>
              <a:rPr lang="en-US" altLang="zh-CN" sz="1600" dirty="0">
                <a:solidFill>
                  <a:schemeClr val="tx1"/>
                </a:solidFill>
              </a:rPr>
              <a:t>1</a:t>
            </a:r>
            <a:r>
              <a:rPr lang="zh-CN" altLang="en-US" sz="1600" dirty="0">
                <a:solidFill>
                  <a:schemeClr val="tx1"/>
                </a:solidFill>
              </a:rPr>
              <a:t>）普通插入写 </a:t>
            </a:r>
            <a:r>
              <a:rPr lang="en-US" altLang="zh-CN" sz="1600" dirty="0">
                <a:solidFill>
                  <a:schemeClr val="tx1"/>
                </a:solidFill>
              </a:rPr>
              <a:t>shard-local</a:t>
            </a:r>
            <a:r>
              <a:rPr lang="zh-CN" altLang="en-US" sz="1600" dirty="0">
                <a:solidFill>
                  <a:schemeClr val="tx1"/>
                </a:solidFill>
              </a:rPr>
              <a:t>；仅最高层变化时条件更新 </a:t>
            </a:r>
            <a:r>
              <a:rPr lang="en-US" altLang="zh-CN" sz="1600" dirty="0">
                <a:solidFill>
                  <a:schemeClr val="tx1"/>
                </a:solidFill>
              </a:rPr>
              <a:t>global header</a:t>
            </a:r>
            <a:r>
              <a:rPr lang="zh-CN" altLang="en-US" sz="1600" dirty="0">
                <a:solidFill>
                  <a:schemeClr val="tx1"/>
                </a:solidFill>
              </a:rPr>
              <a:t>；</a:t>
            </a:r>
            <a:endParaRPr lang="en-US" altLang="zh-CN" sz="1600" dirty="0">
              <a:solidFill>
                <a:schemeClr val="tx1"/>
              </a:solidFill>
            </a:endParaRPr>
          </a:p>
          <a:p>
            <a:pPr>
              <a:lnSpc>
                <a:spcPct val="150000"/>
              </a:lnSpc>
            </a:pPr>
            <a:r>
              <a:rPr lang="zh-CN" altLang="en-US" sz="1600" dirty="0">
                <a:solidFill>
                  <a:schemeClr val="tx1"/>
                </a:solidFill>
              </a:rPr>
              <a:t>（</a:t>
            </a:r>
            <a:r>
              <a:rPr lang="en-US" altLang="zh-CN" sz="1600" dirty="0">
                <a:solidFill>
                  <a:schemeClr val="tx1"/>
                </a:solidFill>
              </a:rPr>
              <a:t>2</a:t>
            </a:r>
            <a:r>
              <a:rPr lang="zh-CN" altLang="en-US" sz="1600" dirty="0">
                <a:solidFill>
                  <a:schemeClr val="tx1"/>
                </a:solidFill>
              </a:rPr>
              <a:t>）由串行排队提交改为并行批量提交；（</a:t>
            </a:r>
            <a:r>
              <a:rPr lang="en-US" altLang="zh-CN" sz="1600" dirty="0">
                <a:solidFill>
                  <a:schemeClr val="tx1"/>
                </a:solidFill>
              </a:rPr>
              <a:t>3</a:t>
            </a:r>
            <a:r>
              <a:rPr lang="zh-CN" altLang="en-US" sz="1600" dirty="0">
                <a:solidFill>
                  <a:schemeClr val="tx1"/>
                </a:solidFill>
              </a:rPr>
              <a:t>）冲突只重试相关对象，不影响全局。</a:t>
            </a:r>
            <a:r>
              <a:rPr lang="en-US" altLang="zh-CN" dirty="0">
                <a:solidFill>
                  <a:schemeClr val="tx1"/>
                </a:solidFill>
              </a:rPr>
              <a:t>	</a:t>
            </a:r>
            <a:endParaRPr lang="zh-CN" altLang="en-US" dirty="0">
              <a:solidFill>
                <a:schemeClr val="tx1"/>
              </a:solidFill>
            </a:endParaRPr>
          </a:p>
        </p:txBody>
      </p:sp>
      <p:sp>
        <p:nvSpPr>
          <p:cNvPr id="8" name="文本框 7">
            <a:extLst>
              <a:ext uri="{FF2B5EF4-FFF2-40B4-BE49-F238E27FC236}">
                <a16:creationId xmlns:a16="http://schemas.microsoft.com/office/drawing/2014/main" id="{BC0FCD71-AB3C-EAC9-CF70-A884308009E4}"/>
              </a:ext>
            </a:extLst>
          </p:cNvPr>
          <p:cNvSpPr txBox="1"/>
          <p:nvPr/>
        </p:nvSpPr>
        <p:spPr>
          <a:xfrm>
            <a:off x="335360" y="1691640"/>
            <a:ext cx="12539190" cy="400110"/>
          </a:xfrm>
          <a:prstGeom prst="rect">
            <a:avLst/>
          </a:prstGeom>
          <a:noFill/>
        </p:spPr>
        <p:txBody>
          <a:bodyPr wrap="square">
            <a:spAutoFit/>
          </a:bodyPr>
          <a:lstStyle/>
          <a:p>
            <a:r>
              <a:rPr lang="zh-CN" altLang="en-US"/>
              <a:t>瓶颈：</a:t>
            </a:r>
            <a:r>
              <a:rPr lang="zh-CN" altLang="en-US">
                <a:solidFill>
                  <a:schemeClr val="tx1"/>
                </a:solidFill>
              </a:rPr>
              <a:t>所有更新都集中修改</a:t>
            </a:r>
            <a:r>
              <a:rPr lang="en-US" altLang="zh-CN">
                <a:solidFill>
                  <a:schemeClr val="tx1"/>
                </a:solidFill>
              </a:rPr>
              <a:t>global meta</a:t>
            </a:r>
            <a:r>
              <a:rPr lang="zh-CN" altLang="en-US">
                <a:solidFill>
                  <a:schemeClr val="tx1"/>
                </a:solidFill>
              </a:rPr>
              <a:t>，会导致多个</a:t>
            </a:r>
            <a:r>
              <a:rPr lang="en-US" altLang="zh-CN">
                <a:solidFill>
                  <a:schemeClr val="tx1"/>
                </a:solidFill>
              </a:rPr>
              <a:t>OSD</a:t>
            </a:r>
            <a:r>
              <a:rPr lang="zh-CN" altLang="en-US">
                <a:solidFill>
                  <a:schemeClr val="tx1"/>
                </a:solidFill>
              </a:rPr>
              <a:t>更新请求竞争同一个全局状态，形成串行瓶颈</a:t>
            </a:r>
          </a:p>
        </p:txBody>
      </p:sp>
    </p:spTree>
    <p:extLst>
      <p:ext uri="{BB962C8B-B14F-4D97-AF65-F5344CB8AC3E}">
        <p14:creationId xmlns:p14="http://schemas.microsoft.com/office/powerpoint/2010/main" val="2792196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Microsoft YaHei"/>
              </a:defRPr>
            </a:pPr>
            <a:r>
              <a:t>04</a:t>
            </a:r>
          </a:p>
        </p:txBody>
      </p:sp>
      <p:sp>
        <p:nvSpPr>
          <p:cNvPr id="3" name="TextBox 2"/>
          <p:cNvSpPr txBox="1"/>
          <p:nvPr/>
        </p:nvSpPr>
        <p:spPr>
          <a:xfrm>
            <a:off x="1508760" y="1070916"/>
            <a:ext cx="9692640" cy="409343"/>
          </a:xfrm>
          <a:prstGeom prst="rect">
            <a:avLst/>
          </a:prstGeom>
          <a:noFill/>
        </p:spPr>
        <p:txBody>
          <a:bodyPr wrap="square" lIns="54864" tIns="27432" rIns="54864" bIns="27432" anchor="ctr">
            <a:spAutoFit/>
          </a:bodyPr>
          <a:lstStyle/>
          <a:p>
            <a:pPr>
              <a:defRPr sz="2600" b="0">
                <a:solidFill>
                  <a:srgbClr val="414141"/>
                </a:solidFill>
                <a:latin typeface="Microsoft YaHei"/>
              </a:defRPr>
            </a:pPr>
            <a:r>
              <a:rPr lang="zh-CN" altLang="en-US" sz="2300" dirty="0">
                <a:solidFill>
                  <a:schemeClr val="tx1"/>
                </a:solidFill>
                <a:latin typeface="Microsoft YaHei"/>
              </a:rPr>
              <a:t>优化设计总结</a:t>
            </a:r>
            <a:endParaRPr sz="2300" dirty="0">
              <a:solidFill>
                <a:schemeClr val="tx1"/>
              </a:solidFill>
              <a:latin typeface="Microsoft YaHei"/>
            </a:endParaRPr>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51659" y="6309320"/>
            <a:ext cx="261483" cy="209288"/>
          </a:xfrm>
          <a:prstGeom prst="rect">
            <a:avLst/>
          </a:prstGeom>
          <a:noFill/>
        </p:spPr>
        <p:txBody>
          <a:bodyPr wrap="none" lIns="54864" tIns="27432" rIns="54864" bIns="27432">
            <a:spAutoFit/>
          </a:bodyPr>
          <a:lstStyle/>
          <a:p>
            <a:pPr algn="ctr"/>
            <a:r>
              <a:rPr sz="1000" b="0" dirty="0">
                <a:solidFill>
                  <a:srgbClr val="555555"/>
                </a:solidFill>
                <a:latin typeface="Microsoft YaHei"/>
              </a:rPr>
              <a:t>1</a:t>
            </a:r>
            <a:r>
              <a:rPr lang="en-US" sz="1000" b="0" dirty="0">
                <a:solidFill>
                  <a:srgbClr val="555555"/>
                </a:solidFill>
                <a:latin typeface="Microsoft YaHei"/>
              </a:rPr>
              <a:t>8</a:t>
            </a:r>
            <a:endParaRPr sz="1000" b="0" dirty="0">
              <a:solidFill>
                <a:srgbClr val="555555"/>
              </a:solidFill>
              <a:latin typeface="Microsoft YaHei"/>
            </a:endParaRPr>
          </a:p>
        </p:txBody>
      </p:sp>
      <p:graphicFrame>
        <p:nvGraphicFramePr>
          <p:cNvPr id="6" name="表格 5">
            <a:extLst>
              <a:ext uri="{FF2B5EF4-FFF2-40B4-BE49-F238E27FC236}">
                <a16:creationId xmlns:a16="http://schemas.microsoft.com/office/drawing/2014/main" id="{983F98CF-1374-4EC0-B9E7-735A800D4CD4}"/>
              </a:ext>
            </a:extLst>
          </p:cNvPr>
          <p:cNvGraphicFramePr>
            <a:graphicFrameLocks noGrp="1"/>
          </p:cNvGraphicFramePr>
          <p:nvPr>
            <p:extLst>
              <p:ext uri="{D42A27DB-BD31-4B8C-83A1-F6EECF244321}">
                <p14:modId xmlns:p14="http://schemas.microsoft.com/office/powerpoint/2010/main" val="95519398"/>
              </p:ext>
            </p:extLst>
          </p:nvPr>
        </p:nvGraphicFramePr>
        <p:xfrm>
          <a:off x="550887" y="1762464"/>
          <a:ext cx="10972800" cy="2286000"/>
        </p:xfrm>
        <a:graphic>
          <a:graphicData uri="http://schemas.openxmlformats.org/drawingml/2006/table">
            <a:tbl>
              <a:tblPr/>
              <a:tblGrid>
                <a:gridCol w="2743200">
                  <a:extLst>
                    <a:ext uri="{9D8B030D-6E8A-4147-A177-3AD203B41FA5}">
                      <a16:colId xmlns:a16="http://schemas.microsoft.com/office/drawing/2014/main" val="1648495066"/>
                    </a:ext>
                  </a:extLst>
                </a:gridCol>
                <a:gridCol w="2743200">
                  <a:extLst>
                    <a:ext uri="{9D8B030D-6E8A-4147-A177-3AD203B41FA5}">
                      <a16:colId xmlns:a16="http://schemas.microsoft.com/office/drawing/2014/main" val="3716333902"/>
                    </a:ext>
                  </a:extLst>
                </a:gridCol>
                <a:gridCol w="3384376">
                  <a:extLst>
                    <a:ext uri="{9D8B030D-6E8A-4147-A177-3AD203B41FA5}">
                      <a16:colId xmlns:a16="http://schemas.microsoft.com/office/drawing/2014/main" val="2795242366"/>
                    </a:ext>
                  </a:extLst>
                </a:gridCol>
                <a:gridCol w="2102024">
                  <a:extLst>
                    <a:ext uri="{9D8B030D-6E8A-4147-A177-3AD203B41FA5}">
                      <a16:colId xmlns:a16="http://schemas.microsoft.com/office/drawing/2014/main" val="1330833686"/>
                    </a:ext>
                  </a:extLst>
                </a:gridCol>
              </a:tblGrid>
              <a:tr h="0">
                <a:tc>
                  <a:txBody>
                    <a:bodyPr/>
                    <a:lstStyle/>
                    <a:p>
                      <a:pPr algn="ctr"/>
                      <a:r>
                        <a:rPr lang="zh-CN" altLang="en-US" dirty="0">
                          <a:latin typeface="Times New Roman" panose="02020603050405020304" pitchFamily="18" charset="0"/>
                          <a:ea typeface="+mn-ea"/>
                          <a:cs typeface="Times New Roman" panose="02020603050405020304" pitchFamily="18" charset="0"/>
                        </a:rPr>
                        <a:t>优化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Times New Roman" panose="02020603050405020304" pitchFamily="18" charset="0"/>
                          <a:ea typeface="+mn-ea"/>
                          <a:cs typeface="Times New Roman" panose="02020603050405020304" pitchFamily="18" charset="0"/>
                        </a:rPr>
                        <a:t>主要解决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a:latin typeface="Times New Roman" panose="02020603050405020304" pitchFamily="18" charset="0"/>
                          <a:ea typeface="+mn-ea"/>
                          <a:cs typeface="Times New Roman" panose="02020603050405020304" pitchFamily="18" charset="0"/>
                        </a:rPr>
                        <a:t>核心指标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Times New Roman" panose="02020603050405020304" pitchFamily="18" charset="0"/>
                          <a:ea typeface="+mn-ea"/>
                          <a:cs typeface="Times New Roman" panose="02020603050405020304" pitchFamily="18" charset="0"/>
                        </a:rPr>
                        <a:t>预计收益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3804599"/>
                  </a:ext>
                </a:extLst>
              </a:tr>
              <a:tr h="0">
                <a:tc>
                  <a:txBody>
                    <a:bodyPr/>
                    <a:lstStyle/>
                    <a:p>
                      <a:r>
                        <a:rPr lang="zh-CN" altLang="en-US" sz="1800" dirty="0">
                          <a:solidFill>
                            <a:schemeClr val="tx1"/>
                          </a:solidFill>
                          <a:latin typeface="Times New Roman" panose="02020603050405020304" pitchFamily="18" charset="0"/>
                          <a:ea typeface="+mn-ea"/>
                          <a:cs typeface="Times New Roman" panose="02020603050405020304" pitchFamily="18" charset="0"/>
                        </a:rPr>
                        <a:t>图结构感知的数据</a:t>
                      </a:r>
                      <a:r>
                        <a:rPr lang="en-US" altLang="zh-CN" sz="1800" dirty="0">
                          <a:solidFill>
                            <a:schemeClr val="tx1"/>
                          </a:solidFill>
                          <a:latin typeface="Times New Roman" panose="02020603050405020304" pitchFamily="18" charset="0"/>
                          <a:ea typeface="+mn-ea"/>
                          <a:cs typeface="Times New Roman" panose="02020603050405020304" pitchFamily="18" charset="0"/>
                        </a:rPr>
                        <a:t>-</a:t>
                      </a:r>
                      <a:r>
                        <a:rPr lang="zh-CN" altLang="en-US" sz="1800" dirty="0">
                          <a:solidFill>
                            <a:schemeClr val="tx1"/>
                          </a:solidFill>
                          <a:latin typeface="Times New Roman" panose="02020603050405020304" pitchFamily="18" charset="0"/>
                          <a:ea typeface="+mn-ea"/>
                          <a:cs typeface="Times New Roman" panose="02020603050405020304" pitchFamily="18" charset="0"/>
                        </a:rPr>
                        <a:t>存储协同布局</a:t>
                      </a:r>
                      <a:endParaRPr lang="zh-CN" altLang="en-US"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ea typeface="+mn-ea"/>
                          <a:cs typeface="Times New Roman" panose="02020603050405020304" pitchFamily="18" charset="0"/>
                        </a:rPr>
                        <a:t>数据分散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ea typeface="+mn-ea"/>
                          <a:cs typeface="Times New Roman" panose="02020603050405020304" pitchFamily="18" charset="0"/>
                        </a:rPr>
                        <a:t>cross-PG edge </a:t>
                      </a:r>
                      <a:r>
                        <a:rPr lang="en-US" dirty="0" err="1">
                          <a:latin typeface="Times New Roman" panose="02020603050405020304" pitchFamily="18" charset="0"/>
                          <a:ea typeface="+mn-ea"/>
                          <a:cs typeface="Times New Roman" panose="02020603050405020304" pitchFamily="18" charset="0"/>
                        </a:rPr>
                        <a:t>ratio、fan-out</a:t>
                      </a:r>
                      <a:endParaRPr lang="en-US"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a:latin typeface="Times New Roman" panose="02020603050405020304" pitchFamily="18" charset="0"/>
                          <a:ea typeface="+mn-ea"/>
                          <a:cs typeface="Times New Roman" panose="02020603050405020304" pitchFamily="18" charset="0"/>
                        </a:rPr>
                        <a:t>20%-40</a:t>
                      </a:r>
                      <a:r>
                        <a:rPr lang="en-US" altLang="zh-CN" dirty="0">
                          <a:latin typeface="Times New Roman" panose="02020603050405020304" pitchFamily="18" charset="0"/>
                          <a:ea typeface="+mn-ea"/>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2336217"/>
                  </a:ext>
                </a:extLst>
              </a:tr>
              <a:tr h="0">
                <a:tc>
                  <a:txBody>
                    <a:bodyPr/>
                    <a:lstStyle/>
                    <a:p>
                      <a:r>
                        <a:rPr lang="zh-CN" altLang="zh-CN" sz="1800" dirty="0">
                          <a:solidFill>
                            <a:schemeClr val="tx1"/>
                          </a:solidFill>
                          <a:latin typeface="Times New Roman" panose="02020603050405020304" pitchFamily="18" charset="0"/>
                          <a:ea typeface="+mn-ea"/>
                          <a:cs typeface="Times New Roman" panose="02020603050405020304" pitchFamily="18" charset="0"/>
                        </a:rPr>
                        <a:t>面向更新负载的两级请求聚合与拥塞感知执行机制</a:t>
                      </a:r>
                      <a:endParaRPr lang="zh-CN" altLang="en-US"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ea typeface="+mn-ea"/>
                          <a:cs typeface="Times New Roman" panose="02020603050405020304" pitchFamily="18" charset="0"/>
                        </a:rPr>
                        <a:t>请求碎片化和排队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ea typeface="+mn-ea"/>
                          <a:cs typeface="Times New Roman" panose="02020603050405020304" pitchFamily="18" charset="0"/>
                        </a:rPr>
                        <a:t>cls_exec、network、P99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ea typeface="+mn-ea"/>
                          <a:cs typeface="Times New Roman" panose="02020603050405020304" pitchFamily="18" charset="0"/>
                        </a:rPr>
                        <a:t>40%-60%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1545504"/>
                  </a:ext>
                </a:extLst>
              </a:tr>
              <a:tr h="0">
                <a:tc>
                  <a:txBody>
                    <a:bodyPr/>
                    <a:lstStyle/>
                    <a:p>
                      <a:r>
                        <a:rPr lang="zh-CN" altLang="en-US" sz="1800" dirty="0">
                          <a:solidFill>
                            <a:schemeClr val="tx1"/>
                          </a:solidFill>
                          <a:latin typeface="Times New Roman" panose="02020603050405020304" pitchFamily="18" charset="0"/>
                          <a:ea typeface="+mn-ea"/>
                          <a:cs typeface="Times New Roman" panose="02020603050405020304" pitchFamily="18" charset="0"/>
                        </a:rPr>
                        <a:t>面向动态图索引的一致性元数据协议</a:t>
                      </a:r>
                      <a:endParaRPr lang="zh-CN" altLang="en-US"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ea typeface="+mn-ea"/>
                          <a:cs typeface="Times New Roman" panose="02020603050405020304" pitchFamily="18" charset="0"/>
                        </a:rPr>
                        <a:t>全局元数据状态串行提交热点问题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ea typeface="+mn-ea"/>
                          <a:cs typeface="Times New Roman" panose="02020603050405020304" pitchFamily="18" charset="0"/>
                        </a:rPr>
                        <a:t>metadata </a:t>
                      </a:r>
                      <a:r>
                        <a:rPr lang="en-US" dirty="0" err="1">
                          <a:latin typeface="Times New Roman" panose="02020603050405020304" pitchFamily="18" charset="0"/>
                          <a:ea typeface="+mn-ea"/>
                          <a:cs typeface="Times New Roman" panose="02020603050405020304" pitchFamily="18" charset="0"/>
                        </a:rPr>
                        <a:t>latency、commit</a:t>
                      </a:r>
                      <a:r>
                        <a:rPr lang="zh-CN" altLang="en-US" dirty="0">
                          <a:latin typeface="Times New Roman" panose="02020603050405020304" pitchFamily="18" charset="0"/>
                          <a:ea typeface="+mn-ea"/>
                          <a:cs typeface="Times New Roman" panose="02020603050405020304" pitchFamily="18" charset="0"/>
                        </a:rPr>
                        <a:t>冲突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ea typeface="+mn-ea"/>
                          <a:cs typeface="Times New Roman" panose="02020603050405020304" pitchFamily="18" charset="0"/>
                        </a:rPr>
                        <a:t>30%-50%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152519"/>
                  </a:ext>
                </a:extLst>
              </a:tr>
            </a:tbl>
          </a:graphicData>
        </a:graphic>
      </p:graphicFrame>
      <p:sp>
        <p:nvSpPr>
          <p:cNvPr id="8" name="文本框 7">
            <a:extLst>
              <a:ext uri="{FF2B5EF4-FFF2-40B4-BE49-F238E27FC236}">
                <a16:creationId xmlns:a16="http://schemas.microsoft.com/office/drawing/2014/main" id="{BA6B129B-561C-486A-9DD5-D540A10F479A}"/>
              </a:ext>
            </a:extLst>
          </p:cNvPr>
          <p:cNvSpPr txBox="1"/>
          <p:nvPr/>
        </p:nvSpPr>
        <p:spPr>
          <a:xfrm>
            <a:off x="542570" y="4119288"/>
            <a:ext cx="11026037" cy="955903"/>
          </a:xfrm>
          <a:prstGeom prst="rect">
            <a:avLst/>
          </a:prstGeom>
          <a:noFill/>
        </p:spPr>
        <p:txBody>
          <a:bodyPr wrap="square">
            <a:spAutoFit/>
          </a:bodyPr>
          <a:lstStyle/>
          <a:p>
            <a:pPr>
              <a:lnSpc>
                <a:spcPct val="150000"/>
              </a:lnSpc>
            </a:pPr>
            <a:r>
              <a:rPr lang="zh-CN" altLang="en-US" b="1" dirty="0">
                <a:solidFill>
                  <a:schemeClr val="tx1"/>
                </a:solidFill>
                <a:latin typeface="Times New Roman" panose="02020603050405020304" pitchFamily="18" charset="0"/>
                <a:ea typeface="+mn-ea"/>
                <a:cs typeface="Times New Roman" panose="02020603050405020304" pitchFamily="18" charset="0"/>
              </a:rPr>
              <a:t>阶段性结论</a:t>
            </a:r>
            <a:r>
              <a:rPr lang="zh-CN" altLang="en-US" dirty="0">
                <a:solidFill>
                  <a:schemeClr val="tx1"/>
                </a:solidFill>
                <a:latin typeface="Times New Roman" panose="02020603050405020304" pitchFamily="18" charset="0"/>
                <a:ea typeface="+mn-ea"/>
                <a:cs typeface="Times New Roman" panose="02020603050405020304" pitchFamily="18" charset="0"/>
              </a:rPr>
              <a:t>：预计通过</a:t>
            </a:r>
            <a:r>
              <a:rPr lang="zh-CN" altLang="en-US" b="1" dirty="0">
                <a:solidFill>
                  <a:srgbClr val="FF0000"/>
                </a:solidFill>
                <a:latin typeface="Times New Roman" panose="02020603050405020304" pitchFamily="18" charset="0"/>
                <a:ea typeface="+mn-ea"/>
                <a:cs typeface="Times New Roman" panose="02020603050405020304" pitchFamily="18" charset="0"/>
              </a:rPr>
              <a:t>减少跨节点数据访问</a:t>
            </a:r>
            <a:r>
              <a:rPr lang="zh-CN" altLang="en-US" dirty="0">
                <a:solidFill>
                  <a:schemeClr val="tx1"/>
                </a:solidFill>
                <a:latin typeface="Times New Roman" panose="02020603050405020304" pitchFamily="18" charset="0"/>
                <a:ea typeface="+mn-ea"/>
                <a:cs typeface="Times New Roman" panose="02020603050405020304" pitchFamily="18" charset="0"/>
              </a:rPr>
              <a:t>、</a:t>
            </a:r>
            <a:r>
              <a:rPr lang="zh-CN" altLang="en-US" b="1" dirty="0">
                <a:solidFill>
                  <a:srgbClr val="FF0000"/>
                </a:solidFill>
                <a:latin typeface="Times New Roman" panose="02020603050405020304" pitchFamily="18" charset="0"/>
                <a:ea typeface="+mn-ea"/>
                <a:cs typeface="Times New Roman" panose="02020603050405020304" pitchFamily="18" charset="0"/>
              </a:rPr>
              <a:t>降低远端执行次数</a:t>
            </a:r>
            <a:r>
              <a:rPr lang="zh-CN" altLang="en-US" dirty="0">
                <a:solidFill>
                  <a:schemeClr val="tx1"/>
                </a:solidFill>
                <a:latin typeface="Times New Roman" panose="02020603050405020304" pitchFamily="18" charset="0"/>
                <a:ea typeface="+mn-ea"/>
                <a:cs typeface="Times New Roman" panose="02020603050405020304" pitchFamily="18" charset="0"/>
              </a:rPr>
              <a:t>以及</a:t>
            </a:r>
            <a:r>
              <a:rPr lang="zh-CN" altLang="en-US" b="1" dirty="0">
                <a:solidFill>
                  <a:srgbClr val="FF0000"/>
                </a:solidFill>
                <a:latin typeface="Times New Roman" panose="02020603050405020304" pitchFamily="18" charset="0"/>
                <a:ea typeface="+mn-ea"/>
                <a:cs typeface="Times New Roman" panose="02020603050405020304" pitchFamily="18" charset="0"/>
              </a:rPr>
              <a:t>优化元数据提交流程</a:t>
            </a:r>
            <a:r>
              <a:rPr lang="zh-CN" altLang="en-US" dirty="0">
                <a:solidFill>
                  <a:schemeClr val="tx1"/>
                </a:solidFill>
                <a:latin typeface="Times New Roman" panose="02020603050405020304" pitchFamily="18" charset="0"/>
                <a:ea typeface="+mn-ea"/>
                <a:cs typeface="Times New Roman" panose="02020603050405020304" pitchFamily="18" charset="0"/>
              </a:rPr>
              <a:t>，将动态更新延迟降低</a:t>
            </a:r>
            <a:r>
              <a:rPr lang="en-US" altLang="zh-CN" b="1" dirty="0">
                <a:solidFill>
                  <a:srgbClr val="FF0000"/>
                </a:solidFill>
                <a:latin typeface="Times New Roman" panose="02020603050405020304" pitchFamily="18" charset="0"/>
                <a:ea typeface="+mn-ea"/>
                <a:cs typeface="Times New Roman" panose="02020603050405020304" pitchFamily="18" charset="0"/>
              </a:rPr>
              <a:t>30%</a:t>
            </a:r>
            <a:r>
              <a:rPr lang="zh-CN" altLang="en-US" dirty="0">
                <a:solidFill>
                  <a:schemeClr val="tx1"/>
                </a:solidFill>
                <a:latin typeface="Times New Roman" panose="02020603050405020304" pitchFamily="18" charset="0"/>
                <a:ea typeface="+mn-ea"/>
                <a:cs typeface="Times New Roman" panose="02020603050405020304" pitchFamily="18" charset="0"/>
              </a:rPr>
              <a:t>以上，并显著降低网络通信和</a:t>
            </a:r>
            <a:r>
              <a:rPr lang="en-US" altLang="zh-CN" dirty="0">
                <a:solidFill>
                  <a:schemeClr val="tx1"/>
                </a:solidFill>
                <a:latin typeface="Times New Roman" panose="02020603050405020304" pitchFamily="18" charset="0"/>
                <a:ea typeface="+mn-ea"/>
                <a:cs typeface="Times New Roman" panose="02020603050405020304" pitchFamily="18" charset="0"/>
              </a:rPr>
              <a:t>OSD</a:t>
            </a:r>
            <a:r>
              <a:rPr lang="zh-CN" altLang="en-US" dirty="0">
                <a:solidFill>
                  <a:schemeClr val="tx1"/>
                </a:solidFill>
                <a:latin typeface="Times New Roman" panose="02020603050405020304" pitchFamily="18" charset="0"/>
                <a:ea typeface="+mn-ea"/>
                <a:cs typeface="Times New Roman" panose="02020603050405020304" pitchFamily="18" charset="0"/>
              </a:rPr>
              <a:t>访问压力。</a:t>
            </a:r>
          </a:p>
        </p:txBody>
      </p:sp>
      <p:sp>
        <p:nvSpPr>
          <p:cNvPr id="7" name="Rounded Rectangle 24">
            <a:extLst>
              <a:ext uri="{FF2B5EF4-FFF2-40B4-BE49-F238E27FC236}">
                <a16:creationId xmlns:a16="http://schemas.microsoft.com/office/drawing/2014/main" id="{5A5B376C-A3E6-507C-D354-D0BC450BEC57}"/>
              </a:ext>
            </a:extLst>
          </p:cNvPr>
          <p:cNvSpPr/>
          <p:nvPr/>
        </p:nvSpPr>
        <p:spPr>
          <a:xfrm>
            <a:off x="657897" y="5171056"/>
            <a:ext cx="10561320" cy="1347552"/>
          </a:xfrm>
          <a:prstGeom prst="roundRect">
            <a:avLst/>
          </a:prstGeom>
          <a:noFill/>
          <a:ln w="15240">
            <a:solidFill>
              <a:srgbClr val="91B5DE"/>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defRPr sz="1800" b="0">
                <a:solidFill>
                  <a:srgbClr val="222222"/>
                </a:solidFill>
                <a:latin typeface="Microsoft YaHei"/>
              </a:defRPr>
            </a:pPr>
            <a:endParaRPr/>
          </a:p>
        </p:txBody>
      </p:sp>
      <p:sp>
        <p:nvSpPr>
          <p:cNvPr id="9" name="Rounded Rectangle 25">
            <a:extLst>
              <a:ext uri="{FF2B5EF4-FFF2-40B4-BE49-F238E27FC236}">
                <a16:creationId xmlns:a16="http://schemas.microsoft.com/office/drawing/2014/main" id="{FF4B0571-779D-E308-B5B2-5EEC885CB2C9}"/>
              </a:ext>
            </a:extLst>
          </p:cNvPr>
          <p:cNvSpPr/>
          <p:nvPr/>
        </p:nvSpPr>
        <p:spPr>
          <a:xfrm>
            <a:off x="868209" y="5390512"/>
            <a:ext cx="1508760" cy="320040"/>
          </a:xfrm>
          <a:prstGeom prst="roundRect">
            <a:avLst/>
          </a:prstGeom>
          <a:solidFill>
            <a:srgbClr val="FFFFFF"/>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defRPr sz="1150" b="1">
                <a:solidFill>
                  <a:srgbClr val="0C2A55"/>
                </a:solidFill>
                <a:latin typeface="Microsoft YaHei"/>
              </a:defRPr>
            </a:pPr>
            <a:r>
              <a:rPr dirty="0" err="1"/>
              <a:t>瓶颈验证</a:t>
            </a:r>
            <a:endParaRPr dirty="0"/>
          </a:p>
        </p:txBody>
      </p:sp>
      <p:cxnSp>
        <p:nvCxnSpPr>
          <p:cNvPr id="10" name="Connector 26">
            <a:extLst>
              <a:ext uri="{FF2B5EF4-FFF2-40B4-BE49-F238E27FC236}">
                <a16:creationId xmlns:a16="http://schemas.microsoft.com/office/drawing/2014/main" id="{44A80616-2A61-5710-CAB7-29F505CD6705}"/>
              </a:ext>
            </a:extLst>
          </p:cNvPr>
          <p:cNvCxnSpPr>
            <a:cxnSpLocks/>
            <a:endCxn id="11" idx="1"/>
          </p:cNvCxnSpPr>
          <p:nvPr/>
        </p:nvCxnSpPr>
        <p:spPr>
          <a:xfrm flipV="1">
            <a:off x="2376969" y="5550532"/>
            <a:ext cx="457200" cy="4572"/>
          </a:xfrm>
          <a:prstGeom prst="line">
            <a:avLst/>
          </a:prstGeom>
          <a:ln w="17780">
            <a:solidFill>
              <a:srgbClr val="1F56A5"/>
            </a:solidFill>
          </a:ln>
        </p:spPr>
        <p:style>
          <a:lnRef idx="2">
            <a:schemeClr val="accent1"/>
          </a:lnRef>
          <a:fillRef idx="0">
            <a:schemeClr val="accent1"/>
          </a:fillRef>
          <a:effectRef idx="1">
            <a:schemeClr val="accent1"/>
          </a:effectRef>
          <a:fontRef idx="minor">
            <a:schemeClr val="tx1"/>
          </a:fontRef>
        </p:style>
      </p:cxnSp>
      <p:sp>
        <p:nvSpPr>
          <p:cNvPr id="11" name="Rounded Rectangle 27">
            <a:extLst>
              <a:ext uri="{FF2B5EF4-FFF2-40B4-BE49-F238E27FC236}">
                <a16:creationId xmlns:a16="http://schemas.microsoft.com/office/drawing/2014/main" id="{8A42819E-6BAA-0932-275E-136F21750A7E}"/>
              </a:ext>
            </a:extLst>
          </p:cNvPr>
          <p:cNvSpPr/>
          <p:nvPr/>
        </p:nvSpPr>
        <p:spPr>
          <a:xfrm>
            <a:off x="2834169" y="5390512"/>
            <a:ext cx="1508760" cy="320040"/>
          </a:xfrm>
          <a:prstGeom prst="roundRect">
            <a:avLst/>
          </a:prstGeom>
          <a:solidFill>
            <a:srgbClr val="FFFFFF"/>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defRPr sz="1150" b="1">
                <a:solidFill>
                  <a:srgbClr val="0C2A55"/>
                </a:solidFill>
                <a:latin typeface="Microsoft YaHei"/>
              </a:defRPr>
            </a:pPr>
            <a:r>
              <a:rPr dirty="0" err="1"/>
              <a:t>存储侧</a:t>
            </a:r>
            <a:r>
              <a:rPr dirty="0"/>
              <a:t> baseline</a:t>
            </a:r>
          </a:p>
        </p:txBody>
      </p:sp>
      <p:cxnSp>
        <p:nvCxnSpPr>
          <p:cNvPr id="12" name="Connector 28">
            <a:extLst>
              <a:ext uri="{FF2B5EF4-FFF2-40B4-BE49-F238E27FC236}">
                <a16:creationId xmlns:a16="http://schemas.microsoft.com/office/drawing/2014/main" id="{63A524C8-CF75-305D-82B9-0DA2D2AD5C7E}"/>
              </a:ext>
            </a:extLst>
          </p:cNvPr>
          <p:cNvCxnSpPr>
            <a:cxnSpLocks/>
            <a:endCxn id="13" idx="1"/>
          </p:cNvCxnSpPr>
          <p:nvPr/>
        </p:nvCxnSpPr>
        <p:spPr>
          <a:xfrm flipV="1">
            <a:off x="4342929" y="5550532"/>
            <a:ext cx="457200" cy="4572"/>
          </a:xfrm>
          <a:prstGeom prst="line">
            <a:avLst/>
          </a:prstGeom>
          <a:ln w="17780">
            <a:solidFill>
              <a:srgbClr val="1F56A5"/>
            </a:solidFill>
          </a:ln>
        </p:spPr>
        <p:style>
          <a:lnRef idx="2">
            <a:schemeClr val="accent1"/>
          </a:lnRef>
          <a:fillRef idx="0">
            <a:schemeClr val="accent1"/>
          </a:fillRef>
          <a:effectRef idx="1">
            <a:schemeClr val="accent1"/>
          </a:effectRef>
          <a:fontRef idx="minor">
            <a:schemeClr val="tx1"/>
          </a:fontRef>
        </p:style>
      </p:cxnSp>
      <p:sp>
        <p:nvSpPr>
          <p:cNvPr id="13" name="Rounded Rectangle 29">
            <a:extLst>
              <a:ext uri="{FF2B5EF4-FFF2-40B4-BE49-F238E27FC236}">
                <a16:creationId xmlns:a16="http://schemas.microsoft.com/office/drawing/2014/main" id="{E674D422-6214-3011-E426-7B61EF1ACF82}"/>
              </a:ext>
            </a:extLst>
          </p:cNvPr>
          <p:cNvSpPr/>
          <p:nvPr/>
        </p:nvSpPr>
        <p:spPr>
          <a:xfrm>
            <a:off x="4800129" y="5390512"/>
            <a:ext cx="1508760" cy="320040"/>
          </a:xfrm>
          <a:prstGeom prst="roundRect">
            <a:avLst/>
          </a:prstGeom>
          <a:solidFill>
            <a:srgbClr val="FFFFFF"/>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defRPr sz="1150" b="1">
                <a:solidFill>
                  <a:srgbClr val="0C2A55"/>
                </a:solidFill>
                <a:latin typeface="Microsoft YaHei"/>
              </a:defRPr>
            </a:pPr>
            <a:r>
              <a:t>算子卸载设计</a:t>
            </a:r>
          </a:p>
        </p:txBody>
      </p:sp>
      <p:cxnSp>
        <p:nvCxnSpPr>
          <p:cNvPr id="14" name="Connector 30">
            <a:extLst>
              <a:ext uri="{FF2B5EF4-FFF2-40B4-BE49-F238E27FC236}">
                <a16:creationId xmlns:a16="http://schemas.microsoft.com/office/drawing/2014/main" id="{E2E3CA6E-5138-8BD7-AAE6-EB6BA3C93C6D}"/>
              </a:ext>
            </a:extLst>
          </p:cNvPr>
          <p:cNvCxnSpPr>
            <a:cxnSpLocks/>
            <a:endCxn id="15" idx="1"/>
          </p:cNvCxnSpPr>
          <p:nvPr/>
        </p:nvCxnSpPr>
        <p:spPr>
          <a:xfrm flipV="1">
            <a:off x="6308889" y="5550532"/>
            <a:ext cx="457200" cy="4572"/>
          </a:xfrm>
          <a:prstGeom prst="line">
            <a:avLst/>
          </a:prstGeom>
          <a:ln w="17780">
            <a:solidFill>
              <a:srgbClr val="1F56A5"/>
            </a:solidFill>
          </a:ln>
        </p:spPr>
        <p:style>
          <a:lnRef idx="2">
            <a:schemeClr val="accent1"/>
          </a:lnRef>
          <a:fillRef idx="0">
            <a:schemeClr val="accent1"/>
          </a:fillRef>
          <a:effectRef idx="1">
            <a:schemeClr val="accent1"/>
          </a:effectRef>
          <a:fontRef idx="minor">
            <a:schemeClr val="tx1"/>
          </a:fontRef>
        </p:style>
      </p:cxnSp>
      <p:sp>
        <p:nvSpPr>
          <p:cNvPr id="15" name="Rounded Rectangle 31">
            <a:extLst>
              <a:ext uri="{FF2B5EF4-FFF2-40B4-BE49-F238E27FC236}">
                <a16:creationId xmlns:a16="http://schemas.microsoft.com/office/drawing/2014/main" id="{E9E074C1-0F27-42BA-CE6A-5CC22530E4EE}"/>
              </a:ext>
            </a:extLst>
          </p:cNvPr>
          <p:cNvSpPr/>
          <p:nvPr/>
        </p:nvSpPr>
        <p:spPr>
          <a:xfrm>
            <a:off x="6766089" y="5390512"/>
            <a:ext cx="1508760" cy="320040"/>
          </a:xfrm>
          <a:prstGeom prst="roundRect">
            <a:avLst/>
          </a:prstGeom>
          <a:solidFill>
            <a:srgbClr val="FFFFFF"/>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defRPr sz="1150" b="1">
                <a:solidFill>
                  <a:srgbClr val="0C2A55"/>
                </a:solidFill>
                <a:latin typeface="Microsoft YaHei"/>
              </a:defRPr>
            </a:pPr>
            <a:r>
              <a:t>在线更新优化</a:t>
            </a:r>
          </a:p>
        </p:txBody>
      </p:sp>
      <p:cxnSp>
        <p:nvCxnSpPr>
          <p:cNvPr id="16" name="Connector 32">
            <a:extLst>
              <a:ext uri="{FF2B5EF4-FFF2-40B4-BE49-F238E27FC236}">
                <a16:creationId xmlns:a16="http://schemas.microsoft.com/office/drawing/2014/main" id="{01FD152C-92EE-E8AA-2DCF-BDFEDC4EF0EC}"/>
              </a:ext>
            </a:extLst>
          </p:cNvPr>
          <p:cNvCxnSpPr>
            <a:cxnSpLocks/>
            <a:endCxn id="17" idx="1"/>
          </p:cNvCxnSpPr>
          <p:nvPr/>
        </p:nvCxnSpPr>
        <p:spPr>
          <a:xfrm flipV="1">
            <a:off x="8274849" y="5550532"/>
            <a:ext cx="457200" cy="4572"/>
          </a:xfrm>
          <a:prstGeom prst="line">
            <a:avLst/>
          </a:prstGeom>
          <a:ln w="17780">
            <a:solidFill>
              <a:srgbClr val="1F56A5"/>
            </a:solidFill>
          </a:ln>
        </p:spPr>
        <p:style>
          <a:lnRef idx="2">
            <a:schemeClr val="accent1"/>
          </a:lnRef>
          <a:fillRef idx="0">
            <a:schemeClr val="accent1"/>
          </a:fillRef>
          <a:effectRef idx="1">
            <a:schemeClr val="accent1"/>
          </a:effectRef>
          <a:fontRef idx="minor">
            <a:schemeClr val="tx1"/>
          </a:fontRef>
        </p:style>
      </p:cxnSp>
      <p:sp>
        <p:nvSpPr>
          <p:cNvPr id="17" name="Rounded Rectangle 33">
            <a:extLst>
              <a:ext uri="{FF2B5EF4-FFF2-40B4-BE49-F238E27FC236}">
                <a16:creationId xmlns:a16="http://schemas.microsoft.com/office/drawing/2014/main" id="{B9FFC20C-A804-B423-1DE4-B0820CE84DC9}"/>
              </a:ext>
            </a:extLst>
          </p:cNvPr>
          <p:cNvSpPr/>
          <p:nvPr/>
        </p:nvSpPr>
        <p:spPr>
          <a:xfrm>
            <a:off x="8732049" y="5390512"/>
            <a:ext cx="1508760" cy="320040"/>
          </a:xfrm>
          <a:prstGeom prst="roundRect">
            <a:avLst/>
          </a:prstGeom>
          <a:solidFill>
            <a:srgbClr val="FFFFFF"/>
          </a:solidFill>
          <a:ln w="15240">
            <a:solidFill>
              <a:srgbClr val="1F56A5"/>
            </a:solidFill>
          </a:ln>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defRPr sz="1150" b="1">
                <a:solidFill>
                  <a:srgbClr val="0C2A55"/>
                </a:solidFill>
                <a:latin typeface="Microsoft YaHei"/>
              </a:defRPr>
            </a:pPr>
            <a:r>
              <a:t>系统</a:t>
            </a:r>
            <a:r>
              <a:rPr lang="zh-CN" altLang="en-US"/>
              <a:t>测试</a:t>
            </a:r>
            <a:r>
              <a:t>与评估</a:t>
            </a:r>
          </a:p>
        </p:txBody>
      </p:sp>
      <p:sp>
        <p:nvSpPr>
          <p:cNvPr id="18" name="TextBox 13">
            <a:extLst>
              <a:ext uri="{FF2B5EF4-FFF2-40B4-BE49-F238E27FC236}">
                <a16:creationId xmlns:a16="http://schemas.microsoft.com/office/drawing/2014/main" id="{14F3DC8F-F731-DDD8-1C67-79CFF4A0B4BD}"/>
              </a:ext>
            </a:extLst>
          </p:cNvPr>
          <p:cNvSpPr txBox="1"/>
          <p:nvPr/>
        </p:nvSpPr>
        <p:spPr>
          <a:xfrm>
            <a:off x="726477" y="5796340"/>
            <a:ext cx="1792224" cy="292608"/>
          </a:xfrm>
          <a:prstGeom prst="rect">
            <a:avLst/>
          </a:prstGeom>
          <a:noFill/>
        </p:spPr>
        <p:txBody>
          <a:bodyPr wrap="square" lIns="27432" tIns="9144" rIns="27432" bIns="9144">
            <a:spAutoFit/>
          </a:bodyPr>
          <a:lstStyle/>
          <a:p>
            <a:pPr algn="ctr">
              <a:defRPr sz="980" b="0">
                <a:solidFill>
                  <a:srgbClr val="232323"/>
                </a:solidFill>
                <a:latin typeface="Microsoft YaHei"/>
              </a:defRPr>
            </a:pPr>
            <a:r>
              <a:rPr dirty="0" err="1"/>
              <a:t>问题定量化</a:t>
            </a:r>
            <a:br>
              <a:rPr dirty="0"/>
            </a:br>
            <a:r>
              <a:rPr dirty="0" err="1"/>
              <a:t>瓶颈初步定位</a:t>
            </a:r>
            <a:endParaRPr dirty="0"/>
          </a:p>
        </p:txBody>
      </p:sp>
      <p:sp>
        <p:nvSpPr>
          <p:cNvPr id="19" name="TextBox 13">
            <a:extLst>
              <a:ext uri="{FF2B5EF4-FFF2-40B4-BE49-F238E27FC236}">
                <a16:creationId xmlns:a16="http://schemas.microsoft.com/office/drawing/2014/main" id="{45ACD4ED-C3A4-EF9C-6044-B51131541074}"/>
              </a:ext>
            </a:extLst>
          </p:cNvPr>
          <p:cNvSpPr txBox="1"/>
          <p:nvPr/>
        </p:nvSpPr>
        <p:spPr>
          <a:xfrm>
            <a:off x="2692437" y="5805484"/>
            <a:ext cx="1792224" cy="320088"/>
          </a:xfrm>
          <a:prstGeom prst="rect">
            <a:avLst/>
          </a:prstGeom>
          <a:noFill/>
        </p:spPr>
        <p:txBody>
          <a:bodyPr wrap="square" lIns="27432" tIns="9144" rIns="27432" bIns="9144">
            <a:spAutoFit/>
          </a:bodyPr>
          <a:lstStyle/>
          <a:p>
            <a:pPr algn="ctr">
              <a:defRPr sz="980" b="0">
                <a:solidFill>
                  <a:srgbClr val="232323"/>
                </a:solidFill>
                <a:latin typeface="Microsoft YaHei"/>
              </a:defRPr>
            </a:pPr>
            <a:r>
              <a:rPr lang="zh-CN" altLang="en-US" dirty="0"/>
              <a:t>实现算子卸载</a:t>
            </a:r>
            <a:r>
              <a:rPr lang="en-US" altLang="zh-CN" dirty="0"/>
              <a:t>baseline</a:t>
            </a:r>
            <a:br>
              <a:rPr dirty="0"/>
            </a:br>
            <a:r>
              <a:rPr dirty="0" err="1"/>
              <a:t>瓶颈</a:t>
            </a:r>
            <a:r>
              <a:rPr lang="zh-CN" altLang="en-US" dirty="0"/>
              <a:t>再</a:t>
            </a:r>
            <a:r>
              <a:rPr dirty="0" err="1"/>
              <a:t>定位</a:t>
            </a:r>
            <a:endParaRPr dirty="0"/>
          </a:p>
        </p:txBody>
      </p:sp>
      <p:sp>
        <p:nvSpPr>
          <p:cNvPr id="20" name="TextBox 13">
            <a:extLst>
              <a:ext uri="{FF2B5EF4-FFF2-40B4-BE49-F238E27FC236}">
                <a16:creationId xmlns:a16="http://schemas.microsoft.com/office/drawing/2014/main" id="{897BE067-CF56-5B22-F848-B4DEBA58089B}"/>
              </a:ext>
            </a:extLst>
          </p:cNvPr>
          <p:cNvSpPr txBox="1"/>
          <p:nvPr/>
        </p:nvSpPr>
        <p:spPr>
          <a:xfrm>
            <a:off x="4656481" y="5865953"/>
            <a:ext cx="1792224" cy="320088"/>
          </a:xfrm>
          <a:prstGeom prst="rect">
            <a:avLst/>
          </a:prstGeom>
          <a:noFill/>
        </p:spPr>
        <p:txBody>
          <a:bodyPr wrap="square" lIns="27432" tIns="9144" rIns="27432" bIns="9144">
            <a:spAutoFit/>
          </a:bodyPr>
          <a:lstStyle/>
          <a:p>
            <a:pPr algn="ctr">
              <a:defRPr sz="980" b="0">
                <a:solidFill>
                  <a:srgbClr val="232323"/>
                </a:solidFill>
                <a:latin typeface="Microsoft YaHei"/>
              </a:defRPr>
            </a:pPr>
            <a:r>
              <a:rPr lang="zh-CN" altLang="en-US" dirty="0"/>
              <a:t>基于瓶颈进行优化设计</a:t>
            </a:r>
            <a:br>
              <a:rPr dirty="0"/>
            </a:br>
            <a:endParaRPr dirty="0"/>
          </a:p>
        </p:txBody>
      </p:sp>
      <p:sp>
        <p:nvSpPr>
          <p:cNvPr id="21" name="TextBox 13">
            <a:extLst>
              <a:ext uri="{FF2B5EF4-FFF2-40B4-BE49-F238E27FC236}">
                <a16:creationId xmlns:a16="http://schemas.microsoft.com/office/drawing/2014/main" id="{6AA9CDEB-7DCF-F6F5-34B3-35E5EB7D308D}"/>
              </a:ext>
            </a:extLst>
          </p:cNvPr>
          <p:cNvSpPr txBox="1"/>
          <p:nvPr/>
        </p:nvSpPr>
        <p:spPr>
          <a:xfrm>
            <a:off x="6624357" y="5796340"/>
            <a:ext cx="1792224" cy="320088"/>
          </a:xfrm>
          <a:prstGeom prst="rect">
            <a:avLst/>
          </a:prstGeom>
          <a:noFill/>
        </p:spPr>
        <p:txBody>
          <a:bodyPr wrap="square" lIns="27432" tIns="9144" rIns="27432" bIns="9144">
            <a:spAutoFit/>
          </a:bodyPr>
          <a:lstStyle/>
          <a:p>
            <a:pPr algn="ctr">
              <a:defRPr sz="980" b="0">
                <a:solidFill>
                  <a:srgbClr val="232323"/>
                </a:solidFill>
                <a:latin typeface="Microsoft YaHei"/>
              </a:defRPr>
            </a:pPr>
            <a:r>
              <a:rPr lang="zh-CN" altLang="en-US" dirty="0"/>
              <a:t>在线更新</a:t>
            </a:r>
            <a:endParaRPr lang="en-US" altLang="zh-CN" dirty="0"/>
          </a:p>
          <a:p>
            <a:pPr algn="ctr">
              <a:defRPr sz="980" b="0">
                <a:solidFill>
                  <a:srgbClr val="232323"/>
                </a:solidFill>
                <a:latin typeface="Microsoft YaHei"/>
              </a:defRPr>
            </a:pPr>
            <a:r>
              <a:rPr lang="zh-CN" altLang="en-US" dirty="0"/>
              <a:t>优化吞吐、延迟</a:t>
            </a:r>
            <a:endParaRPr dirty="0"/>
          </a:p>
        </p:txBody>
      </p:sp>
      <p:sp>
        <p:nvSpPr>
          <p:cNvPr id="22" name="TextBox 13">
            <a:extLst>
              <a:ext uri="{FF2B5EF4-FFF2-40B4-BE49-F238E27FC236}">
                <a16:creationId xmlns:a16="http://schemas.microsoft.com/office/drawing/2014/main" id="{20D81E22-CD63-D066-4E42-F80B31D48596}"/>
              </a:ext>
            </a:extLst>
          </p:cNvPr>
          <p:cNvSpPr txBox="1"/>
          <p:nvPr/>
        </p:nvSpPr>
        <p:spPr>
          <a:xfrm>
            <a:off x="8503449" y="5805484"/>
            <a:ext cx="1792224" cy="320088"/>
          </a:xfrm>
          <a:prstGeom prst="rect">
            <a:avLst/>
          </a:prstGeom>
          <a:noFill/>
        </p:spPr>
        <p:txBody>
          <a:bodyPr wrap="square" lIns="27432" tIns="9144" rIns="27432" bIns="9144">
            <a:spAutoFit/>
          </a:bodyPr>
          <a:lstStyle/>
          <a:p>
            <a:pPr algn="ctr">
              <a:defRPr sz="980" b="0">
                <a:solidFill>
                  <a:srgbClr val="232323"/>
                </a:solidFill>
                <a:latin typeface="Microsoft YaHei"/>
              </a:defRPr>
            </a:pPr>
            <a:r>
              <a:rPr lang="zh-CN" altLang="en-US" dirty="0"/>
              <a:t>系统测试评估</a:t>
            </a:r>
            <a:endParaRPr lang="en-US" altLang="zh-CN" dirty="0"/>
          </a:p>
          <a:p>
            <a:pPr algn="ctr">
              <a:defRPr sz="980" b="0">
                <a:solidFill>
                  <a:srgbClr val="232323"/>
                </a:solidFill>
                <a:latin typeface="Microsoft YaHei"/>
              </a:defRPr>
            </a:pPr>
            <a:r>
              <a:rPr lang="zh-CN" altLang="en-US" dirty="0"/>
              <a:t>论文撰写</a:t>
            </a:r>
            <a:endParaRPr dirty="0"/>
          </a:p>
        </p:txBody>
      </p:sp>
      <p:pic>
        <p:nvPicPr>
          <p:cNvPr id="23" name="图形 22">
            <a:extLst>
              <a:ext uri="{FF2B5EF4-FFF2-40B4-BE49-F238E27FC236}">
                <a16:creationId xmlns:a16="http://schemas.microsoft.com/office/drawing/2014/main" id="{FBD81B20-9027-53BD-19B4-7C3660C0E6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8204" y="6019393"/>
            <a:ext cx="568771" cy="568771"/>
          </a:xfrm>
          <a:prstGeom prst="rect">
            <a:avLst/>
          </a:prstGeom>
        </p:spPr>
      </p:pic>
      <p:pic>
        <p:nvPicPr>
          <p:cNvPr id="24" name="图形 23">
            <a:extLst>
              <a:ext uri="{FF2B5EF4-FFF2-40B4-BE49-F238E27FC236}">
                <a16:creationId xmlns:a16="http://schemas.microsoft.com/office/drawing/2014/main" id="{9CC67499-557F-61B6-0EB1-2926A80D4C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1032" y="6019393"/>
            <a:ext cx="568771" cy="568771"/>
          </a:xfrm>
          <a:prstGeom prst="rect">
            <a:avLst/>
          </a:prstGeom>
        </p:spPr>
      </p:pic>
      <p:sp>
        <p:nvSpPr>
          <p:cNvPr id="25" name="文本框 24">
            <a:extLst>
              <a:ext uri="{FF2B5EF4-FFF2-40B4-BE49-F238E27FC236}">
                <a16:creationId xmlns:a16="http://schemas.microsoft.com/office/drawing/2014/main" id="{628B5FC5-BD6C-3874-F39E-9D7B6CAFDCE3}"/>
              </a:ext>
            </a:extLst>
          </p:cNvPr>
          <p:cNvSpPr txBox="1"/>
          <p:nvPr/>
        </p:nvSpPr>
        <p:spPr>
          <a:xfrm>
            <a:off x="5033849" y="6116428"/>
            <a:ext cx="1089614" cy="261610"/>
          </a:xfrm>
          <a:prstGeom prst="rect">
            <a:avLst/>
          </a:prstGeom>
          <a:noFill/>
        </p:spPr>
        <p:txBody>
          <a:bodyPr wrap="square" rtlCol="0">
            <a:spAutoFit/>
          </a:bodyPr>
          <a:lstStyle/>
          <a:p>
            <a:r>
              <a:rPr lang="en-US" altLang="zh-CN" sz="1100" dirty="0">
                <a:solidFill>
                  <a:schemeClr val="tx1"/>
                </a:solidFill>
              </a:rPr>
              <a:t>26</a:t>
            </a:r>
            <a:r>
              <a:rPr lang="zh-CN" altLang="en-US" sz="1100" dirty="0">
                <a:solidFill>
                  <a:schemeClr val="tx1"/>
                </a:solidFill>
              </a:rPr>
              <a:t>年</a:t>
            </a:r>
            <a:r>
              <a:rPr lang="en-US" altLang="zh-CN" sz="1100" dirty="0">
                <a:solidFill>
                  <a:schemeClr val="tx1"/>
                </a:solidFill>
              </a:rPr>
              <a:t>8</a:t>
            </a:r>
            <a:r>
              <a:rPr lang="zh-CN" altLang="en-US" sz="1100" dirty="0">
                <a:solidFill>
                  <a:schemeClr val="tx1"/>
                </a:solidFill>
              </a:rPr>
              <a:t>月</a:t>
            </a:r>
            <a:r>
              <a:rPr lang="en-US" altLang="zh-CN" sz="1100" dirty="0">
                <a:solidFill>
                  <a:schemeClr val="tx1"/>
                </a:solidFill>
              </a:rPr>
              <a:t>~12</a:t>
            </a:r>
            <a:r>
              <a:rPr lang="zh-CN" altLang="en-US" sz="1100" dirty="0">
                <a:solidFill>
                  <a:schemeClr val="tx1"/>
                </a:solidFill>
              </a:rPr>
              <a:t>月</a:t>
            </a:r>
          </a:p>
        </p:txBody>
      </p:sp>
      <p:sp>
        <p:nvSpPr>
          <p:cNvPr id="26" name="文本框 25">
            <a:extLst>
              <a:ext uri="{FF2B5EF4-FFF2-40B4-BE49-F238E27FC236}">
                <a16:creationId xmlns:a16="http://schemas.microsoft.com/office/drawing/2014/main" id="{2DAD35E9-BE57-1978-D4D9-8525BBB8E69C}"/>
              </a:ext>
            </a:extLst>
          </p:cNvPr>
          <p:cNvSpPr txBox="1"/>
          <p:nvPr/>
        </p:nvSpPr>
        <p:spPr>
          <a:xfrm>
            <a:off x="6833287" y="6096054"/>
            <a:ext cx="1374364" cy="261610"/>
          </a:xfrm>
          <a:prstGeom prst="rect">
            <a:avLst/>
          </a:prstGeom>
          <a:noFill/>
        </p:spPr>
        <p:txBody>
          <a:bodyPr wrap="square" rtlCol="0">
            <a:spAutoFit/>
          </a:bodyPr>
          <a:lstStyle/>
          <a:p>
            <a:r>
              <a:rPr lang="en-US" altLang="zh-CN" sz="1100" dirty="0">
                <a:solidFill>
                  <a:schemeClr val="tx1"/>
                </a:solidFill>
              </a:rPr>
              <a:t>26</a:t>
            </a:r>
            <a:r>
              <a:rPr lang="zh-CN" altLang="en-US" sz="1100" dirty="0">
                <a:solidFill>
                  <a:schemeClr val="tx1"/>
                </a:solidFill>
              </a:rPr>
              <a:t>年</a:t>
            </a:r>
            <a:r>
              <a:rPr lang="en-US" altLang="zh-CN" sz="1100" dirty="0">
                <a:solidFill>
                  <a:schemeClr val="tx1"/>
                </a:solidFill>
              </a:rPr>
              <a:t>12</a:t>
            </a:r>
            <a:r>
              <a:rPr lang="zh-CN" altLang="en-US" sz="1100" dirty="0">
                <a:solidFill>
                  <a:schemeClr val="tx1"/>
                </a:solidFill>
              </a:rPr>
              <a:t>月</a:t>
            </a:r>
            <a:r>
              <a:rPr lang="en-US" altLang="zh-CN" sz="1100" dirty="0">
                <a:solidFill>
                  <a:schemeClr val="tx1"/>
                </a:solidFill>
              </a:rPr>
              <a:t>~27</a:t>
            </a:r>
            <a:r>
              <a:rPr lang="zh-CN" altLang="en-US" sz="1100" dirty="0">
                <a:solidFill>
                  <a:schemeClr val="tx1"/>
                </a:solidFill>
              </a:rPr>
              <a:t>年</a:t>
            </a:r>
            <a:r>
              <a:rPr lang="en-US" altLang="zh-CN" sz="1100" dirty="0">
                <a:solidFill>
                  <a:schemeClr val="tx1"/>
                </a:solidFill>
              </a:rPr>
              <a:t>3</a:t>
            </a:r>
            <a:r>
              <a:rPr lang="zh-CN" altLang="en-US" sz="1100" dirty="0">
                <a:solidFill>
                  <a:schemeClr val="tx1"/>
                </a:solidFill>
              </a:rPr>
              <a:t>月</a:t>
            </a:r>
          </a:p>
        </p:txBody>
      </p:sp>
      <p:sp>
        <p:nvSpPr>
          <p:cNvPr id="27" name="文本框 26">
            <a:extLst>
              <a:ext uri="{FF2B5EF4-FFF2-40B4-BE49-F238E27FC236}">
                <a16:creationId xmlns:a16="http://schemas.microsoft.com/office/drawing/2014/main" id="{9E8C46F5-A1BC-7695-CAC3-3F628E2793EF}"/>
              </a:ext>
            </a:extLst>
          </p:cNvPr>
          <p:cNvSpPr txBox="1"/>
          <p:nvPr/>
        </p:nvSpPr>
        <p:spPr>
          <a:xfrm>
            <a:off x="8799246" y="6116428"/>
            <a:ext cx="1374365" cy="261610"/>
          </a:xfrm>
          <a:prstGeom prst="rect">
            <a:avLst/>
          </a:prstGeom>
          <a:noFill/>
        </p:spPr>
        <p:txBody>
          <a:bodyPr wrap="square" rtlCol="0">
            <a:spAutoFit/>
          </a:bodyPr>
          <a:lstStyle/>
          <a:p>
            <a:r>
              <a:rPr lang="en-US" altLang="zh-CN" sz="1100" dirty="0">
                <a:solidFill>
                  <a:schemeClr val="tx1"/>
                </a:solidFill>
              </a:rPr>
              <a:t>27</a:t>
            </a:r>
            <a:r>
              <a:rPr lang="zh-CN" altLang="en-US" sz="1100" dirty="0">
                <a:solidFill>
                  <a:schemeClr val="tx1"/>
                </a:solidFill>
              </a:rPr>
              <a:t>年</a:t>
            </a:r>
            <a:r>
              <a:rPr lang="en-US" altLang="zh-CN" sz="1100" dirty="0">
                <a:solidFill>
                  <a:schemeClr val="tx1"/>
                </a:solidFill>
              </a:rPr>
              <a:t>3</a:t>
            </a:r>
            <a:r>
              <a:rPr lang="zh-CN" altLang="en-US" sz="1100" dirty="0">
                <a:solidFill>
                  <a:schemeClr val="tx1"/>
                </a:solidFill>
              </a:rPr>
              <a:t>月</a:t>
            </a:r>
            <a:r>
              <a:rPr lang="en-US" altLang="zh-CN" sz="1100" dirty="0">
                <a:solidFill>
                  <a:schemeClr val="tx1"/>
                </a:solidFill>
              </a:rPr>
              <a:t>~27</a:t>
            </a:r>
            <a:r>
              <a:rPr lang="zh-CN" altLang="en-US" sz="1100" dirty="0">
                <a:solidFill>
                  <a:schemeClr val="tx1"/>
                </a:solidFill>
              </a:rPr>
              <a:t>年</a:t>
            </a:r>
            <a:r>
              <a:rPr lang="en-US" altLang="zh-CN" sz="1100" dirty="0">
                <a:solidFill>
                  <a:schemeClr val="tx1"/>
                </a:solidFill>
              </a:rPr>
              <a:t>6</a:t>
            </a:r>
            <a:r>
              <a:rPr lang="zh-CN" altLang="en-US" sz="1100" dirty="0">
                <a:solidFill>
                  <a:schemeClr val="tx1"/>
                </a:solidFill>
              </a:rPr>
              <a:t>月</a:t>
            </a:r>
          </a:p>
        </p:txBody>
      </p:sp>
    </p:spTree>
    <p:extLst>
      <p:ext uri="{BB962C8B-B14F-4D97-AF65-F5344CB8AC3E}">
        <p14:creationId xmlns:p14="http://schemas.microsoft.com/office/powerpoint/2010/main" val="2197777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932688"/>
            <a:ext cx="749808" cy="658368"/>
          </a:xfrm>
          <a:prstGeom prst="rect">
            <a:avLst/>
          </a:prstGeom>
          <a:solidFill>
            <a:srgbClr val="208FC9"/>
          </a:solidFill>
          <a:ln>
            <a:solidFill>
              <a:srgbClr val="208FC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Microsoft YaHei"/>
              </a:defRPr>
            </a:pPr>
            <a:r>
              <a:t>04</a:t>
            </a:r>
          </a:p>
        </p:txBody>
      </p:sp>
      <p:sp>
        <p:nvSpPr>
          <p:cNvPr id="3" name="TextBox 2"/>
          <p:cNvSpPr txBox="1"/>
          <p:nvPr/>
        </p:nvSpPr>
        <p:spPr>
          <a:xfrm>
            <a:off x="1508760" y="1070916"/>
            <a:ext cx="9692640" cy="409343"/>
          </a:xfrm>
          <a:prstGeom prst="rect">
            <a:avLst/>
          </a:prstGeom>
          <a:noFill/>
        </p:spPr>
        <p:txBody>
          <a:bodyPr wrap="square" lIns="54864" tIns="27432" rIns="54864" bIns="27432" anchor="ctr">
            <a:spAutoFit/>
          </a:bodyPr>
          <a:lstStyle/>
          <a:p>
            <a:pPr>
              <a:defRPr sz="2600" b="0">
                <a:solidFill>
                  <a:srgbClr val="414141"/>
                </a:solidFill>
                <a:latin typeface="Microsoft YaHei"/>
              </a:defRPr>
            </a:pPr>
            <a:r>
              <a:rPr lang="zh-CN" altLang="en-US" sz="2300" dirty="0">
                <a:solidFill>
                  <a:srgbClr val="2B3A4B"/>
                </a:solidFill>
                <a:latin typeface="Microsoft YaHei"/>
              </a:rPr>
              <a:t>实验室志愿活动说明</a:t>
            </a:r>
            <a:endParaRPr sz="2300" dirty="0">
              <a:solidFill>
                <a:srgbClr val="2B3A4B"/>
              </a:solidFill>
              <a:latin typeface="Microsoft YaHei"/>
            </a:endParaRPr>
          </a:p>
        </p:txBody>
      </p:sp>
      <p:sp>
        <p:nvSpPr>
          <p:cNvPr id="4" name="Rectangle 3"/>
          <p:cNvSpPr/>
          <p:nvPr/>
        </p:nvSpPr>
        <p:spPr>
          <a:xfrm>
            <a:off x="548640" y="1673352"/>
            <a:ext cx="10881360" cy="18288"/>
          </a:xfrm>
          <a:prstGeom prst="rect">
            <a:avLst/>
          </a:prstGeom>
          <a:solidFill>
            <a:srgbClr val="E2E2E2"/>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文本框 47">
            <a:extLst>
              <a:ext uri="{FF2B5EF4-FFF2-40B4-BE49-F238E27FC236}">
                <a16:creationId xmlns:a16="http://schemas.microsoft.com/office/drawing/2014/main" id="{CB4B2CC8-36E4-4F0E-B650-76CAF633C7A8}"/>
              </a:ext>
            </a:extLst>
          </p:cNvPr>
          <p:cNvSpPr txBox="1"/>
          <p:nvPr/>
        </p:nvSpPr>
        <p:spPr>
          <a:xfrm>
            <a:off x="548640" y="1773936"/>
            <a:ext cx="10881360" cy="1881990"/>
          </a:xfrm>
          <a:prstGeom prst="rect">
            <a:avLst/>
          </a:prstGeom>
          <a:noFill/>
        </p:spPr>
        <p:txBody>
          <a:bodyPr wrap="square" rtlCol="0">
            <a:spAutoFit/>
          </a:bodyPr>
          <a:lstStyle/>
          <a:p>
            <a:pPr>
              <a:lnSpc>
                <a:spcPct val="150000"/>
              </a:lnSpc>
            </a:pPr>
            <a:r>
              <a:rPr lang="zh-CN" altLang="en-US" dirty="0">
                <a:solidFill>
                  <a:schemeClr val="tx1"/>
                </a:solidFill>
              </a:rPr>
              <a:t>协助导师负责实验室暑期实习本科生带教工作（</a:t>
            </a:r>
            <a:r>
              <a:rPr lang="en-US" altLang="zh-CN" dirty="0">
                <a:solidFill>
                  <a:schemeClr val="tx1"/>
                </a:solidFill>
              </a:rPr>
              <a:t>2026.06 ~ 2026.08</a:t>
            </a:r>
            <a:r>
              <a:rPr lang="zh-CN" altLang="en-US" dirty="0">
                <a:solidFill>
                  <a:schemeClr val="tx1"/>
                </a:solidFill>
              </a:rPr>
              <a:t>）</a:t>
            </a:r>
            <a:endParaRPr lang="en-US" altLang="zh-CN" dirty="0">
              <a:solidFill>
                <a:schemeClr val="tx1"/>
              </a:solidFill>
            </a:endParaRPr>
          </a:p>
          <a:p>
            <a:pPr>
              <a:lnSpc>
                <a:spcPct val="150000"/>
              </a:lnSpc>
            </a:pPr>
            <a:r>
              <a:rPr lang="zh-CN" altLang="en-US" dirty="0">
                <a:solidFill>
                  <a:schemeClr val="tx1"/>
                </a:solidFill>
              </a:rPr>
              <a:t>（</a:t>
            </a:r>
            <a:r>
              <a:rPr lang="en-US" altLang="zh-CN" dirty="0">
                <a:solidFill>
                  <a:schemeClr val="tx1"/>
                </a:solidFill>
              </a:rPr>
              <a:t>1</a:t>
            </a:r>
            <a:r>
              <a:rPr lang="zh-CN" altLang="en-US" dirty="0">
                <a:solidFill>
                  <a:schemeClr val="tx1"/>
                </a:solidFill>
              </a:rPr>
              <a:t>）负责协助导师设计暑期实习题目；</a:t>
            </a:r>
            <a:endParaRPr lang="en-US" altLang="zh-CN" dirty="0">
              <a:solidFill>
                <a:schemeClr val="tx1"/>
              </a:solidFill>
            </a:endParaRPr>
          </a:p>
          <a:p>
            <a:pPr>
              <a:lnSpc>
                <a:spcPct val="150000"/>
              </a:lnSpc>
            </a:pPr>
            <a:r>
              <a:rPr lang="zh-CN" altLang="en-US" dirty="0">
                <a:solidFill>
                  <a:schemeClr val="tx1"/>
                </a:solidFill>
              </a:rPr>
              <a:t>（</a:t>
            </a:r>
            <a:r>
              <a:rPr lang="en-US" altLang="zh-CN" dirty="0">
                <a:solidFill>
                  <a:schemeClr val="tx1"/>
                </a:solidFill>
              </a:rPr>
              <a:t>2</a:t>
            </a:r>
            <a:r>
              <a:rPr lang="zh-CN" altLang="en-US" dirty="0">
                <a:solidFill>
                  <a:schemeClr val="tx1"/>
                </a:solidFill>
              </a:rPr>
              <a:t>）负责讲解实验基础流程、科研工具使用，指导文献阅读、数据处理与基础实验操作；</a:t>
            </a:r>
            <a:endParaRPr lang="en-US" altLang="zh-CN" dirty="0">
              <a:solidFill>
                <a:schemeClr val="tx1"/>
              </a:solidFill>
            </a:endParaRPr>
          </a:p>
          <a:p>
            <a:pPr>
              <a:lnSpc>
                <a:spcPct val="150000"/>
              </a:lnSpc>
            </a:pPr>
            <a:r>
              <a:rPr lang="zh-CN" altLang="en-US" dirty="0">
                <a:solidFill>
                  <a:schemeClr val="tx1"/>
                </a:solidFill>
              </a:rPr>
              <a:t>（</a:t>
            </a:r>
            <a:r>
              <a:rPr lang="en-US" altLang="zh-CN" dirty="0">
                <a:solidFill>
                  <a:schemeClr val="tx1"/>
                </a:solidFill>
              </a:rPr>
              <a:t>3</a:t>
            </a:r>
            <a:r>
              <a:rPr lang="zh-CN" altLang="en-US" dirty="0">
                <a:solidFill>
                  <a:schemeClr val="tx1"/>
                </a:solidFill>
              </a:rPr>
              <a:t>）定期沟通实习进度，解答科研疑问，协助完成阶段性任务</a:t>
            </a:r>
          </a:p>
        </p:txBody>
      </p:sp>
      <p:sp>
        <p:nvSpPr>
          <p:cNvPr id="6" name="TextBox 4">
            <a:extLst>
              <a:ext uri="{FF2B5EF4-FFF2-40B4-BE49-F238E27FC236}">
                <a16:creationId xmlns:a16="http://schemas.microsoft.com/office/drawing/2014/main" id="{9CC67B2A-2CFF-45A0-80C2-F5A960442FEC}"/>
              </a:ext>
            </a:extLst>
          </p:cNvPr>
          <p:cNvSpPr txBox="1"/>
          <p:nvPr/>
        </p:nvSpPr>
        <p:spPr>
          <a:xfrm>
            <a:off x="11451659" y="6309320"/>
            <a:ext cx="261483" cy="209288"/>
          </a:xfrm>
          <a:prstGeom prst="rect">
            <a:avLst/>
          </a:prstGeom>
          <a:noFill/>
        </p:spPr>
        <p:txBody>
          <a:bodyPr wrap="none" lIns="54864" tIns="27432" rIns="54864" bIns="27432">
            <a:spAutoFit/>
          </a:bodyPr>
          <a:lstStyle/>
          <a:p>
            <a:pPr algn="ctr"/>
            <a:r>
              <a:rPr sz="1000" b="0" dirty="0">
                <a:solidFill>
                  <a:srgbClr val="555555"/>
                </a:solidFill>
                <a:latin typeface="Microsoft YaHei"/>
              </a:rPr>
              <a:t>1</a:t>
            </a:r>
            <a:r>
              <a:rPr lang="en-US" sz="1000" dirty="0">
                <a:solidFill>
                  <a:srgbClr val="555555"/>
                </a:solidFill>
                <a:latin typeface="Microsoft YaHei"/>
              </a:rPr>
              <a:t>9</a:t>
            </a:r>
            <a:endParaRPr sz="1000" b="0" dirty="0">
              <a:solidFill>
                <a:srgbClr val="555555"/>
              </a:solidFill>
              <a:latin typeface="Microsoft YaHei"/>
            </a:endParaRPr>
          </a:p>
        </p:txBody>
      </p:sp>
    </p:spTree>
    <p:extLst>
      <p:ext uri="{BB962C8B-B14F-4D97-AF65-F5344CB8AC3E}">
        <p14:creationId xmlns:p14="http://schemas.microsoft.com/office/powerpoint/2010/main" val="1333509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7608" y="2513013"/>
            <a:ext cx="8083366" cy="863600"/>
          </a:xfrm>
          <a:effectLst>
            <a:outerShdw blurRad="50800" dist="38100" dir="2700000" algn="tl" rotWithShape="0">
              <a:prstClr val="black">
                <a:alpha val="40000"/>
              </a:prstClr>
            </a:outerShdw>
          </a:effectLst>
        </p:spPr>
        <p:txBody>
          <a:bodyPr>
            <a:normAutofit/>
          </a:bodyPr>
          <a:lstStyle/>
          <a:p>
            <a:r>
              <a:rPr lang="zh-CN" altLang="en-US" sz="4400" dirty="0">
                <a:solidFill>
                  <a:schemeClr val="accent1">
                    <a:lumMod val="25000"/>
                  </a:schemeClr>
                </a:solidFill>
                <a:effectLst/>
                <a:latin typeface="微软雅黑" panose="020B0503020204020204" charset="-122"/>
                <a:ea typeface="微软雅黑" panose="020B0503020204020204" charset="-122"/>
              </a:rPr>
              <a:t>谢谢，请各位老师批评指正</a:t>
            </a:r>
            <a:r>
              <a:rPr lang="en-US" altLang="zh-CN" sz="4400" dirty="0">
                <a:solidFill>
                  <a:schemeClr val="accent1">
                    <a:lumMod val="25000"/>
                  </a:schemeClr>
                </a:solidFill>
                <a:effectLst/>
                <a:latin typeface="微软雅黑" panose="020B0503020204020204" charset="-122"/>
                <a:ea typeface="微软雅黑" panose="020B0503020204020204" charset="-122"/>
              </a:rPr>
              <a:t>~</a:t>
            </a:r>
            <a:endParaRPr lang="zh-CN" altLang="en-US" sz="4400" dirty="0">
              <a:solidFill>
                <a:schemeClr val="accent1">
                  <a:lumMod val="25000"/>
                </a:schemeClr>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2"/>
          </p:nvPr>
        </p:nvSpPr>
        <p:spPr/>
        <p:txBody>
          <a:bodyPr/>
          <a:lstStyle/>
          <a:p>
            <a:r>
              <a:t>16</a:t>
            </a: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t="41239" b="27598"/>
          <a:stretch>
            <a:fillRect/>
          </a:stretch>
        </p:blipFill>
        <p:spPr>
          <a:xfrm>
            <a:off x="0" y="4843452"/>
            <a:ext cx="12192000" cy="2014548"/>
          </a:xfrm>
          <a:custGeom>
            <a:avLst/>
            <a:gdLst>
              <a:gd name="connsiteX0" fmla="*/ 6704242 w 9144000"/>
              <a:gd name="connsiteY0" fmla="*/ 12 h 2014548"/>
              <a:gd name="connsiteX1" fmla="*/ 9144000 w 9144000"/>
              <a:gd name="connsiteY1" fmla="*/ 108895 h 2014548"/>
              <a:gd name="connsiteX2" fmla="*/ 9144000 w 9144000"/>
              <a:gd name="connsiteY2" fmla="*/ 2014548 h 2014548"/>
              <a:gd name="connsiteX3" fmla="*/ 0 w 9144000"/>
              <a:gd name="connsiteY3" fmla="*/ 2014548 h 2014548"/>
              <a:gd name="connsiteX4" fmla="*/ 0 w 9144000"/>
              <a:gd name="connsiteY4" fmla="*/ 378136 h 2014548"/>
              <a:gd name="connsiteX5" fmla="*/ 6704242 w 9144000"/>
              <a:gd name="connsiteY5" fmla="*/ 12 h 201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2014548">
                <a:moveTo>
                  <a:pt x="6704242" y="12"/>
                </a:moveTo>
                <a:cubicBezTo>
                  <a:pt x="7362528" y="693"/>
                  <a:pt x="8143875" y="31400"/>
                  <a:pt x="9144000" y="108895"/>
                </a:cubicBezTo>
                <a:lnTo>
                  <a:pt x="9144000" y="2014548"/>
                </a:lnTo>
                <a:lnTo>
                  <a:pt x="0" y="2014548"/>
                </a:lnTo>
                <a:lnTo>
                  <a:pt x="0" y="378136"/>
                </a:lnTo>
                <a:cubicBezTo>
                  <a:pt x="3571875" y="378136"/>
                  <a:pt x="4353223" y="-2420"/>
                  <a:pt x="6704242" y="12"/>
                </a:cubicBezTo>
                <a:close/>
              </a:path>
            </a:pathLst>
          </a:custGeom>
        </p:spPr>
      </p:pic>
      <p:sp>
        <p:nvSpPr>
          <p:cNvPr id="10" name="标题 1"/>
          <p:cNvSpPr txBox="1"/>
          <p:nvPr/>
        </p:nvSpPr>
        <p:spPr>
          <a:xfrm>
            <a:off x="3109764" y="991966"/>
            <a:ext cx="6048672" cy="432048"/>
          </a:xfrm>
          <a:prstGeom prst="rect">
            <a:avLst/>
          </a:prstGeom>
          <a:effectLst/>
        </p:spPr>
        <p:txBody>
          <a:bodyPr anchor="b"/>
          <a:lstStyle>
            <a:lvl1pPr algn="l" defTabSz="914400" rtl="0" eaLnBrk="1" latinLnBrk="0" hangingPunct="1">
              <a:lnSpc>
                <a:spcPct val="90000"/>
              </a:lnSpc>
              <a:spcBef>
                <a:spcPct val="0"/>
              </a:spcBef>
              <a:buNone/>
              <a:defRPr sz="3600" b="1" kern="1200">
                <a:solidFill>
                  <a:schemeClr val="accent1"/>
                </a:solidFill>
                <a:latin typeface="微软雅黑" panose="020B0503020204020204" charset="-122"/>
                <a:ea typeface="微软雅黑" panose="020B0503020204020204" charset="-122"/>
                <a:cs typeface="+mj-cs"/>
              </a:defRPr>
            </a:lvl1pPr>
          </a:lstStyle>
          <a:p>
            <a:r>
              <a:rPr lang="zh-CN" altLang="en-US" sz="2000" b="0" dirty="0">
                <a:solidFill>
                  <a:schemeClr val="tx1"/>
                </a:solidFill>
              </a:rPr>
              <a:t>报告题目：</a:t>
            </a:r>
            <a:r>
              <a:rPr lang="zh-CN" altLang="en-US" sz="2000" b="0" dirty="0">
                <a:solidFill>
                  <a:srgbClr val="000000"/>
                </a:solidFill>
                <a:latin typeface="微软雅黑" panose="020B0503020204020204" charset="-122"/>
                <a:ea typeface="微软雅黑" panose="020B0503020204020204" charset="-122"/>
              </a:rPr>
              <a:t>基于近存储算子卸载的向量高效更新机制</a:t>
            </a:r>
            <a:endParaRPr lang="zh-CN" altLang="en-US" sz="2000" b="0" dirty="0">
              <a:solidFill>
                <a:schemeClr val="tx1"/>
              </a:solidFill>
            </a:endParaRPr>
          </a:p>
        </p:txBody>
      </p:sp>
      <p:sp>
        <p:nvSpPr>
          <p:cNvPr id="3" name="TextBox 2">
            <a:extLst>
              <a:ext uri="{FF2B5EF4-FFF2-40B4-BE49-F238E27FC236}">
                <a16:creationId xmlns:a16="http://schemas.microsoft.com/office/drawing/2014/main" id="{31501A64-6173-E45F-0A86-EF32A0DC6EF1}"/>
              </a:ext>
            </a:extLst>
          </p:cNvPr>
          <p:cNvSpPr txBox="1"/>
          <p:nvPr/>
        </p:nvSpPr>
        <p:spPr>
          <a:xfrm>
            <a:off x="4871864" y="3911741"/>
            <a:ext cx="1800200" cy="396583"/>
          </a:xfrm>
          <a:prstGeom prst="rect">
            <a:avLst/>
          </a:prstGeom>
          <a:noFill/>
        </p:spPr>
        <p:txBody>
          <a:bodyPr wrap="square" rtlCol="0">
            <a:spAutoFit/>
          </a:bodyPr>
          <a:lstStyle/>
          <a:p>
            <a:pPr>
              <a:lnSpc>
                <a:spcPct val="120000"/>
              </a:lnSpc>
              <a:spcBef>
                <a:spcPts val="1200"/>
              </a:spcBef>
            </a:pPr>
            <a:r>
              <a:rPr lang="zh-CN" altLang="en-US" sz="1800" dirty="0">
                <a:solidFill>
                  <a:schemeClr val="tx1"/>
                </a:solidFill>
                <a:latin typeface="微软雅黑" panose="020B0503020204020204" charset="-122"/>
                <a:ea typeface="微软雅黑" panose="020B0503020204020204" charset="-122"/>
              </a:rPr>
              <a:t>报告人：何鸿飞</a:t>
            </a:r>
            <a:endParaRPr lang="en-US" altLang="zh-CN" sz="1800" dirty="0">
              <a:solidFill>
                <a:schemeClr val="tx1"/>
              </a:solidFill>
              <a:latin typeface="微软雅黑" panose="020B0503020204020204" charset="-122"/>
              <a:ea typeface="微软雅黑" panose="020B0503020204020204" charset="-122"/>
            </a:endParaRPr>
          </a:p>
        </p:txBody>
      </p:sp>
    </p:spTree>
  </p:cSld>
  <p:clrMapOvr>
    <a:masterClrMapping/>
  </p:clrMapOvr>
</p:sld>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10646</TotalTime>
  <Words>4099</Words>
  <Application>Microsoft Office PowerPoint</Application>
  <PresentationFormat>宽屏</PresentationFormat>
  <Paragraphs>599</Paragraphs>
  <Slides>20</Slides>
  <Notes>20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20</vt:i4>
      </vt:variant>
    </vt:vector>
  </HeadingPairs>
  <TitlesOfParts>
    <vt:vector size="35" baseType="lpstr">
      <vt:lpstr>黑体</vt:lpstr>
      <vt:lpstr>Microsoft YaHei</vt:lpstr>
      <vt:lpstr>Microsoft YaHei</vt:lpstr>
      <vt:lpstr>Arial</vt:lpstr>
      <vt:lpstr>Berlin Sans FB</vt:lpstr>
      <vt:lpstr>Calibri</vt:lpstr>
      <vt:lpstr>Calibri Light</vt:lpstr>
      <vt:lpstr>Comic Sans MS</vt:lpstr>
      <vt:lpstr>Lucida Sans</vt:lpstr>
      <vt:lpstr>Tahoma</vt:lpstr>
      <vt:lpstr>Times</vt:lpstr>
      <vt:lpstr>Times New Roman</vt:lpstr>
      <vt:lpstr>Wingdings</vt:lpstr>
      <vt:lpstr>1_自定义设计方案</vt:lpstr>
      <vt:lpstr>2_自定义设计方案</vt:lpstr>
      <vt:lpstr>基于近存储算子卸载的向量高效更新机制</vt:lpstr>
      <vt:lpstr>PowerPoint 演示文稿</vt:lpstr>
      <vt:lpstr>01</vt:lpstr>
      <vt:lpstr>PowerPoint 演示文稿</vt:lpstr>
      <vt:lpstr>PowerPoint 演示文稿</vt:lpstr>
      <vt:lpstr>PowerPoint 演示文稿</vt:lpstr>
      <vt:lpstr>02</vt:lpstr>
      <vt:lpstr>02</vt:lpstr>
      <vt:lpstr>02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谢谢，请各位老师批评指正~</vt:lpstr>
    </vt:vector>
  </TitlesOfParts>
  <Company>WNLO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shunzi</dc:creator>
  <cp:lastModifiedBy>鸿飞 何</cp:lastModifiedBy>
  <cp:revision>1161</cp:revision>
  <dcterms:created xsi:type="dcterms:W3CDTF">2026-04-17T06:53:29Z</dcterms:created>
  <dcterms:modified xsi:type="dcterms:W3CDTF">2026-08-26T03:02:23Z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2052-6.12.1.8902</vt:lpwstr>
  </property>
  <property fmtid="{D5CDD505-2E9C-101B-9397-08002B2CF9AE}" pid="3" name="ICV">
    <vt:lpwstr>77490D9155CF9E0CE8D8E1695F8EB9F8_43</vt:lpwstr>
  </property>
</Properties>
</file>